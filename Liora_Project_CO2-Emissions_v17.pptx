
<file path=[Content_Types].xml><?xml version="1.0" encoding="utf-8"?>
<Types xmlns="http://schemas.openxmlformats.org/package/2006/content-types">
  <Default Extension="png" ContentType="image/png"/>
  <Default Extension="jpeg" ContentType="image/jpeg"/>
  <Default Extension="org&amp;utm_campaign=index&amp;utm_content=original" ContentType="image/png"/>
  <Default Extension="rels" ContentType="application/vnd.openxmlformats-package.relationships+xml"/>
  <Default Extension="xml" ContentType="application/xml"/>
  <Default Extension="org&amp;utm_campaign=index&amp;utm_content=thumbnail" ContentType="image/p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8" r:id="rId4"/>
  </p:sldMasterIdLst>
  <p:notesMasterIdLst>
    <p:notesMasterId r:id="rId21"/>
  </p:notesMasterIdLst>
  <p:handoutMasterIdLst>
    <p:handoutMasterId r:id="rId22"/>
  </p:handoutMasterIdLst>
  <p:sldIdLst>
    <p:sldId id="358" r:id="rId5"/>
    <p:sldId id="364" r:id="rId6"/>
    <p:sldId id="365" r:id="rId7"/>
    <p:sldId id="376" r:id="rId8"/>
    <p:sldId id="356" r:id="rId9"/>
    <p:sldId id="342" r:id="rId10"/>
    <p:sldId id="357" r:id="rId11"/>
    <p:sldId id="366" r:id="rId12"/>
    <p:sldId id="371" r:id="rId13"/>
    <p:sldId id="374" r:id="rId14"/>
    <p:sldId id="375" r:id="rId15"/>
    <p:sldId id="367" r:id="rId16"/>
    <p:sldId id="369" r:id="rId17"/>
    <p:sldId id="373" r:id="rId18"/>
    <p:sldId id="377" r:id="rId19"/>
    <p:sldId id="360" r:id="rId2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852"/>
    <a:srgbClr val="EDF3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92" autoAdjust="0"/>
    <p:restoredTop sz="95360" autoAdjust="0"/>
  </p:normalViewPr>
  <p:slideViewPr>
    <p:cSldViewPr snapToGrid="0">
      <p:cViewPr>
        <p:scale>
          <a:sx n="97" d="100"/>
          <a:sy n="97" d="100"/>
        </p:scale>
        <p:origin x="-216" y="-534"/>
      </p:cViewPr>
      <p:guideLst>
        <p:guide orient="horz" pos="367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A8790D-944F-604F-B66D-F9C50B1507D0}" type="doc">
      <dgm:prSet loTypeId="urn:microsoft.com/office/officeart/2005/8/layout/process1" loCatId="" qsTypeId="urn:microsoft.com/office/officeart/2005/8/quickstyle/simple1#1" qsCatId="simple" csTypeId="urn:microsoft.com/office/officeart/2005/8/colors/accent1_2#1" csCatId="accent1" phldr="1"/>
      <dgm:spPr/>
    </dgm:pt>
    <dgm:pt modelId="{6FC2F743-70F7-5344-9CF1-7EFB7544B01A}">
      <dgm:prSet phldrT="[Texte]"/>
      <dgm:spPr/>
      <dgm:t>
        <a:bodyPr/>
        <a:lstStyle/>
        <a:p>
          <a:r>
            <a:rPr lang="en-GB" noProof="0"/>
            <a:t>Framing</a:t>
          </a:r>
        </a:p>
      </dgm:t>
    </dgm:pt>
    <dgm:pt modelId="{9DC0228D-A8C4-3848-86FE-99C6DC14BF5A}" type="parTrans" cxnId="{B44AE2A9-ED1F-B94F-AC11-925CC0C18816}">
      <dgm:prSet/>
      <dgm:spPr/>
      <dgm:t>
        <a:bodyPr/>
        <a:lstStyle/>
        <a:p>
          <a:endParaRPr lang="fr-FR"/>
        </a:p>
      </dgm:t>
    </dgm:pt>
    <dgm:pt modelId="{0ED6C45A-AE56-F645-8365-CC1DD429887E}" type="sibTrans" cxnId="{B44AE2A9-ED1F-B94F-AC11-925CC0C18816}">
      <dgm:prSet/>
      <dgm:spPr/>
      <dgm:t>
        <a:bodyPr/>
        <a:lstStyle/>
        <a:p>
          <a:endParaRPr lang="en-GB" noProof="0"/>
        </a:p>
      </dgm:t>
    </dgm:pt>
    <dgm:pt modelId="{6E79F762-680F-634E-BAE2-F2BC1B20BA19}">
      <dgm:prSet phldrT="[Texte]"/>
      <dgm:spPr/>
      <dgm:t>
        <a:bodyPr/>
        <a:lstStyle/>
        <a:p>
          <a:r>
            <a:rPr lang="en-GB" noProof="0" dirty="0"/>
            <a:t>Data </a:t>
          </a:r>
          <a:r>
            <a:rPr lang="en-GB" noProof="0" dirty="0" smtClean="0"/>
            <a:t>processing &amp; merging</a:t>
          </a:r>
          <a:endParaRPr lang="en-GB" noProof="0" dirty="0"/>
        </a:p>
      </dgm:t>
    </dgm:pt>
    <dgm:pt modelId="{4EFEA865-CB86-9D41-9F60-0770CB2B5D12}" type="parTrans" cxnId="{5F38A527-F32C-EC4D-B1CC-3627CACF6C33}">
      <dgm:prSet/>
      <dgm:spPr/>
      <dgm:t>
        <a:bodyPr/>
        <a:lstStyle/>
        <a:p>
          <a:endParaRPr lang="fr-FR"/>
        </a:p>
      </dgm:t>
    </dgm:pt>
    <dgm:pt modelId="{7FDCE6BA-E14B-594D-9AFC-3A28739525A8}" type="sibTrans" cxnId="{5F38A527-F32C-EC4D-B1CC-3627CACF6C33}">
      <dgm:prSet/>
      <dgm:spPr/>
      <dgm:t>
        <a:bodyPr/>
        <a:lstStyle/>
        <a:p>
          <a:endParaRPr lang="en-GB" noProof="0"/>
        </a:p>
      </dgm:t>
    </dgm:pt>
    <dgm:pt modelId="{C272353D-019B-664A-8559-FB6BC9BD9F05}">
      <dgm:prSet phldrT="[Texte]"/>
      <dgm:spPr/>
      <dgm:t>
        <a:bodyPr/>
        <a:lstStyle/>
        <a:p>
          <a:r>
            <a:rPr lang="en-GB" noProof="0"/>
            <a:t>Explanatory Data Analysis</a:t>
          </a:r>
        </a:p>
      </dgm:t>
    </dgm:pt>
    <dgm:pt modelId="{BDCD1E36-AF4E-D340-AF8E-1AF8A055322A}" type="parTrans" cxnId="{BA883B66-9B33-7E43-8DB4-E0989D5B2A53}">
      <dgm:prSet/>
      <dgm:spPr/>
      <dgm:t>
        <a:bodyPr/>
        <a:lstStyle/>
        <a:p>
          <a:endParaRPr lang="fr-FR"/>
        </a:p>
      </dgm:t>
    </dgm:pt>
    <dgm:pt modelId="{3FA4F83C-C8A4-F340-89C9-FBDCA8446070}" type="sibTrans" cxnId="{BA883B66-9B33-7E43-8DB4-E0989D5B2A53}">
      <dgm:prSet/>
      <dgm:spPr/>
      <dgm:t>
        <a:bodyPr/>
        <a:lstStyle/>
        <a:p>
          <a:endParaRPr lang="en-GB" noProof="0"/>
        </a:p>
      </dgm:t>
    </dgm:pt>
    <dgm:pt modelId="{818A584E-2FD7-1746-9B63-174B9145A916}">
      <dgm:prSet phldrT="[Texte]"/>
      <dgm:spPr/>
      <dgm:t>
        <a:bodyPr/>
        <a:lstStyle/>
        <a:p>
          <a:r>
            <a:rPr lang="en-GB" noProof="0"/>
            <a:t>Feature engineering</a:t>
          </a:r>
        </a:p>
      </dgm:t>
    </dgm:pt>
    <dgm:pt modelId="{68AA3F3E-6F69-D74E-8624-F4E16607B3DF}" type="parTrans" cxnId="{F8C3B781-09D1-0040-A21A-0C9B43F798EC}">
      <dgm:prSet/>
      <dgm:spPr/>
      <dgm:t>
        <a:bodyPr/>
        <a:lstStyle/>
        <a:p>
          <a:endParaRPr lang="fr-FR"/>
        </a:p>
      </dgm:t>
    </dgm:pt>
    <dgm:pt modelId="{BE279FFE-94F6-4F4C-8B74-F7C1BE63C959}" type="sibTrans" cxnId="{F8C3B781-09D1-0040-A21A-0C9B43F798EC}">
      <dgm:prSet/>
      <dgm:spPr/>
      <dgm:t>
        <a:bodyPr/>
        <a:lstStyle/>
        <a:p>
          <a:endParaRPr lang="en-GB" noProof="0"/>
        </a:p>
      </dgm:t>
    </dgm:pt>
    <dgm:pt modelId="{EFF718EE-B113-824C-896F-A489615BFFC6}">
      <dgm:prSet phldrT="[Texte]"/>
      <dgm:spPr/>
      <dgm:t>
        <a:bodyPr/>
        <a:lstStyle/>
        <a:p>
          <a:r>
            <a:rPr lang="en-GB" noProof="0"/>
            <a:t>Modeling</a:t>
          </a:r>
        </a:p>
      </dgm:t>
    </dgm:pt>
    <dgm:pt modelId="{665E539E-8356-DE44-BC96-674B841207AE}" type="parTrans" cxnId="{10330AEB-9B26-C54E-8684-47D7DF40F0A8}">
      <dgm:prSet/>
      <dgm:spPr/>
      <dgm:t>
        <a:bodyPr/>
        <a:lstStyle/>
        <a:p>
          <a:endParaRPr lang="fr-FR"/>
        </a:p>
      </dgm:t>
    </dgm:pt>
    <dgm:pt modelId="{C24694E5-691F-1B49-A3DF-B09CBDFB89C9}" type="sibTrans" cxnId="{10330AEB-9B26-C54E-8684-47D7DF40F0A8}">
      <dgm:prSet/>
      <dgm:spPr/>
      <dgm:t>
        <a:bodyPr/>
        <a:lstStyle/>
        <a:p>
          <a:endParaRPr lang="en-GB" noProof="0"/>
        </a:p>
      </dgm:t>
    </dgm:pt>
    <dgm:pt modelId="{5D934706-4223-DC4A-ACC6-1472500B928D}">
      <dgm:prSet phldrT="[Texte]"/>
      <dgm:spPr/>
      <dgm:t>
        <a:bodyPr/>
        <a:lstStyle/>
        <a:p>
          <a:r>
            <a:rPr lang="en-GB" noProof="0"/>
            <a:t>Consolidation</a:t>
          </a:r>
        </a:p>
      </dgm:t>
    </dgm:pt>
    <dgm:pt modelId="{E31D538D-3503-3B4E-B02F-177396547105}" type="parTrans" cxnId="{82CDEA78-E02E-6B49-8C7A-0539D010295F}">
      <dgm:prSet/>
      <dgm:spPr/>
      <dgm:t>
        <a:bodyPr/>
        <a:lstStyle/>
        <a:p>
          <a:endParaRPr lang="fr-FR"/>
        </a:p>
      </dgm:t>
    </dgm:pt>
    <dgm:pt modelId="{9DC77085-1501-6547-9DB0-B3C15A5CD2F8}" type="sibTrans" cxnId="{82CDEA78-E02E-6B49-8C7A-0539D010295F}">
      <dgm:prSet/>
      <dgm:spPr/>
      <dgm:t>
        <a:bodyPr/>
        <a:lstStyle/>
        <a:p>
          <a:endParaRPr lang="en-GB" noProof="0"/>
        </a:p>
      </dgm:t>
    </dgm:pt>
    <dgm:pt modelId="{CBA31EAF-587E-464C-900A-B75CADA215C4}">
      <dgm:prSet phldrT="[Texte]"/>
      <dgm:spPr/>
      <dgm:t>
        <a:bodyPr/>
        <a:lstStyle/>
        <a:p>
          <a:r>
            <a:rPr lang="en-GB" noProof="0"/>
            <a:t>Evaluation</a:t>
          </a:r>
        </a:p>
      </dgm:t>
    </dgm:pt>
    <dgm:pt modelId="{17661A86-F3AB-7447-9343-15AAFA15F40A}" type="parTrans" cxnId="{CA9AD278-33AD-BB4F-AA90-D7A05A81F473}">
      <dgm:prSet/>
      <dgm:spPr/>
      <dgm:t>
        <a:bodyPr/>
        <a:lstStyle/>
        <a:p>
          <a:endParaRPr lang="fr-FR"/>
        </a:p>
      </dgm:t>
    </dgm:pt>
    <dgm:pt modelId="{AA8DE4A4-1DAE-6D4C-BF46-8AE5141CD62C}" type="sibTrans" cxnId="{CA9AD278-33AD-BB4F-AA90-D7A05A81F473}">
      <dgm:prSet/>
      <dgm:spPr/>
      <dgm:t>
        <a:bodyPr/>
        <a:lstStyle/>
        <a:p>
          <a:endParaRPr lang="fr-FR"/>
        </a:p>
      </dgm:t>
    </dgm:pt>
    <dgm:pt modelId="{B046F870-7BAE-5741-8C5B-98398641AAEE}" type="pres">
      <dgm:prSet presAssocID="{E5A8790D-944F-604F-B66D-F9C50B1507D0}" presName="Name0" presStyleCnt="0">
        <dgm:presLayoutVars>
          <dgm:dir/>
          <dgm:resizeHandles val="exact"/>
        </dgm:presLayoutVars>
      </dgm:prSet>
      <dgm:spPr/>
    </dgm:pt>
    <dgm:pt modelId="{37E877C2-221E-0643-90C5-4BBF68BDC63A}" type="pres">
      <dgm:prSet presAssocID="{6FC2F743-70F7-5344-9CF1-7EFB7544B01A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A43D6CB-F91E-7347-8524-D41E76B3A6C7}" type="pres">
      <dgm:prSet presAssocID="{0ED6C45A-AE56-F645-8365-CC1DD429887E}" presName="sibTrans" presStyleLbl="sibTrans2D1" presStyleIdx="0" presStyleCnt="6"/>
      <dgm:spPr/>
      <dgm:t>
        <a:bodyPr/>
        <a:lstStyle/>
        <a:p>
          <a:endParaRPr lang="de-DE"/>
        </a:p>
      </dgm:t>
    </dgm:pt>
    <dgm:pt modelId="{F9B3BC96-BBC9-B140-95B9-DA921FFAC17E}" type="pres">
      <dgm:prSet presAssocID="{0ED6C45A-AE56-F645-8365-CC1DD429887E}" presName="connectorText" presStyleLbl="sibTrans2D1" presStyleIdx="0" presStyleCnt="6"/>
      <dgm:spPr/>
      <dgm:t>
        <a:bodyPr/>
        <a:lstStyle/>
        <a:p>
          <a:endParaRPr lang="de-DE"/>
        </a:p>
      </dgm:t>
    </dgm:pt>
    <dgm:pt modelId="{6185D163-2615-AB47-8BF4-E5180379EB55}" type="pres">
      <dgm:prSet presAssocID="{6E79F762-680F-634E-BAE2-F2BC1B20BA19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D2E70EB-1DA2-654D-9956-0C7A77BE0BE9}" type="pres">
      <dgm:prSet presAssocID="{7FDCE6BA-E14B-594D-9AFC-3A28739525A8}" presName="sibTrans" presStyleLbl="sibTrans2D1" presStyleIdx="1" presStyleCnt="6"/>
      <dgm:spPr/>
      <dgm:t>
        <a:bodyPr/>
        <a:lstStyle/>
        <a:p>
          <a:endParaRPr lang="de-DE"/>
        </a:p>
      </dgm:t>
    </dgm:pt>
    <dgm:pt modelId="{0047FE9D-7326-384B-A50C-A277837BDFBF}" type="pres">
      <dgm:prSet presAssocID="{7FDCE6BA-E14B-594D-9AFC-3A28739525A8}" presName="connectorText" presStyleLbl="sibTrans2D1" presStyleIdx="1" presStyleCnt="6"/>
      <dgm:spPr/>
      <dgm:t>
        <a:bodyPr/>
        <a:lstStyle/>
        <a:p>
          <a:endParaRPr lang="de-DE"/>
        </a:p>
      </dgm:t>
    </dgm:pt>
    <dgm:pt modelId="{FAE4AAE4-D8D8-1B45-A63A-CED7BB701FFA}" type="pres">
      <dgm:prSet presAssocID="{C272353D-019B-664A-8559-FB6BC9BD9F0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7971759-D272-424E-9F02-BDDDB364F46F}" type="pres">
      <dgm:prSet presAssocID="{3FA4F83C-C8A4-F340-89C9-FBDCA8446070}" presName="sibTrans" presStyleLbl="sibTrans2D1" presStyleIdx="2" presStyleCnt="6"/>
      <dgm:spPr/>
      <dgm:t>
        <a:bodyPr/>
        <a:lstStyle/>
        <a:p>
          <a:endParaRPr lang="de-DE"/>
        </a:p>
      </dgm:t>
    </dgm:pt>
    <dgm:pt modelId="{AE9C28FF-DD64-0E45-AAEA-B7F2D8E99810}" type="pres">
      <dgm:prSet presAssocID="{3FA4F83C-C8A4-F340-89C9-FBDCA8446070}" presName="connectorText" presStyleLbl="sibTrans2D1" presStyleIdx="2" presStyleCnt="6"/>
      <dgm:spPr/>
      <dgm:t>
        <a:bodyPr/>
        <a:lstStyle/>
        <a:p>
          <a:endParaRPr lang="de-DE"/>
        </a:p>
      </dgm:t>
    </dgm:pt>
    <dgm:pt modelId="{6936ACD3-2BEB-D248-B70D-A7D06F80A8B2}" type="pres">
      <dgm:prSet presAssocID="{818A584E-2FD7-1746-9B63-174B9145A916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0B57021-C6D5-5041-B322-638C92F931B7}" type="pres">
      <dgm:prSet presAssocID="{BE279FFE-94F6-4F4C-8B74-F7C1BE63C959}" presName="sibTrans" presStyleLbl="sibTrans2D1" presStyleIdx="3" presStyleCnt="6"/>
      <dgm:spPr/>
      <dgm:t>
        <a:bodyPr/>
        <a:lstStyle/>
        <a:p>
          <a:endParaRPr lang="de-DE"/>
        </a:p>
      </dgm:t>
    </dgm:pt>
    <dgm:pt modelId="{93B98EB5-2643-C142-929B-0BADEE52288E}" type="pres">
      <dgm:prSet presAssocID="{BE279FFE-94F6-4F4C-8B74-F7C1BE63C959}" presName="connectorText" presStyleLbl="sibTrans2D1" presStyleIdx="3" presStyleCnt="6"/>
      <dgm:spPr/>
      <dgm:t>
        <a:bodyPr/>
        <a:lstStyle/>
        <a:p>
          <a:endParaRPr lang="de-DE"/>
        </a:p>
      </dgm:t>
    </dgm:pt>
    <dgm:pt modelId="{DD894FF7-C2A6-7B4E-8794-DFB5A67590D2}" type="pres">
      <dgm:prSet presAssocID="{EFF718EE-B113-824C-896F-A489615BFFC6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71CB13E-EC6B-2F40-A34D-4C8104D88803}" type="pres">
      <dgm:prSet presAssocID="{C24694E5-691F-1B49-A3DF-B09CBDFB89C9}" presName="sibTrans" presStyleLbl="sibTrans2D1" presStyleIdx="4" presStyleCnt="6"/>
      <dgm:spPr/>
      <dgm:t>
        <a:bodyPr/>
        <a:lstStyle/>
        <a:p>
          <a:endParaRPr lang="de-DE"/>
        </a:p>
      </dgm:t>
    </dgm:pt>
    <dgm:pt modelId="{3370D18E-5F66-EE4E-8F0E-7AD260FEFDA1}" type="pres">
      <dgm:prSet presAssocID="{C24694E5-691F-1B49-A3DF-B09CBDFB89C9}" presName="connectorText" presStyleLbl="sibTrans2D1" presStyleIdx="4" presStyleCnt="6"/>
      <dgm:spPr/>
      <dgm:t>
        <a:bodyPr/>
        <a:lstStyle/>
        <a:p>
          <a:endParaRPr lang="de-DE"/>
        </a:p>
      </dgm:t>
    </dgm:pt>
    <dgm:pt modelId="{6EFF178C-64E3-E84A-A8B9-DFB6BF4B5F5F}" type="pres">
      <dgm:prSet presAssocID="{5D934706-4223-DC4A-ACC6-1472500B928D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CD5DFAA-7064-F645-8F38-B6C77F752DDD}" type="pres">
      <dgm:prSet presAssocID="{9DC77085-1501-6547-9DB0-B3C15A5CD2F8}" presName="sibTrans" presStyleLbl="sibTrans2D1" presStyleIdx="5" presStyleCnt="6"/>
      <dgm:spPr/>
      <dgm:t>
        <a:bodyPr/>
        <a:lstStyle/>
        <a:p>
          <a:endParaRPr lang="de-DE"/>
        </a:p>
      </dgm:t>
    </dgm:pt>
    <dgm:pt modelId="{BDE7545E-2B7F-E644-AEF1-0ED85058C30F}" type="pres">
      <dgm:prSet presAssocID="{9DC77085-1501-6547-9DB0-B3C15A5CD2F8}" presName="connectorText" presStyleLbl="sibTrans2D1" presStyleIdx="5" presStyleCnt="6"/>
      <dgm:spPr/>
      <dgm:t>
        <a:bodyPr/>
        <a:lstStyle/>
        <a:p>
          <a:endParaRPr lang="de-DE"/>
        </a:p>
      </dgm:t>
    </dgm:pt>
    <dgm:pt modelId="{DCA4C844-1CF2-6D47-BFD6-3172DEB52F73}" type="pres">
      <dgm:prSet presAssocID="{CBA31EAF-587E-464C-900A-B75CADA215C4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1B81BDD8-7261-D34A-8855-729A6B78C332}" type="presOf" srcId="{0ED6C45A-AE56-F645-8365-CC1DD429887E}" destId="{F9B3BC96-BBC9-B140-95B9-DA921FFAC17E}" srcOrd="1" destOrd="0" presId="urn:microsoft.com/office/officeart/2005/8/layout/process1"/>
    <dgm:cxn modelId="{41D4384E-55C1-E140-A148-10070433253C}" type="presOf" srcId="{C24694E5-691F-1B49-A3DF-B09CBDFB89C9}" destId="{271CB13E-EC6B-2F40-A34D-4C8104D88803}" srcOrd="0" destOrd="0" presId="urn:microsoft.com/office/officeart/2005/8/layout/process1"/>
    <dgm:cxn modelId="{476BF986-3A2E-BB41-853E-70AA592B3FC4}" type="presOf" srcId="{9DC77085-1501-6547-9DB0-B3C15A5CD2F8}" destId="{5CD5DFAA-7064-F645-8F38-B6C77F752DDD}" srcOrd="0" destOrd="0" presId="urn:microsoft.com/office/officeart/2005/8/layout/process1"/>
    <dgm:cxn modelId="{82615F1C-859D-DF4F-9996-D467272D6231}" type="presOf" srcId="{7FDCE6BA-E14B-594D-9AFC-3A28739525A8}" destId="{0047FE9D-7326-384B-A50C-A277837BDFBF}" srcOrd="1" destOrd="0" presId="urn:microsoft.com/office/officeart/2005/8/layout/process1"/>
    <dgm:cxn modelId="{73745540-AF62-884D-9A2E-CDB515B7ED6D}" type="presOf" srcId="{818A584E-2FD7-1746-9B63-174B9145A916}" destId="{6936ACD3-2BEB-D248-B70D-A7D06F80A8B2}" srcOrd="0" destOrd="0" presId="urn:microsoft.com/office/officeart/2005/8/layout/process1"/>
    <dgm:cxn modelId="{3638A657-49FA-F946-A498-77878FB763DA}" type="presOf" srcId="{E5A8790D-944F-604F-B66D-F9C50B1507D0}" destId="{B046F870-7BAE-5741-8C5B-98398641AAEE}" srcOrd="0" destOrd="0" presId="urn:microsoft.com/office/officeart/2005/8/layout/process1"/>
    <dgm:cxn modelId="{82CDEA78-E02E-6B49-8C7A-0539D010295F}" srcId="{E5A8790D-944F-604F-B66D-F9C50B1507D0}" destId="{5D934706-4223-DC4A-ACC6-1472500B928D}" srcOrd="5" destOrd="0" parTransId="{E31D538D-3503-3B4E-B02F-177396547105}" sibTransId="{9DC77085-1501-6547-9DB0-B3C15A5CD2F8}"/>
    <dgm:cxn modelId="{EEAA333C-DD31-654E-A3EF-A735F6D5875E}" type="presOf" srcId="{0ED6C45A-AE56-F645-8365-CC1DD429887E}" destId="{2A43D6CB-F91E-7347-8524-D41E76B3A6C7}" srcOrd="0" destOrd="0" presId="urn:microsoft.com/office/officeart/2005/8/layout/process1"/>
    <dgm:cxn modelId="{CC44423C-6640-FE49-97AD-5C3E69B7CE77}" type="presOf" srcId="{3FA4F83C-C8A4-F340-89C9-FBDCA8446070}" destId="{17971759-D272-424E-9F02-BDDDB364F46F}" srcOrd="0" destOrd="0" presId="urn:microsoft.com/office/officeart/2005/8/layout/process1"/>
    <dgm:cxn modelId="{EAA080CF-0872-274F-8A98-0FF8F37F1296}" type="presOf" srcId="{3FA4F83C-C8A4-F340-89C9-FBDCA8446070}" destId="{AE9C28FF-DD64-0E45-AAEA-B7F2D8E99810}" srcOrd="1" destOrd="0" presId="urn:microsoft.com/office/officeart/2005/8/layout/process1"/>
    <dgm:cxn modelId="{CA9AD278-33AD-BB4F-AA90-D7A05A81F473}" srcId="{E5A8790D-944F-604F-B66D-F9C50B1507D0}" destId="{CBA31EAF-587E-464C-900A-B75CADA215C4}" srcOrd="6" destOrd="0" parTransId="{17661A86-F3AB-7447-9343-15AAFA15F40A}" sibTransId="{AA8DE4A4-1DAE-6D4C-BF46-8AE5141CD62C}"/>
    <dgm:cxn modelId="{92983880-6821-634A-9E89-AE02B560634B}" type="presOf" srcId="{6FC2F743-70F7-5344-9CF1-7EFB7544B01A}" destId="{37E877C2-221E-0643-90C5-4BBF68BDC63A}" srcOrd="0" destOrd="0" presId="urn:microsoft.com/office/officeart/2005/8/layout/process1"/>
    <dgm:cxn modelId="{260CAB5C-DF69-1B43-BD5E-093AE5EED29C}" type="presOf" srcId="{7FDCE6BA-E14B-594D-9AFC-3A28739525A8}" destId="{7D2E70EB-1DA2-654D-9956-0C7A77BE0BE9}" srcOrd="0" destOrd="0" presId="urn:microsoft.com/office/officeart/2005/8/layout/process1"/>
    <dgm:cxn modelId="{B44AE2A9-ED1F-B94F-AC11-925CC0C18816}" srcId="{E5A8790D-944F-604F-B66D-F9C50B1507D0}" destId="{6FC2F743-70F7-5344-9CF1-7EFB7544B01A}" srcOrd="0" destOrd="0" parTransId="{9DC0228D-A8C4-3848-86FE-99C6DC14BF5A}" sibTransId="{0ED6C45A-AE56-F645-8365-CC1DD429887E}"/>
    <dgm:cxn modelId="{5F38A527-F32C-EC4D-B1CC-3627CACF6C33}" srcId="{E5A8790D-944F-604F-B66D-F9C50B1507D0}" destId="{6E79F762-680F-634E-BAE2-F2BC1B20BA19}" srcOrd="1" destOrd="0" parTransId="{4EFEA865-CB86-9D41-9F60-0770CB2B5D12}" sibTransId="{7FDCE6BA-E14B-594D-9AFC-3A28739525A8}"/>
    <dgm:cxn modelId="{F8C3B781-09D1-0040-A21A-0C9B43F798EC}" srcId="{E5A8790D-944F-604F-B66D-F9C50B1507D0}" destId="{818A584E-2FD7-1746-9B63-174B9145A916}" srcOrd="3" destOrd="0" parTransId="{68AA3F3E-6F69-D74E-8624-F4E16607B3DF}" sibTransId="{BE279FFE-94F6-4F4C-8B74-F7C1BE63C959}"/>
    <dgm:cxn modelId="{5FB30136-A4CC-654C-A338-BF5B35AEA5C1}" type="presOf" srcId="{BE279FFE-94F6-4F4C-8B74-F7C1BE63C959}" destId="{90B57021-C6D5-5041-B322-638C92F931B7}" srcOrd="0" destOrd="0" presId="urn:microsoft.com/office/officeart/2005/8/layout/process1"/>
    <dgm:cxn modelId="{1056B62E-183A-E34B-815C-12E1D0FE2400}" type="presOf" srcId="{9DC77085-1501-6547-9DB0-B3C15A5CD2F8}" destId="{BDE7545E-2B7F-E644-AEF1-0ED85058C30F}" srcOrd="1" destOrd="0" presId="urn:microsoft.com/office/officeart/2005/8/layout/process1"/>
    <dgm:cxn modelId="{10330AEB-9B26-C54E-8684-47D7DF40F0A8}" srcId="{E5A8790D-944F-604F-B66D-F9C50B1507D0}" destId="{EFF718EE-B113-824C-896F-A489615BFFC6}" srcOrd="4" destOrd="0" parTransId="{665E539E-8356-DE44-BC96-674B841207AE}" sibTransId="{C24694E5-691F-1B49-A3DF-B09CBDFB89C9}"/>
    <dgm:cxn modelId="{87305779-5A46-A644-8F21-7133B34303B5}" type="presOf" srcId="{6E79F762-680F-634E-BAE2-F2BC1B20BA19}" destId="{6185D163-2615-AB47-8BF4-E5180379EB55}" srcOrd="0" destOrd="0" presId="urn:microsoft.com/office/officeart/2005/8/layout/process1"/>
    <dgm:cxn modelId="{74833A5E-7B65-A04E-94AF-02F29CCAE704}" type="presOf" srcId="{C272353D-019B-664A-8559-FB6BC9BD9F05}" destId="{FAE4AAE4-D8D8-1B45-A63A-CED7BB701FFA}" srcOrd="0" destOrd="0" presId="urn:microsoft.com/office/officeart/2005/8/layout/process1"/>
    <dgm:cxn modelId="{D6DDF131-783B-4647-9AC8-D7BF83070B7F}" type="presOf" srcId="{BE279FFE-94F6-4F4C-8B74-F7C1BE63C959}" destId="{93B98EB5-2643-C142-929B-0BADEE52288E}" srcOrd="1" destOrd="0" presId="urn:microsoft.com/office/officeart/2005/8/layout/process1"/>
    <dgm:cxn modelId="{C5DC0148-6C89-8D49-A459-BAD1A50C6F2C}" type="presOf" srcId="{C24694E5-691F-1B49-A3DF-B09CBDFB89C9}" destId="{3370D18E-5F66-EE4E-8F0E-7AD260FEFDA1}" srcOrd="1" destOrd="0" presId="urn:microsoft.com/office/officeart/2005/8/layout/process1"/>
    <dgm:cxn modelId="{0F172012-7CED-364B-BF33-59A4AA54A8EF}" type="presOf" srcId="{EFF718EE-B113-824C-896F-A489615BFFC6}" destId="{DD894FF7-C2A6-7B4E-8794-DFB5A67590D2}" srcOrd="0" destOrd="0" presId="urn:microsoft.com/office/officeart/2005/8/layout/process1"/>
    <dgm:cxn modelId="{BA883B66-9B33-7E43-8DB4-E0989D5B2A53}" srcId="{E5A8790D-944F-604F-B66D-F9C50B1507D0}" destId="{C272353D-019B-664A-8559-FB6BC9BD9F05}" srcOrd="2" destOrd="0" parTransId="{BDCD1E36-AF4E-D340-AF8E-1AF8A055322A}" sibTransId="{3FA4F83C-C8A4-F340-89C9-FBDCA8446070}"/>
    <dgm:cxn modelId="{827E643C-3C8A-0D48-8351-EA224D0E8E4A}" type="presOf" srcId="{CBA31EAF-587E-464C-900A-B75CADA215C4}" destId="{DCA4C844-1CF2-6D47-BFD6-3172DEB52F73}" srcOrd="0" destOrd="0" presId="urn:microsoft.com/office/officeart/2005/8/layout/process1"/>
    <dgm:cxn modelId="{1234B712-345B-BE42-B9D2-E4D7ABB7C8E6}" type="presOf" srcId="{5D934706-4223-DC4A-ACC6-1472500B928D}" destId="{6EFF178C-64E3-E84A-A8B9-DFB6BF4B5F5F}" srcOrd="0" destOrd="0" presId="urn:microsoft.com/office/officeart/2005/8/layout/process1"/>
    <dgm:cxn modelId="{107CF539-4C00-644E-AA26-03096950DB60}" type="presParOf" srcId="{B046F870-7BAE-5741-8C5B-98398641AAEE}" destId="{37E877C2-221E-0643-90C5-4BBF68BDC63A}" srcOrd="0" destOrd="0" presId="urn:microsoft.com/office/officeart/2005/8/layout/process1"/>
    <dgm:cxn modelId="{54753513-9254-E74C-B6BE-844FC0A5503A}" type="presParOf" srcId="{B046F870-7BAE-5741-8C5B-98398641AAEE}" destId="{2A43D6CB-F91E-7347-8524-D41E76B3A6C7}" srcOrd="1" destOrd="0" presId="urn:microsoft.com/office/officeart/2005/8/layout/process1"/>
    <dgm:cxn modelId="{2ABF4337-31E1-9048-8A40-BEBAC546310F}" type="presParOf" srcId="{2A43D6CB-F91E-7347-8524-D41E76B3A6C7}" destId="{F9B3BC96-BBC9-B140-95B9-DA921FFAC17E}" srcOrd="0" destOrd="0" presId="urn:microsoft.com/office/officeart/2005/8/layout/process1"/>
    <dgm:cxn modelId="{A25F252E-A5C3-B44F-B314-72AFB2FE36EF}" type="presParOf" srcId="{B046F870-7BAE-5741-8C5B-98398641AAEE}" destId="{6185D163-2615-AB47-8BF4-E5180379EB55}" srcOrd="2" destOrd="0" presId="urn:microsoft.com/office/officeart/2005/8/layout/process1"/>
    <dgm:cxn modelId="{66A1A63D-F759-514C-A498-28DBDEE9378F}" type="presParOf" srcId="{B046F870-7BAE-5741-8C5B-98398641AAEE}" destId="{7D2E70EB-1DA2-654D-9956-0C7A77BE0BE9}" srcOrd="3" destOrd="0" presId="urn:microsoft.com/office/officeart/2005/8/layout/process1"/>
    <dgm:cxn modelId="{DD9E9ABE-5FBB-AC4E-B059-500D3028599A}" type="presParOf" srcId="{7D2E70EB-1DA2-654D-9956-0C7A77BE0BE9}" destId="{0047FE9D-7326-384B-A50C-A277837BDFBF}" srcOrd="0" destOrd="0" presId="urn:microsoft.com/office/officeart/2005/8/layout/process1"/>
    <dgm:cxn modelId="{522F8C74-FD45-7844-9677-DEA857C558F5}" type="presParOf" srcId="{B046F870-7BAE-5741-8C5B-98398641AAEE}" destId="{FAE4AAE4-D8D8-1B45-A63A-CED7BB701FFA}" srcOrd="4" destOrd="0" presId="urn:microsoft.com/office/officeart/2005/8/layout/process1"/>
    <dgm:cxn modelId="{3CCB4EA1-50E1-7940-B7DC-C75B66B45047}" type="presParOf" srcId="{B046F870-7BAE-5741-8C5B-98398641AAEE}" destId="{17971759-D272-424E-9F02-BDDDB364F46F}" srcOrd="5" destOrd="0" presId="urn:microsoft.com/office/officeart/2005/8/layout/process1"/>
    <dgm:cxn modelId="{EE755134-9D91-F34D-9BD4-806BF6A04394}" type="presParOf" srcId="{17971759-D272-424E-9F02-BDDDB364F46F}" destId="{AE9C28FF-DD64-0E45-AAEA-B7F2D8E99810}" srcOrd="0" destOrd="0" presId="urn:microsoft.com/office/officeart/2005/8/layout/process1"/>
    <dgm:cxn modelId="{0FE7CCFE-6B83-C94E-9902-14AD6370C241}" type="presParOf" srcId="{B046F870-7BAE-5741-8C5B-98398641AAEE}" destId="{6936ACD3-2BEB-D248-B70D-A7D06F80A8B2}" srcOrd="6" destOrd="0" presId="urn:microsoft.com/office/officeart/2005/8/layout/process1"/>
    <dgm:cxn modelId="{119DB5BB-F557-5C4C-A039-74E34C06F838}" type="presParOf" srcId="{B046F870-7BAE-5741-8C5B-98398641AAEE}" destId="{90B57021-C6D5-5041-B322-638C92F931B7}" srcOrd="7" destOrd="0" presId="urn:microsoft.com/office/officeart/2005/8/layout/process1"/>
    <dgm:cxn modelId="{339BACE9-C93F-AA45-89E3-9DACAE5035D9}" type="presParOf" srcId="{90B57021-C6D5-5041-B322-638C92F931B7}" destId="{93B98EB5-2643-C142-929B-0BADEE52288E}" srcOrd="0" destOrd="0" presId="urn:microsoft.com/office/officeart/2005/8/layout/process1"/>
    <dgm:cxn modelId="{2E34926C-1894-1D49-A8CC-04CFF1651B1D}" type="presParOf" srcId="{B046F870-7BAE-5741-8C5B-98398641AAEE}" destId="{DD894FF7-C2A6-7B4E-8794-DFB5A67590D2}" srcOrd="8" destOrd="0" presId="urn:microsoft.com/office/officeart/2005/8/layout/process1"/>
    <dgm:cxn modelId="{9663A4B6-9CE6-394C-9A9C-0E4E8B9F3241}" type="presParOf" srcId="{B046F870-7BAE-5741-8C5B-98398641AAEE}" destId="{271CB13E-EC6B-2F40-A34D-4C8104D88803}" srcOrd="9" destOrd="0" presId="urn:microsoft.com/office/officeart/2005/8/layout/process1"/>
    <dgm:cxn modelId="{656E59D7-0AB6-3247-8D71-38265158E77A}" type="presParOf" srcId="{271CB13E-EC6B-2F40-A34D-4C8104D88803}" destId="{3370D18E-5F66-EE4E-8F0E-7AD260FEFDA1}" srcOrd="0" destOrd="0" presId="urn:microsoft.com/office/officeart/2005/8/layout/process1"/>
    <dgm:cxn modelId="{24C05BE5-0AEF-644D-8928-4156CBEAD287}" type="presParOf" srcId="{B046F870-7BAE-5741-8C5B-98398641AAEE}" destId="{6EFF178C-64E3-E84A-A8B9-DFB6BF4B5F5F}" srcOrd="10" destOrd="0" presId="urn:microsoft.com/office/officeart/2005/8/layout/process1"/>
    <dgm:cxn modelId="{EDCAD447-4E95-4B40-80E6-3B4287667BAA}" type="presParOf" srcId="{B046F870-7BAE-5741-8C5B-98398641AAEE}" destId="{5CD5DFAA-7064-F645-8F38-B6C77F752DDD}" srcOrd="11" destOrd="0" presId="urn:microsoft.com/office/officeart/2005/8/layout/process1"/>
    <dgm:cxn modelId="{224E404C-86B9-8146-A5BF-D3BEFB99BA0E}" type="presParOf" srcId="{5CD5DFAA-7064-F645-8F38-B6C77F752DDD}" destId="{BDE7545E-2B7F-E644-AEF1-0ED85058C30F}" srcOrd="0" destOrd="0" presId="urn:microsoft.com/office/officeart/2005/8/layout/process1"/>
    <dgm:cxn modelId="{14CE8226-EEEE-014B-AE55-CB9EB62057A3}" type="presParOf" srcId="{B046F870-7BAE-5741-8C5B-98398641AAEE}" destId="{DCA4C844-1CF2-6D47-BFD6-3172DEB52F73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877C2-221E-0643-90C5-4BBF68BDC63A}">
      <dsp:nvSpPr>
        <dsp:cNvPr id="0" name=""/>
        <dsp:cNvSpPr/>
      </dsp:nvSpPr>
      <dsp:spPr>
        <a:xfrm>
          <a:off x="3207" y="143598"/>
          <a:ext cx="1214626" cy="72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noProof="0"/>
            <a:t>Framing</a:t>
          </a:r>
        </a:p>
      </dsp:txBody>
      <dsp:txXfrm>
        <a:off x="24552" y="164943"/>
        <a:ext cx="1171936" cy="686085"/>
      </dsp:txXfrm>
    </dsp:sp>
    <dsp:sp modelId="{2A43D6CB-F91E-7347-8524-D41E76B3A6C7}">
      <dsp:nvSpPr>
        <dsp:cNvPr id="0" name=""/>
        <dsp:cNvSpPr/>
      </dsp:nvSpPr>
      <dsp:spPr>
        <a:xfrm>
          <a:off x="1339296" y="357372"/>
          <a:ext cx="257500" cy="301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100" kern="1200" noProof="0"/>
        </a:p>
      </dsp:txBody>
      <dsp:txXfrm>
        <a:off x="1339296" y="417617"/>
        <a:ext cx="180250" cy="180737"/>
      </dsp:txXfrm>
    </dsp:sp>
    <dsp:sp modelId="{6185D163-2615-AB47-8BF4-E5180379EB55}">
      <dsp:nvSpPr>
        <dsp:cNvPr id="0" name=""/>
        <dsp:cNvSpPr/>
      </dsp:nvSpPr>
      <dsp:spPr>
        <a:xfrm>
          <a:off x="1703684" y="143598"/>
          <a:ext cx="1214626" cy="72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noProof="0" dirty="0"/>
            <a:t>Data </a:t>
          </a:r>
          <a:r>
            <a:rPr lang="en-GB" sz="1300" kern="1200" noProof="0" dirty="0" smtClean="0"/>
            <a:t>processing &amp; merging</a:t>
          </a:r>
          <a:endParaRPr lang="en-GB" sz="1300" kern="1200" noProof="0" dirty="0"/>
        </a:p>
      </dsp:txBody>
      <dsp:txXfrm>
        <a:off x="1725029" y="164943"/>
        <a:ext cx="1171936" cy="686085"/>
      </dsp:txXfrm>
    </dsp:sp>
    <dsp:sp modelId="{7D2E70EB-1DA2-654D-9956-0C7A77BE0BE9}">
      <dsp:nvSpPr>
        <dsp:cNvPr id="0" name=""/>
        <dsp:cNvSpPr/>
      </dsp:nvSpPr>
      <dsp:spPr>
        <a:xfrm>
          <a:off x="3039773" y="357372"/>
          <a:ext cx="257500" cy="301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100" kern="1200" noProof="0"/>
        </a:p>
      </dsp:txBody>
      <dsp:txXfrm>
        <a:off x="3039773" y="417617"/>
        <a:ext cx="180250" cy="180737"/>
      </dsp:txXfrm>
    </dsp:sp>
    <dsp:sp modelId="{FAE4AAE4-D8D8-1B45-A63A-CED7BB701FFA}">
      <dsp:nvSpPr>
        <dsp:cNvPr id="0" name=""/>
        <dsp:cNvSpPr/>
      </dsp:nvSpPr>
      <dsp:spPr>
        <a:xfrm>
          <a:off x="3404161" y="143598"/>
          <a:ext cx="1214626" cy="72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noProof="0"/>
            <a:t>Explanatory Data Analysis</a:t>
          </a:r>
        </a:p>
      </dsp:txBody>
      <dsp:txXfrm>
        <a:off x="3425506" y="164943"/>
        <a:ext cx="1171936" cy="686085"/>
      </dsp:txXfrm>
    </dsp:sp>
    <dsp:sp modelId="{17971759-D272-424E-9F02-BDDDB364F46F}">
      <dsp:nvSpPr>
        <dsp:cNvPr id="0" name=""/>
        <dsp:cNvSpPr/>
      </dsp:nvSpPr>
      <dsp:spPr>
        <a:xfrm>
          <a:off x="4740250" y="357372"/>
          <a:ext cx="257500" cy="301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100" kern="1200" noProof="0"/>
        </a:p>
      </dsp:txBody>
      <dsp:txXfrm>
        <a:off x="4740250" y="417617"/>
        <a:ext cx="180250" cy="180737"/>
      </dsp:txXfrm>
    </dsp:sp>
    <dsp:sp modelId="{6936ACD3-2BEB-D248-B70D-A7D06F80A8B2}">
      <dsp:nvSpPr>
        <dsp:cNvPr id="0" name=""/>
        <dsp:cNvSpPr/>
      </dsp:nvSpPr>
      <dsp:spPr>
        <a:xfrm>
          <a:off x="5104638" y="143598"/>
          <a:ext cx="1214626" cy="72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noProof="0"/>
            <a:t>Feature engineering</a:t>
          </a:r>
        </a:p>
      </dsp:txBody>
      <dsp:txXfrm>
        <a:off x="5125983" y="164943"/>
        <a:ext cx="1171936" cy="686085"/>
      </dsp:txXfrm>
    </dsp:sp>
    <dsp:sp modelId="{90B57021-C6D5-5041-B322-638C92F931B7}">
      <dsp:nvSpPr>
        <dsp:cNvPr id="0" name=""/>
        <dsp:cNvSpPr/>
      </dsp:nvSpPr>
      <dsp:spPr>
        <a:xfrm>
          <a:off x="6440727" y="357372"/>
          <a:ext cx="257500" cy="301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100" kern="1200" noProof="0"/>
        </a:p>
      </dsp:txBody>
      <dsp:txXfrm>
        <a:off x="6440727" y="417617"/>
        <a:ext cx="180250" cy="180737"/>
      </dsp:txXfrm>
    </dsp:sp>
    <dsp:sp modelId="{DD894FF7-C2A6-7B4E-8794-DFB5A67590D2}">
      <dsp:nvSpPr>
        <dsp:cNvPr id="0" name=""/>
        <dsp:cNvSpPr/>
      </dsp:nvSpPr>
      <dsp:spPr>
        <a:xfrm>
          <a:off x="6805115" y="143598"/>
          <a:ext cx="1214626" cy="72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noProof="0"/>
            <a:t>Modeling</a:t>
          </a:r>
        </a:p>
      </dsp:txBody>
      <dsp:txXfrm>
        <a:off x="6826460" y="164943"/>
        <a:ext cx="1171936" cy="686085"/>
      </dsp:txXfrm>
    </dsp:sp>
    <dsp:sp modelId="{271CB13E-EC6B-2F40-A34D-4C8104D88803}">
      <dsp:nvSpPr>
        <dsp:cNvPr id="0" name=""/>
        <dsp:cNvSpPr/>
      </dsp:nvSpPr>
      <dsp:spPr>
        <a:xfrm>
          <a:off x="8141205" y="357372"/>
          <a:ext cx="257500" cy="301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100" kern="1200" noProof="0"/>
        </a:p>
      </dsp:txBody>
      <dsp:txXfrm>
        <a:off x="8141205" y="417617"/>
        <a:ext cx="180250" cy="180737"/>
      </dsp:txXfrm>
    </dsp:sp>
    <dsp:sp modelId="{6EFF178C-64E3-E84A-A8B9-DFB6BF4B5F5F}">
      <dsp:nvSpPr>
        <dsp:cNvPr id="0" name=""/>
        <dsp:cNvSpPr/>
      </dsp:nvSpPr>
      <dsp:spPr>
        <a:xfrm>
          <a:off x="8505592" y="143598"/>
          <a:ext cx="1214626" cy="72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noProof="0"/>
            <a:t>Consolidation</a:t>
          </a:r>
        </a:p>
      </dsp:txBody>
      <dsp:txXfrm>
        <a:off x="8526937" y="164943"/>
        <a:ext cx="1171936" cy="686085"/>
      </dsp:txXfrm>
    </dsp:sp>
    <dsp:sp modelId="{5CD5DFAA-7064-F645-8F38-B6C77F752DDD}">
      <dsp:nvSpPr>
        <dsp:cNvPr id="0" name=""/>
        <dsp:cNvSpPr/>
      </dsp:nvSpPr>
      <dsp:spPr>
        <a:xfrm>
          <a:off x="9841682" y="357372"/>
          <a:ext cx="257500" cy="3012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100" kern="1200" noProof="0"/>
        </a:p>
      </dsp:txBody>
      <dsp:txXfrm>
        <a:off x="9841682" y="417617"/>
        <a:ext cx="180250" cy="180737"/>
      </dsp:txXfrm>
    </dsp:sp>
    <dsp:sp modelId="{DCA4C844-1CF2-6D47-BFD6-3172DEB52F73}">
      <dsp:nvSpPr>
        <dsp:cNvPr id="0" name=""/>
        <dsp:cNvSpPr/>
      </dsp:nvSpPr>
      <dsp:spPr>
        <a:xfrm>
          <a:off x="10206070" y="143598"/>
          <a:ext cx="1214626" cy="72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300" kern="1200" noProof="0"/>
            <a:t>Evaluation</a:t>
          </a:r>
        </a:p>
      </dsp:txBody>
      <dsp:txXfrm>
        <a:off x="10227415" y="164943"/>
        <a:ext cx="1171936" cy="6860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xmlns="" id="{745B12D6-1379-493C-BFEB-EF79771232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xmlns="" id="{5B941B08-CADF-45A3-9166-2A5301A407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BBA44-5F27-47AB-9967-B82D074A6C0A}" type="datetime1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xmlns="" id="{D6D1518B-CA99-48A8-96A6-88BECC1280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xmlns="" id="{F812E24C-B3E3-407F-A691-CE23E8971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E6625-F2CA-4279-B378-429A7AED0F2C}" type="slidenum">
              <a:rPr lang="fr-FR" smtClean="0"/>
              <a:t>‹Nr.›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95731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A8611C6-8158-476B-A68C-02DA41B67DDC}" type="datetime1">
              <a:rPr lang="fr-FR" noProof="0" smtClean="0"/>
              <a:t>01/09/2026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fr-FR" noProof="0" smtClean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5830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fr-FR" noProof="0" smtClean="0"/>
              <a:t>13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3138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fr-FR" noProof="0" smtClean="0"/>
              <a:t>14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96493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769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E31DFB3-42E8-9540-92FB-4AE3F4203F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>
            <a:off x="-23750" y="-23749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fr-FR" noProof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xmlns="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12511" y="413604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Espace réservé du contenu 10">
            <a:extLst>
              <a:ext uri="{FF2B5EF4-FFF2-40B4-BE49-F238E27FC236}">
                <a16:creationId xmlns:a16="http://schemas.microsoft.com/office/drawing/2014/main" xmlns="" id="{90097E88-8912-8A4F-9D00-BDA132434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09403" y="4704381"/>
            <a:ext cx="7806047" cy="281164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E58E2CE6-6A25-40B9-BD31-82C7507389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63" y="1632594"/>
            <a:ext cx="7805737" cy="2113466"/>
          </a:xfrm>
          <a:prstGeom prst="rect">
            <a:avLst/>
          </a:prstGeo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/>
              <a:t>Cliquez pour modifier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7687ADE-BAA9-634F-96B8-ACF4EE9BDF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>
            <a:off x="-23750" y="-3058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4950" y="2262250"/>
            <a:ext cx="7810499" cy="2904530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Cliquez pour modifier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09403" y="184752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re 1">
            <a:extLst>
              <a:ext uri="{FF2B5EF4-FFF2-40B4-BE49-F238E27FC236}">
                <a16:creationId xmlns:a16="http://schemas.microsoft.com/office/drawing/2014/main" xmlns="" id="{88BFD865-74BB-5B40-8DA8-7D7B921A75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4950" y="97531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fr-FR" noProof="0"/>
              <a:t>Cliquez pour modifier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xmlns="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fr-FR" noProof="0" smtClean="0"/>
              <a:pPr rtl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re 1">
            <a:extLst>
              <a:ext uri="{FF2B5EF4-FFF2-40B4-BE49-F238E27FC236}">
                <a16:creationId xmlns:a16="http://schemas.microsoft.com/office/drawing/2014/main" xmlns="" id="{A116A2E3-682D-BD4F-9FC9-4546B0C9A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fr-FR" noProof="0"/>
              <a:t>Cliquez pour modifier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xmlns="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xmlns="" id="{2D1056DE-470B-C64D-99AE-5039A021EC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xmlns="" id="{4ADA9C53-0DC4-4D43-B80C-9B0A9E0EBD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38" name="Espace réservé du texte 4">
            <a:extLst>
              <a:ext uri="{FF2B5EF4-FFF2-40B4-BE49-F238E27FC236}">
                <a16:creationId xmlns:a16="http://schemas.microsoft.com/office/drawing/2014/main" xmlns="" id="{F8E68047-DF25-AB45-A0F0-F4DFE2351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xmlns="" id="{61DB1B27-14E7-1549-BDAA-6DD31A1B1F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42" name="Espace réservé du texte 4">
            <a:extLst>
              <a:ext uri="{FF2B5EF4-FFF2-40B4-BE49-F238E27FC236}">
                <a16:creationId xmlns:a16="http://schemas.microsoft.com/office/drawing/2014/main" xmlns="" id="{69D66743-22F2-C84F-9FD2-F350766D6C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43" name="Espace réservé du texte 4">
            <a:extLst>
              <a:ext uri="{FF2B5EF4-FFF2-40B4-BE49-F238E27FC236}">
                <a16:creationId xmlns:a16="http://schemas.microsoft.com/office/drawing/2014/main" xmlns="" id="{4A38EF55-8739-4A40-A228-67296EA938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 rtlCol="0"/>
          <a:lstStyle>
            <a:lvl1pPr>
              <a:buNone/>
              <a:defRPr sz="1800" b="1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xmlns="" id="{268DC74C-B0F9-2649-BEC3-BBA0BD737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xmlns="" id="{57B1422B-E6C5-43B2-9F2B-DECEB3812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xmlns="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969264" y="6292334"/>
            <a:ext cx="10384536" cy="182880"/>
          </a:xfrm>
        </p:spPr>
        <p:txBody>
          <a:bodyPr rtlCol="0"/>
          <a:lstStyle/>
          <a:p>
            <a:r>
              <a:rPr lang="fr-FR" sz="1200" dirty="0">
                <a:solidFill>
                  <a:schemeClr val="bg1"/>
                </a:solidFill>
              </a:rPr>
              <a:t>CO2-emission in France in 2013 – Project </a:t>
            </a:r>
            <a:r>
              <a:rPr lang="fr-FR" sz="1200" dirty="0" err="1">
                <a:solidFill>
                  <a:schemeClr val="bg1"/>
                </a:solidFill>
              </a:rPr>
              <a:t>Presentation</a:t>
            </a:r>
            <a:r>
              <a:rPr lang="fr-FR" sz="1200" dirty="0">
                <a:solidFill>
                  <a:schemeClr val="bg1"/>
                </a:solidFill>
              </a:rPr>
              <a:t> 2026, </a:t>
            </a:r>
            <a:r>
              <a:rPr lang="fr-FR" sz="1200" dirty="0" err="1">
                <a:solidFill>
                  <a:schemeClr val="bg1"/>
                </a:solidFill>
              </a:rPr>
              <a:t>September</a:t>
            </a:r>
            <a:r>
              <a:rPr lang="fr-FR" sz="1200" dirty="0">
                <a:solidFill>
                  <a:schemeClr val="bg1"/>
                </a:solidFill>
              </a:rPr>
              <a:t> 1st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xmlns="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fr-FR" noProof="0" smtClean="0"/>
              <a:pPr rtl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Équi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xmlns="" id="{982A9FE5-981A-B340-B8F8-D2DB83C19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xmlns="" id="{594B2391-B4C8-5542-8285-39BAD874EC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40" name="Espace réservé d’image 25">
            <a:extLst>
              <a:ext uri="{FF2B5EF4-FFF2-40B4-BE49-F238E27FC236}">
                <a16:creationId xmlns:a16="http://schemas.microsoft.com/office/drawing/2014/main" xmlns="" id="{B4621956-6AB4-E346-8900-9AE2A51ADBC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 rtlCol="0"/>
          <a:lstStyle>
            <a:lvl1pPr>
              <a:defRPr sz="20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xmlns="" id="{3B64062A-6292-0441-95CB-9A91F49DBA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472" y="274638"/>
            <a:ext cx="11369040" cy="480000"/>
          </a:xfrm>
          <a:prstGeom prst="rect">
            <a:avLst/>
          </a:prstGeom>
        </p:spPr>
        <p:txBody>
          <a:bodyPr lIns="0" tIns="0" rIns="0" bIns="0" rtlCol="0" anchor="t"/>
          <a:lstStyle>
            <a:lvl1pPr>
              <a:defRPr sz="4400"/>
            </a:lvl1pPr>
          </a:lstStyle>
          <a:p>
            <a:pPr rtl="0"/>
            <a:r>
              <a:rPr lang="fr-FR" sz="2800" noProof="0" dirty="0"/>
              <a:t>Cliquez pour modifier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420624" y="6292334"/>
            <a:ext cx="10933176" cy="182880"/>
          </a:xfrm>
        </p:spPr>
        <p:txBody>
          <a:bodyPr rtlCol="0"/>
          <a:lstStyle/>
          <a:p>
            <a:r>
              <a:rPr lang="fr-FR" sz="1200" dirty="0">
                <a:solidFill>
                  <a:schemeClr val="bg1"/>
                </a:solidFill>
              </a:rPr>
              <a:t>CO2-emission in France in 2013 – Project </a:t>
            </a:r>
            <a:r>
              <a:rPr lang="fr-FR" sz="1200" dirty="0" err="1">
                <a:solidFill>
                  <a:schemeClr val="bg1"/>
                </a:solidFill>
              </a:rPr>
              <a:t>Presentation</a:t>
            </a:r>
            <a:r>
              <a:rPr lang="fr-FR" sz="1200" dirty="0">
                <a:solidFill>
                  <a:schemeClr val="bg1"/>
                </a:solidFill>
              </a:rPr>
              <a:t> 2026, </a:t>
            </a:r>
            <a:r>
              <a:rPr lang="fr-FR" sz="1200" dirty="0" err="1">
                <a:solidFill>
                  <a:schemeClr val="bg1"/>
                </a:solidFill>
              </a:rPr>
              <a:t>September</a:t>
            </a:r>
            <a:r>
              <a:rPr lang="fr-FR" sz="1200" dirty="0">
                <a:solidFill>
                  <a:schemeClr val="bg1"/>
                </a:solidFill>
              </a:rPr>
              <a:t> 1st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xmlns="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38560" y="6292334"/>
            <a:ext cx="56769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fr-FR" noProof="0" smtClean="0"/>
              <a:pPr rtl="0"/>
              <a:t>‹Nr.›</a:t>
            </a:fld>
            <a:endParaRPr lang="fr-FR" noProof="0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xmlns="" id="{A5C3DCB2-9A8D-34D1-2649-C398B6D84F6E}"/>
              </a:ext>
            </a:extLst>
          </p:cNvPr>
          <p:cNvCxnSpPr>
            <a:cxnSpLocks/>
          </p:cNvCxnSpPr>
          <p:nvPr userDrawn="1"/>
        </p:nvCxnSpPr>
        <p:spPr>
          <a:xfrm>
            <a:off x="323722" y="783888"/>
            <a:ext cx="758524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erci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xmlns="" id="{B35C0DBA-B958-984A-8540-551D3604D6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rtl="0"/>
            <a:r>
              <a:rPr lang="fr-FR" noProof="0"/>
              <a:t>Cliquez pour modifier</a:t>
            </a:r>
          </a:p>
        </p:txBody>
      </p:sp>
      <p:sp>
        <p:nvSpPr>
          <p:cNvPr id="25" name="Espace réservé du contenu 2">
            <a:extLst>
              <a:ext uri="{FF2B5EF4-FFF2-40B4-BE49-F238E27FC236}">
                <a16:creationId xmlns:a16="http://schemas.microsoft.com/office/drawing/2014/main" xmlns="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 rtlCol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 rtl="0"/>
            <a:r>
              <a:rPr lang="fr-FR" noProof="0"/>
              <a:t>Cliquez pour modifier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Espace réservé d’image 3">
            <a:extLst>
              <a:ext uri="{FF2B5EF4-FFF2-40B4-BE49-F238E27FC236}">
                <a16:creationId xmlns:a16="http://schemas.microsoft.com/office/drawing/2014/main" xmlns="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contenu 13">
            <a:extLst>
              <a:ext uri="{FF2B5EF4-FFF2-40B4-BE49-F238E27FC236}">
                <a16:creationId xmlns:a16="http://schemas.microsoft.com/office/drawing/2014/main" xmlns="" id="{8B57D363-927D-CE43-AD8A-2F5E6CC59E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rtlCol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 rtl="0"/>
            <a:r>
              <a:rPr lang="fr-FR" noProof="0"/>
              <a:t>Cliquez pour modifier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r>
              <a:rPr lang="fr-FR" noProof="0"/>
              <a:t>03 septembre 20XX 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xmlns="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-FR" noProof="0">
                <a:solidFill>
                  <a:schemeClr val="bg1"/>
                </a:solidFill>
              </a:rPr>
              <a:t>Rapport annuel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xmlns="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fr-FR" noProof="0" smtClean="0"/>
              <a:pPr rtl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26874300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xmlns="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6720" y="6292334"/>
            <a:ext cx="10927080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fr-FR" sz="1200" dirty="0">
                <a:solidFill>
                  <a:schemeClr val="bg1"/>
                </a:solidFill>
              </a:rPr>
              <a:t>CO2-emission in France in 2013 – Project </a:t>
            </a:r>
            <a:r>
              <a:rPr lang="fr-FR" sz="1200" dirty="0" err="1">
                <a:solidFill>
                  <a:schemeClr val="bg1"/>
                </a:solidFill>
              </a:rPr>
              <a:t>Presentation</a:t>
            </a:r>
            <a:r>
              <a:rPr lang="fr-FR" sz="1200" dirty="0">
                <a:solidFill>
                  <a:schemeClr val="bg1"/>
                </a:solidFill>
              </a:rPr>
              <a:t> 2026, </a:t>
            </a:r>
            <a:r>
              <a:rPr lang="fr-FR" sz="1200" dirty="0" err="1">
                <a:solidFill>
                  <a:schemeClr val="bg1"/>
                </a:solidFill>
              </a:rPr>
              <a:t>September</a:t>
            </a:r>
            <a:r>
              <a:rPr lang="fr-FR" sz="1200" dirty="0">
                <a:solidFill>
                  <a:schemeClr val="bg1"/>
                </a:solidFill>
              </a:rPr>
              <a:t> 1st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xmlns="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424" y="6292334"/>
            <a:ext cx="512826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 rtl="0"/>
            <a:fld id="{7782931A-7D25-4B4B-9464-57AE418934A3}" type="slidenum">
              <a:rPr lang="fr-FR" noProof="0" smtClean="0"/>
              <a:pPr rtl="0"/>
              <a:t>‹Nr.›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5" r:id="rId3"/>
    <p:sldLayoutId id="2147483660" r:id="rId4"/>
    <p:sldLayoutId id="2147483676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org&amp;utm_campaign=index&amp;utm_content=thumbnail"/><Relationship Id="rId13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diagramColors" Target="../diagrams/colors1.xml"/><Relationship Id="rId17" Type="http://schemas.openxmlformats.org/officeDocument/2006/relationships/image" Target="../media/image13.png"/><Relationship Id="rId2" Type="http://schemas.openxmlformats.org/officeDocument/2006/relationships/image" Target="../media/image3.org&amp;utm_campaign=index&amp;utm_content=origina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org&amp;utm_campaign=index&amp;utm_content=thumbnail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diagramLayout" Target="../diagrams/layout1.xml"/><Relationship Id="rId4" Type="http://schemas.openxmlformats.org/officeDocument/2006/relationships/image" Target="../media/image5.png"/><Relationship Id="rId9" Type="http://schemas.openxmlformats.org/officeDocument/2006/relationships/diagramData" Target="../diagrams/data1.xml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1"/>
          </p:nvPr>
        </p:nvSpPr>
        <p:spPr>
          <a:xfrm>
            <a:off x="1009403" y="4704381"/>
            <a:ext cx="9201397" cy="281164"/>
          </a:xfrm>
        </p:spPr>
        <p:txBody>
          <a:bodyPr/>
          <a:lstStyle/>
          <a:p>
            <a:pPr fontAlgn="base"/>
            <a:r>
              <a:rPr lang="en-GB" noProof="0"/>
              <a:t>Philipp </a:t>
            </a:r>
            <a:r>
              <a:rPr lang="en-GB" b="1" noProof="0"/>
              <a:t>Drixelius</a:t>
            </a:r>
            <a:r>
              <a:rPr lang="en-GB" noProof="0"/>
              <a:t>		Jan Oliver </a:t>
            </a:r>
            <a:r>
              <a:rPr lang="en-GB" b="1" noProof="0"/>
              <a:t>Hämmerling</a:t>
            </a:r>
            <a:r>
              <a:rPr lang="en-GB" noProof="0"/>
              <a:t>		Agathe </a:t>
            </a:r>
            <a:r>
              <a:rPr lang="en-GB" b="1" noProof="0"/>
              <a:t>Hoffmann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0" noProof="0" dirty="0" err="1"/>
              <a:t>Liora</a:t>
            </a:r>
            <a:r>
              <a:rPr lang="en-GB" sz="4400" b="0" noProof="0" dirty="0"/>
              <a:t> – Project </a:t>
            </a:r>
            <a:r>
              <a:rPr lang="en-GB" noProof="0" dirty="0"/>
              <a:t/>
            </a:r>
            <a:br>
              <a:rPr lang="en-GB" noProof="0" dirty="0"/>
            </a:br>
            <a:r>
              <a:rPr lang="en-GB" noProof="0" dirty="0"/>
              <a:t>CO2-Emission in France 2013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4294967295"/>
          </p:nvPr>
        </p:nvSpPr>
        <p:spPr>
          <a:xfrm>
            <a:off x="967255" y="6292850"/>
            <a:ext cx="9965858" cy="182563"/>
          </a:xfrm>
        </p:spPr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185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A8CA9043-3C77-5BB5-AE68-FC936988ED5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7CD89043-ED41-8070-1346-1FB53A36CC0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2</a:t>
            </a:fld>
            <a:endParaRPr lang="en-GB" noProof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xmlns="" id="{CEA726D9-7A7E-0EB3-5343-6B0CAC88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74638"/>
            <a:ext cx="11369040" cy="480000"/>
          </a:xfrm>
        </p:spPr>
        <p:txBody>
          <a:bodyPr lIns="0" tIns="0" rIns="0" bIns="0" rtlCol="0" anchor="t"/>
          <a:lstStyle/>
          <a:p>
            <a:pPr rtl="0"/>
            <a:r>
              <a:rPr lang="en-GB" sz="2800" noProof="0" dirty="0" smtClean="0"/>
              <a:t>Introduction</a:t>
            </a:r>
            <a:endParaRPr lang="en-GB" sz="2800" noProof="0" dirty="0"/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xmlns="" id="{9BC1D228-C662-8C22-59A2-ED09634B6D63}"/>
              </a:ext>
            </a:extLst>
          </p:cNvPr>
          <p:cNvSpPr txBox="1">
            <a:spLocks/>
          </p:cNvSpPr>
          <p:nvPr/>
        </p:nvSpPr>
        <p:spPr>
          <a:xfrm>
            <a:off x="347472" y="1143001"/>
            <a:ext cx="8644128" cy="1981199"/>
          </a:xfrm>
          <a:prstGeom prst="rect">
            <a:avLst/>
          </a:prstGeom>
        </p:spPr>
        <p:txBody>
          <a:bodyPr lIns="0" tIns="0" rIns="0" bIns="0" rtlCol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600" dirty="0">
              <a:solidFill>
                <a:srgbClr val="242852"/>
              </a:solidFill>
            </a:endParaRPr>
          </a:p>
          <a:p>
            <a:pPr marL="0" indent="0">
              <a:buNone/>
            </a:pPr>
            <a:endParaRPr lang="en-GB" sz="1800" b="0" i="0" u="none" strike="noStrike" noProof="0" dirty="0">
              <a:effectLst/>
            </a:endParaRPr>
          </a:p>
          <a:p>
            <a:pPr marL="285750" indent="-285750"/>
            <a:endParaRPr lang="en-GB" sz="1800" noProof="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 sz="1800" b="1" i="0" noProof="0" dirty="0">
                <a:solidFill>
                  <a:srgbClr val="FFFFFF"/>
                </a:solidFill>
                <a:effectLst/>
              </a:rPr>
              <a:t>and potential</a:t>
            </a:r>
            <a:endParaRPr lang="en-GB" sz="1800" noProof="0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xmlns="" id="{B03EA53D-6827-9C78-6F39-69B28D443763}"/>
              </a:ext>
            </a:extLst>
          </p:cNvPr>
          <p:cNvSpPr txBox="1">
            <a:spLocks/>
          </p:cNvSpPr>
          <p:nvPr/>
        </p:nvSpPr>
        <p:spPr>
          <a:xfrm>
            <a:off x="347472" y="3191888"/>
            <a:ext cx="11369040" cy="1851285"/>
          </a:xfrm>
          <a:prstGeom prst="rect">
            <a:avLst/>
          </a:prstGeom>
        </p:spPr>
        <p:txBody>
          <a:bodyPr lIns="0" tIns="0" rIns="0" bIns="0" rtlCol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noProof="0" dirty="0">
                <a:solidFill>
                  <a:srgbClr val="242852"/>
                </a:solidFill>
              </a:rPr>
              <a:t>Datasets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noProof="0" dirty="0">
                <a:solidFill>
                  <a:srgbClr val="242852"/>
                </a:solidFill>
              </a:rPr>
              <a:t>ADEME-</a:t>
            </a:r>
            <a:r>
              <a:rPr lang="en-GB" sz="1600" noProof="0" dirty="0" err="1">
                <a:solidFill>
                  <a:srgbClr val="242852"/>
                </a:solidFill>
              </a:rPr>
              <a:t>cataloque</a:t>
            </a:r>
            <a:r>
              <a:rPr lang="en-GB" sz="1600" noProof="0" dirty="0">
                <a:solidFill>
                  <a:srgbClr val="242852"/>
                </a:solidFill>
              </a:rPr>
              <a:t> of French administration from </a:t>
            </a:r>
            <a:r>
              <a:rPr lang="en-GB" sz="1600" noProof="0" dirty="0" smtClean="0">
                <a:solidFill>
                  <a:srgbClr val="242852"/>
                </a:solidFill>
              </a:rPr>
              <a:t>2013: </a:t>
            </a:r>
            <a:r>
              <a:rPr lang="en-GB" sz="1600" noProof="0" dirty="0">
                <a:solidFill>
                  <a:srgbClr val="242852"/>
                </a:solidFill>
              </a:rPr>
              <a:t>44,850 vehicles type-approved in France, with </a:t>
            </a:r>
            <a:r>
              <a:rPr lang="en-GB" sz="1600" noProof="0" dirty="0" smtClean="0">
                <a:solidFill>
                  <a:srgbClr val="242852"/>
                </a:solidFill>
              </a:rPr>
              <a:t>many (technical) </a:t>
            </a:r>
            <a:r>
              <a:rPr lang="en-GB" sz="1600" noProof="0" dirty="0">
                <a:solidFill>
                  <a:srgbClr val="242852"/>
                </a:solidFill>
              </a:rPr>
              <a:t>specifications, but </a:t>
            </a:r>
            <a:r>
              <a:rPr lang="en-GB" sz="1600" b="1" noProof="0" dirty="0" smtClean="0">
                <a:solidFill>
                  <a:srgbClr val="242852"/>
                </a:solidFill>
              </a:rPr>
              <a:t>selection bias </a:t>
            </a:r>
            <a:r>
              <a:rPr lang="en-GB" sz="1600" noProof="0" dirty="0" smtClean="0">
                <a:solidFill>
                  <a:srgbClr val="242852"/>
                </a:solidFill>
              </a:rPr>
              <a:t>and no reference to </a:t>
            </a:r>
            <a:r>
              <a:rPr lang="en-GB" sz="1600" noProof="0" dirty="0">
                <a:solidFill>
                  <a:srgbClr val="242852"/>
                </a:solidFill>
              </a:rPr>
              <a:t>actual market </a:t>
            </a:r>
            <a:r>
              <a:rPr lang="en-GB" sz="1600" b="1" noProof="0" dirty="0" smtClean="0">
                <a:solidFill>
                  <a:srgbClr val="242852"/>
                </a:solidFill>
              </a:rPr>
              <a:t>volumes</a:t>
            </a:r>
            <a:r>
              <a:rPr lang="en-GB" sz="1600" noProof="0" dirty="0" smtClean="0">
                <a:solidFill>
                  <a:srgbClr val="242852"/>
                </a:solidFill>
              </a:rPr>
              <a:t>.</a:t>
            </a:r>
            <a:endParaRPr lang="en-GB" sz="1600" noProof="0" dirty="0">
              <a:solidFill>
                <a:srgbClr val="242852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noProof="0" dirty="0" smtClean="0">
                <a:solidFill>
                  <a:srgbClr val="242852"/>
                </a:solidFill>
              </a:rPr>
              <a:t>European EEA-register </a:t>
            </a:r>
            <a:r>
              <a:rPr lang="en-GB" sz="1600" noProof="0" dirty="0">
                <a:solidFill>
                  <a:srgbClr val="242852"/>
                </a:solidFill>
              </a:rPr>
              <a:t>- 32,332 </a:t>
            </a:r>
            <a:r>
              <a:rPr lang="en-GB" sz="1600" noProof="0" dirty="0" smtClean="0">
                <a:solidFill>
                  <a:srgbClr val="242852"/>
                </a:solidFill>
              </a:rPr>
              <a:t>records: fewer relevant variables</a:t>
            </a:r>
            <a:r>
              <a:rPr lang="en-GB" sz="1600" noProof="0" dirty="0">
                <a:solidFill>
                  <a:srgbClr val="242852"/>
                </a:solidFill>
              </a:rPr>
              <a:t>, but includes market share </a:t>
            </a:r>
            <a:r>
              <a:rPr lang="en-GB" sz="1600" noProof="0" dirty="0" smtClean="0">
                <a:solidFill>
                  <a:srgbClr val="242852"/>
                </a:solidFill>
              </a:rPr>
              <a:t>information (</a:t>
            </a:r>
            <a:r>
              <a:rPr lang="en-GB" sz="1600" b="1" noProof="0" dirty="0" smtClean="0">
                <a:solidFill>
                  <a:srgbClr val="242852"/>
                </a:solidFill>
              </a:rPr>
              <a:t>registrations of vehicles in 2013</a:t>
            </a:r>
            <a:r>
              <a:rPr lang="en-GB" sz="1600" noProof="0" dirty="0" smtClean="0">
                <a:solidFill>
                  <a:srgbClr val="242852"/>
                </a:solidFill>
              </a:rPr>
              <a:t>)</a:t>
            </a:r>
            <a:endParaRPr lang="en-GB" sz="1600" noProof="0" dirty="0">
              <a:solidFill>
                <a:srgbClr val="242852"/>
              </a:solidFill>
            </a:endParaRPr>
          </a:p>
        </p:txBody>
      </p:sp>
      <p:pic>
        <p:nvPicPr>
          <p:cNvPr id="8" name="Espace réservé pour une image  16">
            <a:extLst>
              <a:ext uri="{FF2B5EF4-FFF2-40B4-BE49-F238E27FC236}">
                <a16:creationId xmlns:a16="http://schemas.microsoft.com/office/drawing/2014/main" xmlns="" id="{C7BC3460-A7EF-59D3-D1A6-DFCF3014A4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50" r="16650"/>
          <a:stretch/>
        </p:blipFill>
        <p:spPr>
          <a:xfrm>
            <a:off x="9396476" y="179258"/>
            <a:ext cx="2832100" cy="28321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xmlns="" id="{11DF50B6-3978-07A5-3D71-369ECB471ACF}"/>
              </a:ext>
            </a:extLst>
          </p:cNvPr>
          <p:cNvSpPr txBox="1"/>
          <p:nvPr/>
        </p:nvSpPr>
        <p:spPr>
          <a:xfrm>
            <a:off x="1615186" y="5288853"/>
            <a:ext cx="101013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rgbClr val="242852"/>
                </a:solidFill>
              </a:rPr>
              <a:t>Our aim is to </a:t>
            </a:r>
            <a:r>
              <a:rPr lang="en-GB" sz="1600" dirty="0" smtClean="0">
                <a:solidFill>
                  <a:srgbClr val="242852"/>
                </a:solidFill>
              </a:rPr>
              <a:t>merge the data for enriching analyses, to understand </a:t>
            </a:r>
            <a:r>
              <a:rPr lang="en-GB" sz="1600" dirty="0">
                <a:solidFill>
                  <a:srgbClr val="242852"/>
                </a:solidFill>
              </a:rPr>
              <a:t>what actually determines a vehicle’s emissions, and </a:t>
            </a:r>
            <a:r>
              <a:rPr lang="en-GB" sz="1600" dirty="0" smtClean="0">
                <a:solidFill>
                  <a:srgbClr val="242852"/>
                </a:solidFill>
              </a:rPr>
              <a:t>inform decision-making with insights from the data — </a:t>
            </a:r>
            <a:r>
              <a:rPr lang="en-GB" sz="1600" dirty="0">
                <a:solidFill>
                  <a:srgbClr val="242852"/>
                </a:solidFill>
              </a:rPr>
              <a:t>for both manufacturers and regulators.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xmlns="" id="{06C2BC23-D662-B57A-8C0E-DB5B582777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6" r="5714" b="15674"/>
          <a:stretch>
            <a:fillRect/>
          </a:stretch>
        </p:blipFill>
        <p:spPr>
          <a:xfrm>
            <a:off x="536448" y="5093376"/>
            <a:ext cx="987552" cy="946320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xmlns="" id="{B03EA53D-6827-9C78-6F39-69B28D443763}"/>
              </a:ext>
            </a:extLst>
          </p:cNvPr>
          <p:cNvSpPr txBox="1">
            <a:spLocks/>
          </p:cNvSpPr>
          <p:nvPr/>
        </p:nvSpPr>
        <p:spPr>
          <a:xfrm>
            <a:off x="347472" y="1021124"/>
            <a:ext cx="8644128" cy="1851285"/>
          </a:xfrm>
          <a:prstGeom prst="rect">
            <a:avLst/>
          </a:prstGeom>
        </p:spPr>
        <p:txBody>
          <a:bodyPr lIns="0" tIns="0" rIns="0" bIns="0" rtlCol="0"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242852"/>
                </a:solidFill>
              </a:rPr>
              <a:t>Data </a:t>
            </a:r>
            <a:r>
              <a:rPr lang="en-GB" b="1" dirty="0" smtClean="0">
                <a:solidFill>
                  <a:srgbClr val="242852"/>
                </a:solidFill>
              </a:rPr>
              <a:t>Provided</a:t>
            </a:r>
            <a:endParaRPr lang="en-GB" b="1" noProof="0" dirty="0">
              <a:solidFill>
                <a:srgbClr val="242852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>
                <a:solidFill>
                  <a:srgbClr val="242852"/>
                </a:solidFill>
              </a:rPr>
              <a:t>Data about </a:t>
            </a:r>
            <a:r>
              <a:rPr lang="en-GB" sz="1600" dirty="0" smtClean="0">
                <a:solidFill>
                  <a:srgbClr val="242852"/>
                </a:solidFill>
              </a:rPr>
              <a:t>emissions </a:t>
            </a:r>
            <a:r>
              <a:rPr lang="en-GB" sz="1600" dirty="0">
                <a:solidFill>
                  <a:srgbClr val="242852"/>
                </a:solidFill>
              </a:rPr>
              <a:t>of vehicles, with other specifications </a:t>
            </a:r>
            <a:endParaRPr lang="en-GB" sz="1600" dirty="0" smtClean="0">
              <a:solidFill>
                <a:srgbClr val="242852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noProof="0" dirty="0">
              <a:solidFill>
                <a:srgbClr val="242852"/>
              </a:solidFill>
            </a:endParaRPr>
          </a:p>
          <a:p>
            <a:pPr lvl="0">
              <a:spcBef>
                <a:spcPts val="0"/>
              </a:spcBef>
            </a:pPr>
            <a:r>
              <a:rPr lang="en-GB" b="1" dirty="0" smtClean="0">
                <a:solidFill>
                  <a:srgbClr val="242852"/>
                </a:solidFill>
              </a:rPr>
              <a:t>Project Objective Information</a:t>
            </a:r>
            <a:endParaRPr lang="en-GB" b="1" dirty="0">
              <a:solidFill>
                <a:srgbClr val="242852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smtClean="0">
                <a:solidFill>
                  <a:srgbClr val="242852"/>
                </a:solidFill>
              </a:rPr>
              <a:t>Identify technical polluting characteristics &amp; prediction – with Data Analyst focus</a:t>
            </a:r>
            <a:endParaRPr lang="en-GB" sz="1600" dirty="0">
              <a:solidFill>
                <a:srgbClr val="242852"/>
              </a:solidFill>
            </a:endParaRPr>
          </a:p>
          <a:p>
            <a:endParaRPr lang="en-GB" sz="1600" noProof="0" dirty="0">
              <a:solidFill>
                <a:srgbClr val="2428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50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29870B7-7641-09BF-07CE-B2AC02FB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66419101-3734-BC82-1ABB-EFA93E41FAC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DEBF9FD8-72FC-C96F-B0C3-8106B3B388B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3</a:t>
            </a:fld>
            <a:endParaRPr lang="en-GB" noProof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xmlns="" id="{98E24A09-05F5-52FB-9492-CCCB5932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74638"/>
            <a:ext cx="11369040" cy="480000"/>
          </a:xfrm>
        </p:spPr>
        <p:txBody>
          <a:bodyPr lIns="0" tIns="0" rIns="0" bIns="0" rtlCol="0" anchor="t"/>
          <a:lstStyle/>
          <a:p>
            <a:pPr rtl="0"/>
            <a:r>
              <a:rPr lang="en-GB" sz="2800" noProof="0" dirty="0" smtClean="0"/>
              <a:t>Method – How we worked together</a:t>
            </a:r>
            <a:endParaRPr lang="en-GB" sz="2800" noProof="0" dirty="0"/>
          </a:p>
        </p:txBody>
      </p:sp>
      <p:sp>
        <p:nvSpPr>
          <p:cNvPr id="2" name="Shape 104">
            <a:extLst>
              <a:ext uri="{FF2B5EF4-FFF2-40B4-BE49-F238E27FC236}">
                <a16:creationId xmlns:a16="http://schemas.microsoft.com/office/drawing/2014/main" xmlns="" id="{B3158E6D-C605-7B59-E918-458B9737CA92}"/>
              </a:ext>
            </a:extLst>
          </p:cNvPr>
          <p:cNvSpPr/>
          <p:nvPr/>
        </p:nvSpPr>
        <p:spPr>
          <a:xfrm>
            <a:off x="347472" y="1091183"/>
            <a:ext cx="5630416" cy="3193125"/>
          </a:xfrm>
          <a:prstGeom prst="roundRect">
            <a:avLst>
              <a:gd name="adj" fmla="val 4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GB" b="1" noProof="0" dirty="0">
                <a:solidFill>
                  <a:schemeClr val="bg1"/>
                </a:solidFill>
              </a:rPr>
              <a:t>Tools</a:t>
            </a:r>
          </a:p>
          <a:p>
            <a:endParaRPr lang="en-GB" b="1" noProof="0" dirty="0">
              <a:solidFill>
                <a:schemeClr val="bg1"/>
              </a:solidFill>
            </a:endParaRPr>
          </a:p>
          <a:p>
            <a:endParaRPr lang="en-GB" b="1" noProof="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bg1"/>
                </a:solidFill>
              </a:rPr>
              <a:t>Project realized with </a:t>
            </a:r>
            <a:r>
              <a:rPr lang="en-GB" sz="1600" b="1" noProof="0" dirty="0">
                <a:solidFill>
                  <a:schemeClr val="bg1"/>
                </a:solidFill>
              </a:rPr>
              <a:t>Python</a:t>
            </a:r>
            <a:r>
              <a:rPr lang="en-GB" sz="1600" noProof="0" dirty="0">
                <a:solidFill>
                  <a:schemeClr val="bg1"/>
                </a:solidFill>
              </a:rPr>
              <a:t> (pandas, </a:t>
            </a:r>
            <a:r>
              <a:rPr lang="en-GB" sz="1600" noProof="0" dirty="0" err="1">
                <a:solidFill>
                  <a:schemeClr val="bg1"/>
                </a:solidFill>
              </a:rPr>
              <a:t>numpy</a:t>
            </a:r>
            <a:r>
              <a:rPr lang="en-GB" sz="1600" noProof="0" dirty="0">
                <a:solidFill>
                  <a:schemeClr val="bg1"/>
                </a:solidFill>
              </a:rPr>
              <a:t>, </a:t>
            </a:r>
            <a:r>
              <a:rPr lang="en-GB" sz="1600" noProof="0" dirty="0" err="1">
                <a:solidFill>
                  <a:schemeClr val="bg1"/>
                </a:solidFill>
              </a:rPr>
              <a:t>scikit</a:t>
            </a:r>
            <a:r>
              <a:rPr lang="en-GB" sz="1600" noProof="0" dirty="0">
                <a:solidFill>
                  <a:schemeClr val="bg1"/>
                </a:solidFill>
              </a:rPr>
              <a:t>-learn, </a:t>
            </a:r>
            <a:r>
              <a:rPr lang="en-GB" sz="1600" noProof="0" dirty="0" err="1">
                <a:solidFill>
                  <a:schemeClr val="bg1"/>
                </a:solidFill>
              </a:rPr>
              <a:t>matplotlib</a:t>
            </a:r>
            <a:r>
              <a:rPr lang="en-GB" sz="1600" noProof="0" dirty="0">
                <a:solidFill>
                  <a:schemeClr val="bg1"/>
                </a:solidFill>
              </a:rPr>
              <a:t> / </a:t>
            </a:r>
            <a:r>
              <a:rPr lang="en-GB" sz="1600" noProof="0" dirty="0" err="1">
                <a:solidFill>
                  <a:schemeClr val="bg1"/>
                </a:solidFill>
              </a:rPr>
              <a:t>seaborn</a:t>
            </a:r>
            <a:r>
              <a:rPr lang="en-GB" sz="1600" noProof="0" dirty="0">
                <a:solidFill>
                  <a:schemeClr val="bg1"/>
                </a:solidFill>
              </a:rPr>
              <a:t> and other)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bg1"/>
                </a:solidFill>
              </a:rPr>
              <a:t>JOH and AH used </a:t>
            </a:r>
            <a:r>
              <a:rPr lang="en-GB" sz="1600" b="1" noProof="0" dirty="0">
                <a:solidFill>
                  <a:schemeClr val="bg1"/>
                </a:solidFill>
              </a:rPr>
              <a:t>Positron</a:t>
            </a:r>
            <a:r>
              <a:rPr lang="en-GB" sz="1600" noProof="0" dirty="0">
                <a:solidFill>
                  <a:schemeClr val="bg1"/>
                </a:solidFill>
              </a:rPr>
              <a:t> and PD used </a:t>
            </a:r>
            <a:r>
              <a:rPr lang="en-GB" sz="1600" b="1" noProof="0" dirty="0">
                <a:solidFill>
                  <a:schemeClr val="bg1"/>
                </a:solidFill>
              </a:rPr>
              <a:t>VS Code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bg1"/>
                </a:solidFill>
              </a:rPr>
              <a:t>We shared most relevant data and newest versions on </a:t>
            </a:r>
            <a:r>
              <a:rPr lang="en-GB" sz="1600" b="1" noProof="0" dirty="0" err="1">
                <a:solidFill>
                  <a:schemeClr val="bg1"/>
                </a:solidFill>
              </a:rPr>
              <a:t>Github</a:t>
            </a:r>
            <a:r>
              <a:rPr lang="en-GB" sz="1600" noProof="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Shape 104">
            <a:extLst>
              <a:ext uri="{FF2B5EF4-FFF2-40B4-BE49-F238E27FC236}">
                <a16:creationId xmlns:a16="http://schemas.microsoft.com/office/drawing/2014/main" xmlns="" id="{5C6AB9D9-EC46-CC76-7289-F9EB9E656E73}"/>
              </a:ext>
            </a:extLst>
          </p:cNvPr>
          <p:cNvSpPr/>
          <p:nvPr/>
        </p:nvSpPr>
        <p:spPr>
          <a:xfrm>
            <a:off x="6214112" y="1091184"/>
            <a:ext cx="5630416" cy="3193126"/>
          </a:xfrm>
          <a:prstGeom prst="roundRect">
            <a:avLst>
              <a:gd name="adj" fmla="val 4000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GB" b="1" noProof="0" dirty="0">
                <a:solidFill>
                  <a:schemeClr val="bg1"/>
                </a:solidFill>
              </a:rPr>
              <a:t>Collaboration</a:t>
            </a:r>
          </a:p>
          <a:p>
            <a:endParaRPr lang="en-GB" b="1" noProof="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bg1"/>
                </a:solidFill>
              </a:rPr>
              <a:t>Weekly calls on </a:t>
            </a:r>
            <a:r>
              <a:rPr lang="en-GB" sz="1600" b="1" noProof="0" dirty="0">
                <a:solidFill>
                  <a:schemeClr val="bg1"/>
                </a:solidFill>
              </a:rPr>
              <a:t>Zoom</a:t>
            </a:r>
            <a:r>
              <a:rPr lang="en-GB" sz="1600" noProof="0" dirty="0">
                <a:solidFill>
                  <a:schemeClr val="bg1"/>
                </a:solidFill>
              </a:rPr>
              <a:t> with our tutor </a:t>
            </a:r>
            <a:r>
              <a:rPr lang="en-GB" sz="1600" noProof="0" dirty="0" err="1">
                <a:solidFill>
                  <a:schemeClr val="bg1"/>
                </a:solidFill>
              </a:rPr>
              <a:t>Matteo</a:t>
            </a:r>
            <a:r>
              <a:rPr lang="en-GB" sz="1600" noProof="0" dirty="0">
                <a:solidFill>
                  <a:schemeClr val="bg1"/>
                </a:solidFill>
              </a:rPr>
              <a:t> </a:t>
            </a:r>
            <a:r>
              <a:rPr lang="en-GB" sz="1600" i="1" noProof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#Validation #Methodology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noProof="0" dirty="0" smtClean="0">
                <a:solidFill>
                  <a:schemeClr val="bg1"/>
                </a:solidFill>
              </a:rPr>
              <a:t>&gt;20 </a:t>
            </a:r>
            <a:r>
              <a:rPr lang="en-GB" sz="1600" noProof="0" dirty="0">
                <a:solidFill>
                  <a:schemeClr val="bg1"/>
                </a:solidFill>
              </a:rPr>
              <a:t>internal team calls through </a:t>
            </a:r>
            <a:r>
              <a:rPr lang="en-GB" sz="1600" b="1" noProof="0" dirty="0">
                <a:solidFill>
                  <a:schemeClr val="bg1"/>
                </a:solidFill>
              </a:rPr>
              <a:t>Google Meet</a:t>
            </a:r>
            <a:r>
              <a:rPr lang="en-GB" sz="1600" noProof="0" dirty="0">
                <a:solidFill>
                  <a:schemeClr val="bg1"/>
                </a:solidFill>
              </a:rPr>
              <a:t> </a:t>
            </a:r>
            <a:r>
              <a:rPr lang="en-GB" sz="1600" i="1" noProof="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#Decision #</a:t>
            </a:r>
            <a:r>
              <a:rPr lang="en-GB" sz="1600" i="1" noProof="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TaskAllocation</a:t>
            </a:r>
            <a:endParaRPr lang="en-GB" sz="1600" i="1" noProof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bg1"/>
                </a:solidFill>
              </a:rPr>
              <a:t>Slack </a:t>
            </a:r>
            <a:r>
              <a:rPr lang="en-GB" sz="1600" noProof="0" dirty="0">
                <a:solidFill>
                  <a:schemeClr val="bg1"/>
                </a:solidFill>
              </a:rPr>
              <a:t>for daily communication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bg1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bg1"/>
                </a:solidFill>
              </a:rPr>
              <a:t>English</a:t>
            </a:r>
            <a:r>
              <a:rPr lang="en-GB" sz="1600" noProof="0" dirty="0">
                <a:solidFill>
                  <a:schemeClr val="bg1"/>
                </a:solidFill>
              </a:rPr>
              <a:t> as working language </a:t>
            </a:r>
          </a:p>
        </p:txBody>
      </p:sp>
      <p:pic>
        <p:nvPicPr>
          <p:cNvPr id="4" name="Image 3" descr="Fichier:Python-logo.png — Wikipédia">
            <a:extLst>
              <a:ext uri="{FF2B5EF4-FFF2-40B4-BE49-F238E27FC236}">
                <a16:creationId xmlns:a16="http://schemas.microsoft.com/office/drawing/2014/main" xmlns="" id="{02267367-8D24-FD3D-A253-A75DFF142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96" y="2004627"/>
            <a:ext cx="561879" cy="616022"/>
          </a:xfrm>
          <a:prstGeom prst="rect">
            <a:avLst/>
          </a:prstGeom>
        </p:spPr>
      </p:pic>
      <p:pic>
        <p:nvPicPr>
          <p:cNvPr id="5" name="Image 4" descr="Télécharger Positron 2026.06.0 pour Windows - Filehippo.com">
            <a:extLst>
              <a:ext uri="{FF2B5EF4-FFF2-40B4-BE49-F238E27FC236}">
                <a16:creationId xmlns:a16="http://schemas.microsoft.com/office/drawing/2014/main" xmlns="" id="{0FC127F0-A853-2AA7-437A-9835AF1A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0068" y="2620649"/>
            <a:ext cx="650467" cy="650467"/>
          </a:xfrm>
          <a:prstGeom prst="rect">
            <a:avLst/>
          </a:prstGeom>
        </p:spPr>
      </p:pic>
      <p:pic>
        <p:nvPicPr>
          <p:cNvPr id="9" name="Image 8" descr="Visual Studio Code — Wikipédia">
            <a:extLst>
              <a:ext uri="{FF2B5EF4-FFF2-40B4-BE49-F238E27FC236}">
                <a16:creationId xmlns:a16="http://schemas.microsoft.com/office/drawing/2014/main" xmlns="" id="{3D1B0E88-865B-29EB-4B5E-689E838D5E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8338" y="2704541"/>
            <a:ext cx="532130" cy="532130"/>
          </a:xfrm>
          <a:prstGeom prst="rect">
            <a:avLst/>
          </a:prstGeom>
        </p:spPr>
      </p:pic>
      <p:pic>
        <p:nvPicPr>
          <p:cNvPr id="10" name="Image 9" descr="Logo github - Icônes des médias sociaux gratuites">
            <a:extLst>
              <a:ext uri="{FF2B5EF4-FFF2-40B4-BE49-F238E27FC236}">
                <a16:creationId xmlns:a16="http://schemas.microsoft.com/office/drawing/2014/main" xmlns="" id="{07688B5A-CEFB-C8A8-E5D9-C06E51754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73" y="3371406"/>
            <a:ext cx="532130" cy="532130"/>
          </a:xfrm>
          <a:prstGeom prst="rect">
            <a:avLst/>
          </a:prstGeom>
        </p:spPr>
      </p:pic>
      <p:pic>
        <p:nvPicPr>
          <p:cNvPr id="17" name="Image 16" descr="File:Slack icon 2019.svg - Wikimedia Commons">
            <a:extLst>
              <a:ext uri="{FF2B5EF4-FFF2-40B4-BE49-F238E27FC236}">
                <a16:creationId xmlns:a16="http://schemas.microsoft.com/office/drawing/2014/main" xmlns="" id="{88398C7F-C890-A84E-91BC-17AF91A02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839" y="2991347"/>
            <a:ext cx="574560" cy="574560"/>
          </a:xfrm>
          <a:prstGeom prst="rect">
            <a:avLst/>
          </a:prstGeom>
        </p:spPr>
      </p:pic>
      <p:pic>
        <p:nvPicPr>
          <p:cNvPr id="18" name="Image 17" descr="Zoom Communications Icon SVG Vector &amp; PNG Free Download | UXWing">
            <a:extLst>
              <a:ext uri="{FF2B5EF4-FFF2-40B4-BE49-F238E27FC236}">
                <a16:creationId xmlns:a16="http://schemas.microsoft.com/office/drawing/2014/main" xmlns="" id="{DD2DCB4C-D6E3-D435-5362-B5B659A048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9980" y="1537842"/>
            <a:ext cx="561879" cy="561879"/>
          </a:xfrm>
          <a:prstGeom prst="rect">
            <a:avLst/>
          </a:prstGeom>
        </p:spPr>
      </p:pic>
      <p:pic>
        <p:nvPicPr>
          <p:cNvPr id="19" name="Image 18" descr="Fichier:Google Meet icon (2020).svg — Wikipédia">
            <a:extLst>
              <a:ext uri="{FF2B5EF4-FFF2-40B4-BE49-F238E27FC236}">
                <a16:creationId xmlns:a16="http://schemas.microsoft.com/office/drawing/2014/main" xmlns="" id="{B89A0E20-A479-4553-F6E0-11E20A1F6C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9980" y="2250767"/>
            <a:ext cx="646279" cy="531834"/>
          </a:xfrm>
          <a:prstGeom prst="rect">
            <a:avLst/>
          </a:prstGeom>
        </p:spPr>
      </p:pic>
      <p:graphicFrame>
        <p:nvGraphicFramePr>
          <p:cNvPr id="20" name="Diagramme 19">
            <a:extLst>
              <a:ext uri="{FF2B5EF4-FFF2-40B4-BE49-F238E27FC236}">
                <a16:creationId xmlns:a16="http://schemas.microsoft.com/office/drawing/2014/main" xmlns="" id="{6D464E91-57FF-84CB-15AE-75E03425EB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9270876"/>
              </p:ext>
            </p:extLst>
          </p:nvPr>
        </p:nvGraphicFramePr>
        <p:xfrm>
          <a:off x="420624" y="4648612"/>
          <a:ext cx="11423904" cy="1015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2" name="Image 21" descr="🇬🇧 Drapeau : Royaume-Uni sur Apple iOS 11.2">
            <a:extLst>
              <a:ext uri="{FF2B5EF4-FFF2-40B4-BE49-F238E27FC236}">
                <a16:creationId xmlns:a16="http://schemas.microsoft.com/office/drawing/2014/main" xmlns="" id="{845F43BF-BB89-98E8-D004-C94ABC70187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5839" y="3539060"/>
            <a:ext cx="574560" cy="57456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xmlns="" id="{8FC16457-E2C2-ED87-212A-F7953C564C77}"/>
              </a:ext>
            </a:extLst>
          </p:cNvPr>
          <p:cNvSpPr txBox="1"/>
          <p:nvPr/>
        </p:nvSpPr>
        <p:spPr>
          <a:xfrm>
            <a:off x="347472" y="4404975"/>
            <a:ext cx="2206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Standard </a:t>
            </a:r>
            <a:r>
              <a:rPr lang="en-GB" b="1" noProof="0" dirty="0" err="1" smtClean="0">
                <a:solidFill>
                  <a:schemeClr val="bg1"/>
                </a:solidFill>
              </a:rPr>
              <a:t>Worklow</a:t>
            </a:r>
            <a:endParaRPr lang="en-GB" b="1" noProof="0" dirty="0">
              <a:solidFill>
                <a:schemeClr val="bg1"/>
              </a:solidFill>
            </a:endParaRP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xmlns="" id="{CF273659-76E0-C3F9-3BCE-CD68A617A871}"/>
              </a:ext>
            </a:extLst>
          </p:cNvPr>
          <p:cNvGrpSpPr/>
          <p:nvPr/>
        </p:nvGrpSpPr>
        <p:grpSpPr>
          <a:xfrm>
            <a:off x="420624" y="5620941"/>
            <a:ext cx="3774435" cy="574560"/>
            <a:chOff x="420624" y="5620941"/>
            <a:chExt cx="3774435" cy="574560"/>
          </a:xfrm>
        </p:grpSpPr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xmlns="" id="{A3A1FB96-DD40-B007-E0C5-1BCBAA222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95" t="7454" r="22572" b="22562"/>
            <a:stretch>
              <a:fillRect/>
            </a:stretch>
          </p:blipFill>
          <p:spPr>
            <a:xfrm>
              <a:off x="420624" y="5620941"/>
              <a:ext cx="462499" cy="574560"/>
            </a:xfrm>
            <a:prstGeom prst="rect">
              <a:avLst/>
            </a:prstGeom>
          </p:spPr>
        </p:pic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xmlns="" id="{39A308EE-1172-6F7E-D31C-B03E3A415374}"/>
                </a:ext>
              </a:extLst>
            </p:cNvPr>
            <p:cNvSpPr txBox="1"/>
            <p:nvPr/>
          </p:nvSpPr>
          <p:spPr>
            <a:xfrm>
              <a:off x="857671" y="5745376"/>
              <a:ext cx="3337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noProof="0">
                  <a:solidFill>
                    <a:schemeClr val="bg1"/>
                  </a:solidFill>
                </a:rPr>
                <a:t>Iterative process with feedback</a:t>
              </a:r>
            </a:p>
          </p:txBody>
        </p:sp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xmlns="" id="{918A9563-C8D2-CAC0-DE8F-16FB272DAD08}"/>
              </a:ext>
            </a:extLst>
          </p:cNvPr>
          <p:cNvGrpSpPr/>
          <p:nvPr/>
        </p:nvGrpSpPr>
        <p:grpSpPr>
          <a:xfrm>
            <a:off x="5031525" y="5649179"/>
            <a:ext cx="1986470" cy="561728"/>
            <a:chOff x="4254592" y="5649179"/>
            <a:chExt cx="1986470" cy="561728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xmlns="" id="{8C438C97-3A85-7534-DFF6-F9D8CB895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42" t="4005" r="9657" b="15911"/>
            <a:stretch>
              <a:fillRect/>
            </a:stretch>
          </p:blipFill>
          <p:spPr>
            <a:xfrm>
              <a:off x="4254592" y="5649179"/>
              <a:ext cx="575866" cy="561728"/>
            </a:xfrm>
            <a:prstGeom prst="rect">
              <a:avLst/>
            </a:prstGeom>
          </p:spPr>
        </p:pic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xmlns="" id="{0F8A8D18-5F75-AA82-F65F-36A1F0B079FD}"/>
                </a:ext>
              </a:extLst>
            </p:cNvPr>
            <p:cNvSpPr txBox="1"/>
            <p:nvPr/>
          </p:nvSpPr>
          <p:spPr>
            <a:xfrm>
              <a:off x="4737765" y="5761417"/>
              <a:ext cx="1503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noProof="0">
                  <a:solidFill>
                    <a:schemeClr val="bg1"/>
                  </a:solidFill>
                </a:rPr>
                <a:t>Cross review</a:t>
              </a: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xmlns="" id="{BBDBF359-8A3B-5DD6-4C1A-60C8B5E1ED55}"/>
              </a:ext>
            </a:extLst>
          </p:cNvPr>
          <p:cNvGrpSpPr/>
          <p:nvPr/>
        </p:nvGrpSpPr>
        <p:grpSpPr>
          <a:xfrm>
            <a:off x="7793272" y="5633161"/>
            <a:ext cx="4049627" cy="593764"/>
            <a:chOff x="7854461" y="5732004"/>
            <a:chExt cx="4049627" cy="593764"/>
          </a:xfrm>
        </p:grpSpPr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xmlns="" id="{FD1F88F7-BB0E-8E75-95A7-4B20E6EBC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" t="2633" r="7318" b="17101"/>
            <a:stretch>
              <a:fillRect/>
            </a:stretch>
          </p:blipFill>
          <p:spPr>
            <a:xfrm>
              <a:off x="7854461" y="5732004"/>
              <a:ext cx="678130" cy="593764"/>
            </a:xfrm>
            <a:prstGeom prst="rect">
              <a:avLst/>
            </a:prstGeom>
          </p:spPr>
        </p:pic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xmlns="" id="{8ACCD59C-69B8-BCA0-899B-98C76768BA8D}"/>
                </a:ext>
              </a:extLst>
            </p:cNvPr>
            <p:cNvSpPr txBox="1"/>
            <p:nvPr/>
          </p:nvSpPr>
          <p:spPr>
            <a:xfrm>
              <a:off x="8513416" y="5874068"/>
              <a:ext cx="3390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noProof="0" dirty="0" err="1">
                  <a:solidFill>
                    <a:schemeClr val="bg1"/>
                  </a:solidFill>
                </a:rPr>
                <a:t>Sucessive</a:t>
              </a:r>
              <a:r>
                <a:rPr lang="en-GB" noProof="0" dirty="0">
                  <a:solidFill>
                    <a:schemeClr val="bg1"/>
                  </a:solidFill>
                </a:rPr>
                <a:t> </a:t>
              </a:r>
              <a:r>
                <a:rPr lang="en-GB" noProof="0" dirty="0" smtClean="0">
                  <a:solidFill>
                    <a:schemeClr val="bg1"/>
                  </a:solidFill>
                </a:rPr>
                <a:t>versions/ milestones</a:t>
              </a:r>
              <a:endParaRPr lang="en-GB" noProof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426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20" grpId="0">
        <p:bldAsOne/>
      </p:bldGraphic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9216175B-2DD2-85DE-0C20-438E14F55CF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217E585-97B1-BC9F-FD60-F93B4E76452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4</a:t>
            </a:fld>
            <a:endParaRPr lang="en-GB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DEDCBF3-373B-9D35-1597-425C1EC36F1A}"/>
              </a:ext>
            </a:extLst>
          </p:cNvPr>
          <p:cNvSpPr/>
          <p:nvPr/>
        </p:nvSpPr>
        <p:spPr>
          <a:xfrm>
            <a:off x="320040" y="1700784"/>
            <a:ext cx="1065276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xmlns="" id="{92319F9A-5D06-E017-307B-FFB970EE5E51}"/>
              </a:ext>
            </a:extLst>
          </p:cNvPr>
          <p:cNvSpPr txBox="1"/>
          <p:nvPr/>
        </p:nvSpPr>
        <p:spPr>
          <a:xfrm>
            <a:off x="347472" y="843442"/>
            <a:ext cx="6028895" cy="2308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GB" sz="1500" b="0" i="1" noProof="0">
                <a:solidFill>
                  <a:srgbClr val="5B6377"/>
                </a:solidFill>
                <a:latin typeface="Arial"/>
              </a:rPr>
              <a:t>French vehicle catalogue &amp; European registration data — France, 2013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xmlns="" id="{271A3F41-905A-0033-99D1-692EC7906D83}"/>
              </a:ext>
            </a:extLst>
          </p:cNvPr>
          <p:cNvSpPr/>
          <p:nvPr/>
        </p:nvSpPr>
        <p:spPr>
          <a:xfrm>
            <a:off x="438912" y="1298448"/>
            <a:ext cx="2514600" cy="941832"/>
          </a:xfrm>
          <a:prstGeom prst="roundRect">
            <a:avLst/>
          </a:prstGeom>
          <a:solidFill>
            <a:srgbClr val="27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xmlns="" id="{C1A80F57-D7A3-2EE9-D639-102B9C97F048}"/>
              </a:ext>
            </a:extLst>
          </p:cNvPr>
          <p:cNvSpPr txBox="1"/>
          <p:nvPr/>
        </p:nvSpPr>
        <p:spPr>
          <a:xfrm>
            <a:off x="603503" y="1375835"/>
            <a:ext cx="1166986" cy="3847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GB" sz="2500" b="1" i="0" noProof="0">
                <a:solidFill>
                  <a:srgbClr val="FFFFFF"/>
                </a:solidFill>
                <a:latin typeface="Arial"/>
              </a:rPr>
              <a:t>~44,850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xmlns="" id="{5A2EDE5C-CD50-30C2-B6B9-17BB5F245389}"/>
              </a:ext>
            </a:extLst>
          </p:cNvPr>
          <p:cNvSpPr txBox="1"/>
          <p:nvPr/>
        </p:nvSpPr>
        <p:spPr>
          <a:xfrm>
            <a:off x="603503" y="1830304"/>
            <a:ext cx="2242602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GB" sz="1050" b="0" i="0" noProof="0" dirty="0" smtClean="0">
                <a:solidFill>
                  <a:srgbClr val="FFFFFF"/>
                </a:solidFill>
                <a:latin typeface="Arial"/>
              </a:rPr>
              <a:t>FR approval </a:t>
            </a:r>
            <a:r>
              <a:rPr lang="en-GB" sz="1050" b="0" i="0" noProof="0" dirty="0">
                <a:solidFill>
                  <a:srgbClr val="FFFFFF"/>
                </a:solidFill>
                <a:latin typeface="Arial"/>
              </a:rPr>
              <a:t>catalogue („spec sheet“)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xmlns="" id="{9AACF1B0-FE14-3BB4-3C25-7A9A792EC569}"/>
              </a:ext>
            </a:extLst>
          </p:cNvPr>
          <p:cNvSpPr/>
          <p:nvPr/>
        </p:nvSpPr>
        <p:spPr>
          <a:xfrm>
            <a:off x="3127248" y="1298448"/>
            <a:ext cx="2514600" cy="941832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8" name="TextBox 7">
            <a:extLst>
              <a:ext uri="{FF2B5EF4-FFF2-40B4-BE49-F238E27FC236}">
                <a16:creationId xmlns:a16="http://schemas.microsoft.com/office/drawing/2014/main" xmlns="" id="{551CA635-7063-1281-1024-222FDBD95D67}"/>
              </a:ext>
            </a:extLst>
          </p:cNvPr>
          <p:cNvSpPr txBox="1"/>
          <p:nvPr/>
        </p:nvSpPr>
        <p:spPr>
          <a:xfrm>
            <a:off x="3291840" y="1375835"/>
            <a:ext cx="1166986" cy="3847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GB" sz="2500" b="1" noProof="0">
                <a:solidFill>
                  <a:srgbClr val="4C6CAE"/>
                </a:solidFill>
                <a:latin typeface="Arial"/>
              </a:rPr>
              <a:t>~32,332</a:t>
            </a:r>
            <a:endParaRPr lang="en-GB" sz="2500" b="1" i="0" noProof="0">
              <a:solidFill>
                <a:srgbClr val="4C6CAE"/>
              </a:solidFill>
              <a:latin typeface="Arial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xmlns="" id="{F199E3C3-7B22-CF12-203D-72F8994CD6EF}"/>
              </a:ext>
            </a:extLst>
          </p:cNvPr>
          <p:cNvSpPr txBox="1"/>
          <p:nvPr/>
        </p:nvSpPr>
        <p:spPr>
          <a:xfrm>
            <a:off x="3291840" y="1830304"/>
            <a:ext cx="2069477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lang="en-GB" sz="1050" noProof="0">
                <a:solidFill>
                  <a:srgbClr val="5B6377"/>
                </a:solidFill>
                <a:latin typeface="Arial"/>
              </a:rPr>
              <a:t>EU-wide registrations (FR filtered)</a:t>
            </a:r>
            <a:endParaRPr lang="en-GB" sz="1050" b="0" i="0" noProof="0">
              <a:solidFill>
                <a:srgbClr val="5B6377"/>
              </a:solidFill>
              <a:latin typeface="Arial"/>
            </a:endParaRP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xmlns="" id="{032E6270-7AC2-9E1D-744E-0724B57DB5FC}"/>
              </a:ext>
            </a:extLst>
          </p:cNvPr>
          <p:cNvSpPr/>
          <p:nvPr/>
        </p:nvSpPr>
        <p:spPr>
          <a:xfrm>
            <a:off x="5815584" y="1298448"/>
            <a:ext cx="2514600" cy="941832"/>
          </a:xfrm>
          <a:prstGeom prst="roundRect">
            <a:avLst/>
          </a:prstGeom>
          <a:solidFill>
            <a:srgbClr val="27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xmlns="" id="{64AC9CB8-81A8-B59D-5376-3874CBF40021}"/>
              </a:ext>
            </a:extLst>
          </p:cNvPr>
          <p:cNvSpPr txBox="1"/>
          <p:nvPr/>
        </p:nvSpPr>
        <p:spPr>
          <a:xfrm>
            <a:off x="5980176" y="1375835"/>
            <a:ext cx="543418" cy="3847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GB" sz="2500" b="1" i="0" noProof="0">
                <a:solidFill>
                  <a:srgbClr val="FFFFFF"/>
                </a:solidFill>
                <a:latin typeface="Arial"/>
              </a:rPr>
              <a:t>~60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xmlns="" id="{56E68E5E-C60B-DF16-A73E-74CD794043F5}"/>
              </a:ext>
            </a:extLst>
          </p:cNvPr>
          <p:cNvSpPr txBox="1"/>
          <p:nvPr/>
        </p:nvSpPr>
        <p:spPr>
          <a:xfrm>
            <a:off x="5980176" y="1755648"/>
            <a:ext cx="2185416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GB" sz="1050" b="0" i="0" noProof="0">
                <a:solidFill>
                  <a:srgbClr val="FFFFFF"/>
                </a:solidFill>
                <a:latin typeface="Arial"/>
              </a:rPr>
              <a:t>brands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xmlns="" id="{FA654077-036C-49BC-9C54-540D2F9DEF92}"/>
              </a:ext>
            </a:extLst>
          </p:cNvPr>
          <p:cNvSpPr/>
          <p:nvPr/>
        </p:nvSpPr>
        <p:spPr>
          <a:xfrm>
            <a:off x="8503920" y="1298448"/>
            <a:ext cx="2743200" cy="941832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xmlns="" id="{ACAEFDE3-0B26-7CEE-0884-B2F8D01A15EE}"/>
              </a:ext>
            </a:extLst>
          </p:cNvPr>
          <p:cNvSpPr txBox="1"/>
          <p:nvPr/>
        </p:nvSpPr>
        <p:spPr>
          <a:xfrm>
            <a:off x="8668512" y="1375835"/>
            <a:ext cx="543418" cy="3847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GB" sz="2500" b="1" noProof="0">
                <a:solidFill>
                  <a:srgbClr val="4C6CAE"/>
                </a:solidFill>
                <a:latin typeface="Arial"/>
              </a:rPr>
              <a:t>~52</a:t>
            </a:r>
            <a:endParaRPr lang="en-GB" sz="2500" b="1" i="0" noProof="0">
              <a:solidFill>
                <a:srgbClr val="4C6CAE"/>
              </a:solidFill>
              <a:latin typeface="Arial"/>
            </a:endParaRP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xmlns="" id="{EB3CC402-3FDD-C87A-84CD-F624585CEF47}"/>
              </a:ext>
            </a:extLst>
          </p:cNvPr>
          <p:cNvSpPr txBox="1"/>
          <p:nvPr/>
        </p:nvSpPr>
        <p:spPr>
          <a:xfrm>
            <a:off x="8668512" y="1830304"/>
            <a:ext cx="1553310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en-GB" sz="1050" b="0" i="0" noProof="0">
                <a:solidFill>
                  <a:srgbClr val="5B6377"/>
                </a:solidFill>
                <a:latin typeface="Arial"/>
              </a:rPr>
              <a:t>Variables in both datasets</a:t>
            </a:r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xmlns="" id="{99FFC2D2-7427-1163-A73B-587BAEB8A2D2}"/>
              </a:ext>
            </a:extLst>
          </p:cNvPr>
          <p:cNvSpPr/>
          <p:nvPr/>
        </p:nvSpPr>
        <p:spPr>
          <a:xfrm>
            <a:off x="438912" y="2542032"/>
            <a:ext cx="662940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7" name="Rounded Rectangle 35">
            <a:extLst>
              <a:ext uri="{FF2B5EF4-FFF2-40B4-BE49-F238E27FC236}">
                <a16:creationId xmlns:a16="http://schemas.microsoft.com/office/drawing/2014/main" xmlns="" id="{C1717CDB-46AC-A5CB-459B-C334091D2CC0}"/>
              </a:ext>
            </a:extLst>
          </p:cNvPr>
          <p:cNvSpPr/>
          <p:nvPr/>
        </p:nvSpPr>
        <p:spPr>
          <a:xfrm>
            <a:off x="7296912" y="2542032"/>
            <a:ext cx="3950208" cy="3246120"/>
          </a:xfrm>
          <a:prstGeom prst="roundRect">
            <a:avLst/>
          </a:prstGeom>
          <a:solidFill>
            <a:srgbClr val="EB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28" name="Picture 46" descr="co2_distribution_notebook.png">
            <a:extLst>
              <a:ext uri="{FF2B5EF4-FFF2-40B4-BE49-F238E27FC236}">
                <a16:creationId xmlns:a16="http://schemas.microsoft.com/office/drawing/2014/main" xmlns="" id="{A1D8E20B-ED08-1856-D1D0-F35244742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97" y="3126798"/>
            <a:ext cx="6172200" cy="2433931"/>
          </a:xfrm>
          <a:prstGeom prst="rect">
            <a:avLst/>
          </a:prstGeom>
        </p:spPr>
      </p:pic>
      <p:sp>
        <p:nvSpPr>
          <p:cNvPr id="30" name="TextBox 48">
            <a:extLst>
              <a:ext uri="{FF2B5EF4-FFF2-40B4-BE49-F238E27FC236}">
                <a16:creationId xmlns:a16="http://schemas.microsoft.com/office/drawing/2014/main" xmlns="" id="{842FF93F-B3F0-A313-5543-94D81801FF34}"/>
              </a:ext>
            </a:extLst>
          </p:cNvPr>
          <p:cNvSpPr txBox="1"/>
          <p:nvPr/>
        </p:nvSpPr>
        <p:spPr>
          <a:xfrm>
            <a:off x="6903720" y="224028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latin typeface="Arial"/>
              </a:defRPr>
            </a:pPr>
            <a:r>
              <a:rPr lang="en-GB" noProof="0"/>
              <a:t>Dataset structure</a:t>
            </a:r>
          </a:p>
        </p:txBody>
      </p:sp>
      <p:sp>
        <p:nvSpPr>
          <p:cNvPr id="31" name="TextBox 49">
            <a:extLst>
              <a:ext uri="{FF2B5EF4-FFF2-40B4-BE49-F238E27FC236}">
                <a16:creationId xmlns:a16="http://schemas.microsoft.com/office/drawing/2014/main" xmlns="" id="{E5F58DAD-18F8-D196-8845-1AE98BA8A6E5}"/>
              </a:ext>
            </a:extLst>
          </p:cNvPr>
          <p:cNvSpPr txBox="1"/>
          <p:nvPr/>
        </p:nvSpPr>
        <p:spPr>
          <a:xfrm>
            <a:off x="7463410" y="2688203"/>
            <a:ext cx="21160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latin typeface="Arial"/>
              </a:defRPr>
            </a:pP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VEHICLE </a:t>
            </a:r>
            <a:r>
              <a:rPr lang="en-GB" sz="1200" noProof="0" dirty="0" smtClean="0">
                <a:solidFill>
                  <a:schemeClr val="tx2">
                    <a:lumMod val="50000"/>
                  </a:schemeClr>
                </a:solidFill>
              </a:rPr>
              <a:t>IDENTIFICATION</a:t>
            </a:r>
            <a:endParaRPr lang="en-GB" sz="1200" noProof="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2" name="TextBox 50">
            <a:extLst>
              <a:ext uri="{FF2B5EF4-FFF2-40B4-BE49-F238E27FC236}">
                <a16:creationId xmlns:a16="http://schemas.microsoft.com/office/drawing/2014/main" xmlns="" id="{4EC89E85-AF7F-A27B-E104-3CEC3958E110}"/>
              </a:ext>
            </a:extLst>
          </p:cNvPr>
          <p:cNvSpPr txBox="1"/>
          <p:nvPr/>
        </p:nvSpPr>
        <p:spPr>
          <a:xfrm>
            <a:off x="7463410" y="2889932"/>
            <a:ext cx="24961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latin typeface="Arial"/>
              </a:defRPr>
            </a:pPr>
            <a:r>
              <a:rPr lang="en-GB" sz="1200" noProof="0">
                <a:solidFill>
                  <a:schemeClr val="tx2">
                    <a:lumMod val="50000"/>
                  </a:schemeClr>
                </a:solidFill>
              </a:rPr>
              <a:t>Brand · model · commercial name</a:t>
            </a:r>
            <a:br>
              <a:rPr lang="en-GB" sz="1200" noProof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1200" noProof="0">
                <a:solidFill>
                  <a:schemeClr val="tx2">
                    <a:lumMod val="50000"/>
                  </a:schemeClr>
                </a:solidFill>
              </a:rPr>
              <a:t>NTIC · TVV</a:t>
            </a:r>
          </a:p>
        </p:txBody>
      </p:sp>
      <p:sp>
        <p:nvSpPr>
          <p:cNvPr id="33" name="TextBox 51">
            <a:extLst>
              <a:ext uri="{FF2B5EF4-FFF2-40B4-BE49-F238E27FC236}">
                <a16:creationId xmlns:a16="http://schemas.microsoft.com/office/drawing/2014/main" xmlns="" id="{52D53FD0-3689-2F01-95CE-C095C525C0BA}"/>
              </a:ext>
            </a:extLst>
          </p:cNvPr>
          <p:cNvSpPr txBox="1"/>
          <p:nvPr/>
        </p:nvSpPr>
        <p:spPr>
          <a:xfrm>
            <a:off x="7441799" y="3457247"/>
            <a:ext cx="197387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latin typeface="Arial"/>
              </a:defRPr>
            </a:pPr>
            <a:r>
              <a:rPr lang="en-GB" sz="1200" noProof="0" dirty="0" smtClean="0">
                <a:solidFill>
                  <a:schemeClr val="tx2">
                    <a:lumMod val="50000"/>
                  </a:schemeClr>
                </a:solidFill>
              </a:rPr>
              <a:t>TECHNICAL FEATURES</a:t>
            </a:r>
            <a:endParaRPr lang="en-GB" sz="1200" noProof="0" dirty="0"/>
          </a:p>
        </p:txBody>
      </p:sp>
      <p:sp>
        <p:nvSpPr>
          <p:cNvPr id="34" name="TextBox 52">
            <a:extLst>
              <a:ext uri="{FF2B5EF4-FFF2-40B4-BE49-F238E27FC236}">
                <a16:creationId xmlns:a16="http://schemas.microsoft.com/office/drawing/2014/main" xmlns="" id="{B1C64BAD-DA1C-01ED-390B-D33112AB2757}"/>
              </a:ext>
            </a:extLst>
          </p:cNvPr>
          <p:cNvSpPr txBox="1"/>
          <p:nvPr/>
        </p:nvSpPr>
        <p:spPr>
          <a:xfrm>
            <a:off x="7463410" y="3646385"/>
            <a:ext cx="33597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latin typeface="Arial"/>
              </a:defRPr>
            </a:pPr>
            <a:r>
              <a:rPr lang="en-GB" sz="1200" dirty="0" smtClean="0">
                <a:solidFill>
                  <a:schemeClr val="tx2">
                    <a:lumMod val="50000"/>
                  </a:schemeClr>
                </a:solidFill>
              </a:rPr>
              <a:t>Body-type · Administrative </a:t>
            </a: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power · max. power</a:t>
            </a:r>
            <a:b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Transmission · kerb </a:t>
            </a:r>
            <a:r>
              <a:rPr lang="en-GB" sz="1200" noProof="0" dirty="0" smtClean="0">
                <a:solidFill>
                  <a:schemeClr val="tx2">
                    <a:lumMod val="50000"/>
                  </a:schemeClr>
                </a:solidFill>
              </a:rPr>
              <a:t>weight</a:t>
            </a:r>
            <a:r>
              <a:rPr lang="en-GB" sz="1200" dirty="0">
                <a:solidFill>
                  <a:schemeClr val="tx2">
                    <a:lumMod val="50000"/>
                  </a:schemeClr>
                </a:solidFill>
              </a:rPr>
              <a:t> · </a:t>
            </a:r>
            <a:r>
              <a:rPr lang="en-GB" sz="1200" dirty="0" smtClean="0">
                <a:solidFill>
                  <a:schemeClr val="tx2">
                    <a:lumMod val="50000"/>
                  </a:schemeClr>
                </a:solidFill>
              </a:rPr>
              <a:t>Segments</a:t>
            </a:r>
            <a:endParaRPr lang="en-GB" sz="1200" noProof="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5" name="TextBox 53">
            <a:extLst>
              <a:ext uri="{FF2B5EF4-FFF2-40B4-BE49-F238E27FC236}">
                <a16:creationId xmlns:a16="http://schemas.microsoft.com/office/drawing/2014/main" xmlns="" id="{DC7FE593-B140-18E7-AD07-FAA4BB177AC0}"/>
              </a:ext>
            </a:extLst>
          </p:cNvPr>
          <p:cNvSpPr txBox="1"/>
          <p:nvPr/>
        </p:nvSpPr>
        <p:spPr>
          <a:xfrm>
            <a:off x="7490228" y="4225992"/>
            <a:ext cx="193559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latin typeface="Arial"/>
              </a:defRPr>
            </a:pP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FUEL &amp; CONSUMPTION</a:t>
            </a:r>
          </a:p>
        </p:txBody>
      </p:sp>
      <p:sp>
        <p:nvSpPr>
          <p:cNvPr id="36" name="TextBox 54">
            <a:extLst>
              <a:ext uri="{FF2B5EF4-FFF2-40B4-BE49-F238E27FC236}">
                <a16:creationId xmlns:a16="http://schemas.microsoft.com/office/drawing/2014/main" xmlns="" id="{E6A1DACC-6990-2E00-3379-0EC7F7A4D046}"/>
              </a:ext>
            </a:extLst>
          </p:cNvPr>
          <p:cNvSpPr txBox="1"/>
          <p:nvPr/>
        </p:nvSpPr>
        <p:spPr>
          <a:xfrm>
            <a:off x="7490228" y="4407079"/>
            <a:ext cx="361509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latin typeface="Arial"/>
              </a:defRPr>
            </a:pPr>
            <a:r>
              <a:rPr lang="en-GB" sz="1200" dirty="0">
                <a:solidFill>
                  <a:schemeClr val="tx2">
                    <a:lumMod val="50000"/>
                  </a:schemeClr>
                </a:solidFill>
                <a:latin typeface="Arial"/>
              </a:rPr>
              <a:t>Fuel-type · </a:t>
            </a:r>
            <a:r>
              <a:rPr lang="en-GB" sz="1200" dirty="0">
                <a:solidFill>
                  <a:schemeClr val="tx2">
                    <a:lumMod val="50000"/>
                  </a:schemeClr>
                </a:solidFill>
                <a:latin typeface="Arial"/>
              </a:rPr>
              <a:t>hybrid </a:t>
            </a: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· urban / extra-urban / combined</a:t>
            </a:r>
          </a:p>
        </p:txBody>
      </p:sp>
      <p:sp>
        <p:nvSpPr>
          <p:cNvPr id="37" name="TextBox 55">
            <a:extLst>
              <a:ext uri="{FF2B5EF4-FFF2-40B4-BE49-F238E27FC236}">
                <a16:creationId xmlns:a16="http://schemas.microsoft.com/office/drawing/2014/main" xmlns="" id="{547D4D74-85A1-698A-9456-9DD1F4608AB5}"/>
              </a:ext>
            </a:extLst>
          </p:cNvPr>
          <p:cNvSpPr txBox="1"/>
          <p:nvPr/>
        </p:nvSpPr>
        <p:spPr>
          <a:xfrm>
            <a:off x="7478937" y="4781854"/>
            <a:ext cx="10406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latin typeface="Arial"/>
              </a:defRPr>
            </a:pP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EMISSIONS</a:t>
            </a:r>
          </a:p>
        </p:txBody>
      </p:sp>
      <p:sp>
        <p:nvSpPr>
          <p:cNvPr id="38" name="TextBox 56">
            <a:extLst>
              <a:ext uri="{FF2B5EF4-FFF2-40B4-BE49-F238E27FC236}">
                <a16:creationId xmlns:a16="http://schemas.microsoft.com/office/drawing/2014/main" xmlns="" id="{FE2D9E99-95D4-B62B-0DE3-64DDE70AFE4C}"/>
              </a:ext>
            </a:extLst>
          </p:cNvPr>
          <p:cNvSpPr txBox="1"/>
          <p:nvPr/>
        </p:nvSpPr>
        <p:spPr>
          <a:xfrm>
            <a:off x="7478937" y="4989590"/>
            <a:ext cx="273825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80">
                <a:latin typeface="Arial"/>
              </a:defRPr>
            </a:pPr>
            <a:r>
              <a:rPr lang="en-GB" sz="1200" noProof="0">
                <a:solidFill>
                  <a:schemeClr val="tx2">
                    <a:lumMod val="50000"/>
                  </a:schemeClr>
                </a:solidFill>
              </a:rPr>
              <a:t>CO₂ · CO · HC · NOx · HC-NOx · PM</a:t>
            </a:r>
          </a:p>
        </p:txBody>
      </p:sp>
      <p:sp>
        <p:nvSpPr>
          <p:cNvPr id="39" name="TextBox 57">
            <a:extLst>
              <a:ext uri="{FF2B5EF4-FFF2-40B4-BE49-F238E27FC236}">
                <a16:creationId xmlns:a16="http://schemas.microsoft.com/office/drawing/2014/main" xmlns="" id="{F3A5E0C7-CCC9-7009-76C0-B0B4E7BCCE1D}"/>
              </a:ext>
            </a:extLst>
          </p:cNvPr>
          <p:cNvSpPr txBox="1"/>
          <p:nvPr/>
        </p:nvSpPr>
        <p:spPr>
          <a:xfrm>
            <a:off x="6903720" y="5742432"/>
            <a:ext cx="38862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latin typeface="Arial"/>
              </a:defRPr>
            </a:pPr>
            <a:r>
              <a:rPr lang="en-GB" noProof="0"/>
              <a:t>CLASSIFICATION</a:t>
            </a:r>
          </a:p>
        </p:txBody>
      </p:sp>
      <p:sp>
        <p:nvSpPr>
          <p:cNvPr id="40" name="TextBox 59">
            <a:extLst>
              <a:ext uri="{FF2B5EF4-FFF2-40B4-BE49-F238E27FC236}">
                <a16:creationId xmlns:a16="http://schemas.microsoft.com/office/drawing/2014/main" xmlns="" id="{BE7F1B2D-F665-59F7-8311-9C459E9BBC5B}"/>
              </a:ext>
            </a:extLst>
          </p:cNvPr>
          <p:cNvSpPr txBox="1"/>
          <p:nvPr/>
        </p:nvSpPr>
        <p:spPr>
          <a:xfrm>
            <a:off x="7463410" y="5745459"/>
            <a:ext cx="373692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latin typeface="Arial"/>
              </a:defRPr>
            </a:pPr>
            <a:r>
              <a:rPr lang="en-GB" noProof="0">
                <a:solidFill>
                  <a:schemeClr val="bg1">
                    <a:lumMod val="65000"/>
                    <a:lumOff val="35000"/>
                  </a:schemeClr>
                </a:solidFill>
              </a:rPr>
              <a:t>Market context: EU registration volume is used later for market weighting.</a:t>
            </a:r>
          </a:p>
        </p:txBody>
      </p:sp>
      <p:sp>
        <p:nvSpPr>
          <p:cNvPr id="43" name="Title">
            <a:extLst>
              <a:ext uri="{FF2B5EF4-FFF2-40B4-BE49-F238E27FC236}">
                <a16:creationId xmlns:a16="http://schemas.microsoft.com/office/drawing/2014/main" xmlns="" id="{9AF59BAA-B34D-0804-3804-66D5902B8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274638"/>
            <a:ext cx="11369040" cy="480000"/>
          </a:xfrm>
        </p:spPr>
        <p:txBody>
          <a:bodyPr lIns="0" tIns="0" rIns="0" bIns="0" rtlCol="0" anchor="t"/>
          <a:lstStyle/>
          <a:p>
            <a:r>
              <a:rPr lang="en-GB" sz="2800" noProof="0"/>
              <a:t>Brief Look at the Original Data</a:t>
            </a:r>
          </a:p>
        </p:txBody>
      </p:sp>
      <p:sp>
        <p:nvSpPr>
          <p:cNvPr id="41" name="TextBox 49">
            <a:extLst>
              <a:ext uri="{FF2B5EF4-FFF2-40B4-BE49-F238E27FC236}">
                <a16:creationId xmlns:a16="http://schemas.microsoft.com/office/drawing/2014/main" xmlns="" id="{E5F58DAD-18F8-D196-8845-1AE98BA8A6E5}"/>
              </a:ext>
            </a:extLst>
          </p:cNvPr>
          <p:cNvSpPr txBox="1"/>
          <p:nvPr/>
        </p:nvSpPr>
        <p:spPr>
          <a:xfrm>
            <a:off x="793047" y="2688203"/>
            <a:ext cx="331558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latin typeface="Arial"/>
              </a:defRPr>
            </a:pP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Core Variable for Analyses: CO² Emissions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50" y="2542032"/>
            <a:ext cx="6841258" cy="3314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TextBox 49">
            <a:extLst>
              <a:ext uri="{FF2B5EF4-FFF2-40B4-BE49-F238E27FC236}">
                <a16:creationId xmlns:a16="http://schemas.microsoft.com/office/drawing/2014/main" xmlns="" id="{E5F58DAD-18F8-D196-8845-1AE98BA8A6E5}"/>
              </a:ext>
            </a:extLst>
          </p:cNvPr>
          <p:cNvSpPr txBox="1"/>
          <p:nvPr/>
        </p:nvSpPr>
        <p:spPr>
          <a:xfrm>
            <a:off x="1115115" y="2472253"/>
            <a:ext cx="4622035" cy="276999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defRPr sz="950" b="1">
                <a:latin typeface="Arial"/>
              </a:defRPr>
            </a:pPr>
            <a:r>
              <a:rPr lang="en-GB" sz="1200" noProof="0" dirty="0">
                <a:solidFill>
                  <a:schemeClr val="tx2">
                    <a:lumMod val="50000"/>
                  </a:schemeClr>
                </a:solidFill>
              </a:rPr>
              <a:t>Core Variable for Analyses: CO² </a:t>
            </a:r>
            <a:r>
              <a:rPr lang="en-GB" sz="1200" noProof="0" dirty="0" smtClean="0">
                <a:solidFill>
                  <a:schemeClr val="tx2">
                    <a:lumMod val="50000"/>
                  </a:schemeClr>
                </a:solidFill>
              </a:rPr>
              <a:t>Emissions (</a:t>
            </a:r>
            <a:r>
              <a:rPr lang="en-GB" sz="1200" noProof="0" dirty="0" err="1" smtClean="0">
                <a:solidFill>
                  <a:schemeClr val="tx2">
                    <a:lumMod val="50000"/>
                  </a:schemeClr>
                </a:solidFill>
              </a:rPr>
              <a:t>vs</a:t>
            </a:r>
            <a:r>
              <a:rPr lang="en-GB" sz="1200" noProof="0" dirty="0" smtClean="0">
                <a:solidFill>
                  <a:schemeClr val="tx2">
                    <a:lumMod val="50000"/>
                  </a:schemeClr>
                </a:solidFill>
              </a:rPr>
              <a:t> Car Segment)</a:t>
            </a:r>
            <a:endParaRPr lang="en-GB" sz="1200" noProof="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99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 animBg="1"/>
      <p:bldP spid="27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rtlCol="0" anchor="t"/>
          <a:lstStyle/>
          <a:p>
            <a:pPr rtl="0"/>
            <a:r>
              <a:rPr lang="en-GB" sz="2800" noProof="0" dirty="0"/>
              <a:t>Merging two Datasets as </a:t>
            </a:r>
            <a:r>
              <a:rPr lang="en-GB" sz="2800" noProof="0" dirty="0" smtClean="0"/>
              <a:t>a Main </a:t>
            </a:r>
            <a:r>
              <a:rPr lang="en-GB" sz="2800" noProof="0" dirty="0"/>
              <a:t>Challenge in this Project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71D6E789-A9CA-435C-99DB-6EAF638305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en-GB" noProof="0" smtClean="0"/>
              <a:pPr rtl="0"/>
              <a:t>5</a:t>
            </a:fld>
            <a:endParaRPr lang="en-GB" noProof="0"/>
          </a:p>
        </p:txBody>
      </p:sp>
      <p:sp>
        <p:nvSpPr>
          <p:cNvPr id="127" name="TextBox 128"/>
          <p:cNvSpPr txBox="1"/>
          <p:nvPr/>
        </p:nvSpPr>
        <p:spPr>
          <a:xfrm>
            <a:off x="469392" y="786384"/>
            <a:ext cx="1069086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endParaRPr lang="en-GB" sz="1200" i="1" noProof="0">
              <a:solidFill>
                <a:schemeClr val="bg1"/>
              </a:solidFill>
            </a:endParaRPr>
          </a:p>
        </p:txBody>
      </p:sp>
      <p:sp>
        <p:nvSpPr>
          <p:cNvPr id="129" name="Shape 130"/>
          <p:cNvSpPr/>
          <p:nvPr/>
        </p:nvSpPr>
        <p:spPr>
          <a:xfrm>
            <a:off x="469392" y="1188720"/>
            <a:ext cx="3432048" cy="4759190"/>
          </a:xfrm>
          <a:prstGeom prst="roundRect">
            <a:avLst>
              <a:gd name="adj" fmla="val 3500"/>
            </a:avLst>
          </a:prstGeom>
          <a:solidFill>
            <a:srgbClr val="EDF2FB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31" name="Badge 132"/>
          <p:cNvSpPr/>
          <p:nvPr/>
        </p:nvSpPr>
        <p:spPr>
          <a:xfrm>
            <a:off x="652272" y="1426464"/>
            <a:ext cx="365760" cy="365760"/>
          </a:xfrm>
          <a:prstGeom prst="ellipse">
            <a:avLst/>
          </a:prstGeom>
          <a:solidFill>
            <a:srgbClr val="24285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01   </a:t>
            </a:r>
          </a:p>
        </p:txBody>
      </p:sp>
      <p:sp>
        <p:nvSpPr>
          <p:cNvPr id="135" name="Shape 136"/>
          <p:cNvSpPr/>
          <p:nvPr/>
        </p:nvSpPr>
        <p:spPr>
          <a:xfrm>
            <a:off x="4328159" y="1188720"/>
            <a:ext cx="3506678" cy="4759190"/>
          </a:xfrm>
          <a:prstGeom prst="roundRect">
            <a:avLst>
              <a:gd name="adj" fmla="val 3500"/>
            </a:avLst>
          </a:prstGeom>
          <a:solidFill>
            <a:srgbClr val="DCE6F7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37" name="Badge 138"/>
          <p:cNvSpPr/>
          <p:nvPr/>
        </p:nvSpPr>
        <p:spPr>
          <a:xfrm>
            <a:off x="4517136" y="1426464"/>
            <a:ext cx="365760" cy="365760"/>
          </a:xfrm>
          <a:prstGeom prst="ellipse">
            <a:avLst/>
          </a:prstGeom>
          <a:solidFill>
            <a:srgbClr val="24285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1" name="Shape 142"/>
          <p:cNvSpPr/>
          <p:nvPr/>
        </p:nvSpPr>
        <p:spPr>
          <a:xfrm>
            <a:off x="8227207" y="1194816"/>
            <a:ext cx="3430905" cy="4753094"/>
          </a:xfrm>
          <a:prstGeom prst="roundRect">
            <a:avLst>
              <a:gd name="adj" fmla="val 3500"/>
            </a:avLst>
          </a:prstGeom>
          <a:solidFill>
            <a:srgbClr val="EDF2FB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43" name="Badge 144"/>
          <p:cNvSpPr/>
          <p:nvPr/>
        </p:nvSpPr>
        <p:spPr>
          <a:xfrm>
            <a:off x="8450218" y="1426464"/>
            <a:ext cx="365760" cy="365760"/>
          </a:xfrm>
          <a:prstGeom prst="ellipse">
            <a:avLst/>
          </a:prstGeom>
          <a:solidFill>
            <a:srgbClr val="24285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40"/>
          <p:cNvSpPr txBox="1"/>
          <p:nvPr/>
        </p:nvSpPr>
        <p:spPr>
          <a:xfrm>
            <a:off x="1120140" y="1499616"/>
            <a:ext cx="2647188" cy="4145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b="1" noProof="0">
                <a:solidFill>
                  <a:srgbClr val="242852"/>
                </a:solidFill>
              </a:rPr>
              <a:t>Why Required?</a:t>
            </a:r>
          </a:p>
        </p:txBody>
      </p:sp>
      <p:sp>
        <p:nvSpPr>
          <p:cNvPr id="21" name="TextBox 140"/>
          <p:cNvSpPr txBox="1"/>
          <p:nvPr/>
        </p:nvSpPr>
        <p:spPr>
          <a:xfrm>
            <a:off x="4934712" y="1487424"/>
            <a:ext cx="2647188" cy="4145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b="1" noProof="0">
                <a:solidFill>
                  <a:srgbClr val="242852"/>
                </a:solidFill>
              </a:rPr>
              <a:t>Why a Challenge?</a:t>
            </a:r>
          </a:p>
        </p:txBody>
      </p:sp>
      <p:sp>
        <p:nvSpPr>
          <p:cNvPr id="22" name="TextBox 106"/>
          <p:cNvSpPr txBox="1"/>
          <p:nvPr/>
        </p:nvSpPr>
        <p:spPr>
          <a:xfrm>
            <a:off x="4517136" y="1901952"/>
            <a:ext cx="3152545" cy="395935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b="1" noProof="0" dirty="0">
                <a:solidFill>
                  <a:srgbClr val="242852"/>
                </a:solidFill>
              </a:rPr>
              <a:t>No single or combined key </a:t>
            </a:r>
            <a:r>
              <a:rPr lang="en-GB" sz="1600" noProof="0" dirty="0">
                <a:solidFill>
                  <a:srgbClr val="242852"/>
                </a:solidFill>
              </a:rPr>
              <a:t>available</a:t>
            </a:r>
            <a:r>
              <a:rPr lang="en-GB" sz="1600" b="1" noProof="0" dirty="0">
                <a:solidFill>
                  <a:srgbClr val="242852"/>
                </a:solidFill>
              </a:rPr>
              <a:t> </a:t>
            </a:r>
            <a:r>
              <a:rPr lang="en-GB" sz="1600" noProof="0" dirty="0">
                <a:solidFill>
                  <a:srgbClr val="242852"/>
                </a:solidFill>
              </a:rPr>
              <a:t>to directly link the </a:t>
            </a:r>
            <a:r>
              <a:rPr lang="en-GB" sz="1600" noProof="0" dirty="0" smtClean="0">
                <a:solidFill>
                  <a:srgbClr val="242852"/>
                </a:solidFill>
              </a:rPr>
              <a:t>datasets.</a:t>
            </a:r>
            <a:endParaRPr lang="en-GB" sz="1600" noProof="0" dirty="0">
              <a:solidFill>
                <a:srgbClr val="242852"/>
              </a:solidFill>
            </a:endParaRP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Most discriminating “key” </a:t>
            </a:r>
            <a:r>
              <a:rPr lang="en-GB" sz="1600" b="1" noProof="0" dirty="0">
                <a:solidFill>
                  <a:srgbClr val="242852"/>
                </a:solidFill>
              </a:rPr>
              <a:t>Type–variant–version </a:t>
            </a:r>
            <a:r>
              <a:rPr lang="en-GB" sz="1600" noProof="0" dirty="0">
                <a:solidFill>
                  <a:srgbClr val="242852"/>
                </a:solidFill>
              </a:rPr>
              <a:t>(TVV) is inconsistently recorded, partly individual/arbitrary manufacturer-specific conventions. Result for e.g. Renault: zero exact matches.</a:t>
            </a: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dirty="0" smtClean="0">
                <a:solidFill>
                  <a:srgbClr val="242852"/>
                </a:solidFill>
                <a:sym typeface="Wingdings" panose="05000000000000000000" pitchFamily="2" charset="2"/>
              </a:rPr>
              <a:t>Other variables with </a:t>
            </a:r>
            <a:r>
              <a:rPr lang="en-GB" sz="1600" b="1" noProof="0" dirty="0" smtClean="0">
                <a:solidFill>
                  <a:srgbClr val="242852"/>
                </a:solidFill>
                <a:sym typeface="Wingdings" panose="05000000000000000000" pitchFamily="2" charset="2"/>
              </a:rPr>
              <a:t>errors </a:t>
            </a:r>
            <a:r>
              <a:rPr lang="en-GB" sz="1600" noProof="0" dirty="0" smtClean="0">
                <a:solidFill>
                  <a:srgbClr val="242852"/>
                </a:solidFill>
                <a:sym typeface="Wingdings" panose="05000000000000000000" pitchFamily="2" charset="2"/>
              </a:rPr>
              <a:t>and </a:t>
            </a:r>
            <a:r>
              <a:rPr lang="en-GB" sz="1600" b="1" noProof="0" dirty="0" smtClean="0">
                <a:solidFill>
                  <a:srgbClr val="242852"/>
                </a:solidFill>
                <a:sym typeface="Wingdings" panose="05000000000000000000" pitchFamily="2" charset="2"/>
              </a:rPr>
              <a:t>inconsistent</a:t>
            </a:r>
            <a:r>
              <a:rPr lang="en-GB" sz="1600" dirty="0" smtClean="0">
                <a:solidFill>
                  <a:srgbClr val="242852"/>
                </a:solidFill>
                <a:sym typeface="Wingdings" panose="05000000000000000000" pitchFamily="2" charset="2"/>
              </a:rPr>
              <a:t> (if overlapping)</a:t>
            </a:r>
            <a:endParaRPr lang="en-GB" sz="1600" noProof="0" dirty="0">
              <a:solidFill>
                <a:srgbClr val="242852"/>
              </a:solidFill>
              <a:sym typeface="Wingdings" panose="05000000000000000000" pitchFamily="2" charset="2"/>
            </a:endParaRP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b="1" noProof="0" dirty="0" smtClean="0">
                <a:solidFill>
                  <a:srgbClr val="242852"/>
                </a:solidFill>
              </a:rPr>
              <a:t>Complexity</a:t>
            </a:r>
            <a:r>
              <a:rPr lang="en-GB" sz="1600" noProof="0" dirty="0" smtClean="0">
                <a:solidFill>
                  <a:srgbClr val="242852"/>
                </a:solidFill>
              </a:rPr>
              <a:t>: Registration count management, 1:n </a:t>
            </a:r>
            <a:r>
              <a:rPr lang="en-GB" sz="1600" dirty="0" smtClean="0">
                <a:solidFill>
                  <a:srgbClr val="242852"/>
                </a:solidFill>
              </a:rPr>
              <a:t>&amp; </a:t>
            </a:r>
            <a:r>
              <a:rPr lang="en-GB" sz="1600" noProof="0" dirty="0" smtClean="0">
                <a:solidFill>
                  <a:srgbClr val="242852"/>
                </a:solidFill>
              </a:rPr>
              <a:t>n:m joins, corrections…</a:t>
            </a:r>
            <a:endParaRPr lang="en-GB" sz="1600" noProof="0" dirty="0">
              <a:solidFill>
                <a:srgbClr val="242852"/>
              </a:solidFill>
            </a:endParaRPr>
          </a:p>
        </p:txBody>
      </p:sp>
      <p:sp>
        <p:nvSpPr>
          <p:cNvPr id="35" name="TextBox 140"/>
          <p:cNvSpPr txBox="1"/>
          <p:nvPr/>
        </p:nvSpPr>
        <p:spPr>
          <a:xfrm>
            <a:off x="8886082" y="1487424"/>
            <a:ext cx="2314450" cy="4145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b="1" noProof="0" dirty="0" smtClean="0">
                <a:solidFill>
                  <a:srgbClr val="242852"/>
                </a:solidFill>
              </a:rPr>
              <a:t>Which Solutions?</a:t>
            </a:r>
            <a:endParaRPr lang="en-GB" b="1" noProof="0" dirty="0">
              <a:solidFill>
                <a:srgbClr val="242852"/>
              </a:solidFill>
            </a:endParaRPr>
          </a:p>
        </p:txBody>
      </p:sp>
      <p:sp>
        <p:nvSpPr>
          <p:cNvPr id="37" name="Espace réservé de la date 5">
            <a:extLst>
              <a:ext uri="{FF2B5EF4-FFF2-40B4-BE49-F238E27FC236}">
                <a16:creationId xmlns:a16="http://schemas.microsoft.com/office/drawing/2014/main" xmlns="" id="{E60A82C0-C2B9-4E76-820D-FB2BAE0D28D3}"/>
              </a:ext>
            </a:extLst>
          </p:cNvPr>
          <p:cNvSpPr txBox="1">
            <a:spLocks/>
          </p:cNvSpPr>
          <p:nvPr/>
        </p:nvSpPr>
        <p:spPr>
          <a:xfrm>
            <a:off x="347472" y="6292334"/>
            <a:ext cx="11006328" cy="18288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20" name="TextBox 140"/>
          <p:cNvSpPr txBox="1"/>
          <p:nvPr/>
        </p:nvSpPr>
        <p:spPr>
          <a:xfrm>
            <a:off x="652272" y="1975104"/>
            <a:ext cx="2999232" cy="27706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</a:pPr>
            <a:r>
              <a:rPr lang="en-GB" sz="1600" noProof="0" dirty="0">
                <a:solidFill>
                  <a:srgbClr val="242852"/>
                </a:solidFill>
              </a:rPr>
              <a:t>Two datasets available:</a:t>
            </a: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French Catalogue contains </a:t>
            </a:r>
            <a:r>
              <a:rPr lang="en-GB" sz="1600" b="1" noProof="0" dirty="0">
                <a:solidFill>
                  <a:srgbClr val="242852"/>
                </a:solidFill>
              </a:rPr>
              <a:t>relevant variables</a:t>
            </a:r>
            <a:r>
              <a:rPr lang="en-GB" sz="1600" noProof="0" dirty="0">
                <a:solidFill>
                  <a:srgbClr val="242852"/>
                </a:solidFill>
              </a:rPr>
              <a:t> with regard to emissions, but skewed car manufacturer/ type distribution - e.g. 86% of all entries from Mercedes with only 3% market </a:t>
            </a:r>
            <a:r>
              <a:rPr lang="en-GB" sz="1600" noProof="0" dirty="0" smtClean="0">
                <a:solidFill>
                  <a:srgbClr val="242852"/>
                </a:solidFill>
              </a:rPr>
              <a:t>share.</a:t>
            </a:r>
            <a:endParaRPr lang="en-GB" sz="1600" noProof="0" dirty="0">
              <a:solidFill>
                <a:srgbClr val="242852"/>
              </a:solidFill>
            </a:endParaRP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EU-Registry provides </a:t>
            </a:r>
            <a:r>
              <a:rPr lang="en-GB" sz="1600" b="1" noProof="0" dirty="0">
                <a:solidFill>
                  <a:srgbClr val="242852"/>
                </a:solidFill>
              </a:rPr>
              <a:t>registration numbers </a:t>
            </a:r>
            <a:r>
              <a:rPr lang="en-GB" sz="1600" noProof="0" dirty="0">
                <a:solidFill>
                  <a:srgbClr val="242852"/>
                </a:solidFill>
              </a:rPr>
              <a:t>of cars but lacks other relevant variables.</a:t>
            </a: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Data </a:t>
            </a:r>
            <a:r>
              <a:rPr lang="en-GB" sz="1600" b="1" noProof="0" dirty="0">
                <a:solidFill>
                  <a:srgbClr val="242852"/>
                </a:solidFill>
              </a:rPr>
              <a:t>merge necessary</a:t>
            </a:r>
            <a:r>
              <a:rPr lang="en-GB" sz="1600" noProof="0" dirty="0">
                <a:solidFill>
                  <a:srgbClr val="242852"/>
                </a:solidFill>
              </a:rPr>
              <a:t> to take advantage of relevant variables and market volumes.</a:t>
            </a:r>
          </a:p>
        </p:txBody>
      </p:sp>
      <p:sp>
        <p:nvSpPr>
          <p:cNvPr id="23" name="TextBox 106"/>
          <p:cNvSpPr txBox="1"/>
          <p:nvPr/>
        </p:nvSpPr>
        <p:spPr>
          <a:xfrm>
            <a:off x="8450218" y="1901952"/>
            <a:ext cx="2928622" cy="192633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b="1" noProof="0" dirty="0">
                <a:solidFill>
                  <a:srgbClr val="242852"/>
                </a:solidFill>
              </a:rPr>
              <a:t>Multi-Step-Strategy</a:t>
            </a:r>
            <a:r>
              <a:rPr lang="en-GB" sz="1600" noProof="0" dirty="0">
                <a:solidFill>
                  <a:srgbClr val="242852"/>
                </a:solidFill>
              </a:rPr>
              <a:t> where each step targets what the previous one left unmatched. </a:t>
            </a:r>
            <a:endParaRPr lang="en-GB" sz="1600" noProof="0" dirty="0" smtClean="0">
              <a:solidFill>
                <a:srgbClr val="242852"/>
              </a:solidFill>
            </a:endParaRP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 smtClean="0">
                <a:solidFill>
                  <a:srgbClr val="242852"/>
                </a:solidFill>
              </a:rPr>
              <a:t>Iterative </a:t>
            </a:r>
            <a:r>
              <a:rPr lang="en-GB" sz="1600" b="1" noProof="0" dirty="0" smtClean="0">
                <a:solidFill>
                  <a:srgbClr val="242852"/>
                </a:solidFill>
              </a:rPr>
              <a:t>data cleaning</a:t>
            </a:r>
            <a:r>
              <a:rPr lang="en-GB" sz="1600" noProof="0" dirty="0" smtClean="0">
                <a:solidFill>
                  <a:srgbClr val="242852"/>
                </a:solidFill>
              </a:rPr>
              <a:t> (duplicates, </a:t>
            </a:r>
            <a:r>
              <a:rPr lang="en-GB" sz="1600" noProof="0" dirty="0" err="1" smtClean="0">
                <a:solidFill>
                  <a:srgbClr val="242852"/>
                </a:solidFill>
              </a:rPr>
              <a:t>inconsist</a:t>
            </a:r>
            <a:r>
              <a:rPr lang="en-GB" sz="1600" noProof="0" dirty="0" smtClean="0">
                <a:solidFill>
                  <a:srgbClr val="242852"/>
                </a:solidFill>
              </a:rPr>
              <a:t>…) centrally located in process.</a:t>
            </a:r>
            <a:endParaRPr lang="en-GB" sz="1600" noProof="0" dirty="0">
              <a:solidFill>
                <a:srgbClr val="242852"/>
              </a:solidFill>
            </a:endParaRP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b="1" noProof="0" dirty="0">
                <a:solidFill>
                  <a:srgbClr val="242852"/>
                </a:solidFill>
              </a:rPr>
              <a:t>Recalculation </a:t>
            </a:r>
            <a:r>
              <a:rPr lang="en-GB" sz="1600" noProof="0" dirty="0">
                <a:solidFill>
                  <a:srgbClr val="242852"/>
                </a:solidFill>
              </a:rPr>
              <a:t>of registrations </a:t>
            </a:r>
            <a:r>
              <a:rPr lang="en-GB" sz="1600" noProof="0" dirty="0" smtClean="0">
                <a:solidFill>
                  <a:srgbClr val="242852"/>
                </a:solidFill>
              </a:rPr>
              <a:t>(and other var.) in </a:t>
            </a:r>
            <a:r>
              <a:rPr lang="en-GB" sz="1600" noProof="0" dirty="0">
                <a:solidFill>
                  <a:srgbClr val="242852"/>
                </a:solidFill>
              </a:rPr>
              <a:t>each step.</a:t>
            </a: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b="1" noProof="0" dirty="0" err="1">
                <a:solidFill>
                  <a:srgbClr val="242852"/>
                </a:solidFill>
              </a:rPr>
              <a:t>Deduplication</a:t>
            </a:r>
            <a:r>
              <a:rPr lang="en-GB" sz="1600" noProof="0" dirty="0">
                <a:solidFill>
                  <a:srgbClr val="242852"/>
                </a:solidFill>
              </a:rPr>
              <a:t> and variable clean-up as final step of data processing.</a:t>
            </a: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b="1" noProof="0" dirty="0" smtClean="0">
                <a:solidFill>
                  <a:srgbClr val="242852"/>
                </a:solidFill>
              </a:rPr>
              <a:t>Imputation</a:t>
            </a:r>
            <a:r>
              <a:rPr lang="en-GB" sz="1600" noProof="0" dirty="0" smtClean="0">
                <a:solidFill>
                  <a:srgbClr val="242852"/>
                </a:solidFill>
              </a:rPr>
              <a:t> </a:t>
            </a:r>
            <a:r>
              <a:rPr lang="en-GB" sz="1600" noProof="0" dirty="0">
                <a:solidFill>
                  <a:srgbClr val="242852"/>
                </a:solidFill>
              </a:rPr>
              <a:t>for key variables if &lt;1% </a:t>
            </a:r>
            <a:r>
              <a:rPr lang="en-GB" sz="1600" noProof="0" dirty="0" err="1" smtClean="0">
                <a:solidFill>
                  <a:srgbClr val="242852"/>
                </a:solidFill>
              </a:rPr>
              <a:t>NaN</a:t>
            </a:r>
            <a:r>
              <a:rPr lang="en-GB" sz="1600" noProof="0" dirty="0" smtClean="0">
                <a:solidFill>
                  <a:srgbClr val="242852"/>
                </a:solidFill>
              </a:rPr>
              <a:t>.</a:t>
            </a:r>
            <a:endParaRPr lang="en-GB" sz="1600" b="1" noProof="0" dirty="0">
              <a:solidFill>
                <a:srgbClr val="2428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9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nimBg="1"/>
      <p:bldP spid="131" grpId="0" animBg="1"/>
      <p:bldP spid="135" grpId="0" animBg="1"/>
      <p:bldP spid="137" grpId="0" animBg="1"/>
      <p:bldP spid="141" grpId="0" animBg="1"/>
      <p:bldP spid="143" grpId="0" animBg="1"/>
      <p:bldP spid="19" grpId="0"/>
      <p:bldP spid="21" grpId="0"/>
      <p:bldP spid="22" grpId="0"/>
      <p:bldP spid="35" grpId="0"/>
      <p:bldP spid="20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rtlCol="0" anchor="t"/>
          <a:lstStyle/>
          <a:p>
            <a:r>
              <a:rPr lang="en-GB" sz="2800" noProof="0"/>
              <a:t>Merging Pipeline Step-by-Step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71D6E789-A9CA-435C-99DB-6EAF638305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en-GB" noProof="0" smtClean="0"/>
              <a:pPr rtl="0"/>
              <a:t>6</a:t>
            </a:fld>
            <a:endParaRPr lang="en-GB" noProof="0"/>
          </a:p>
        </p:txBody>
      </p:sp>
      <p:sp>
        <p:nvSpPr>
          <p:cNvPr id="103" name="Shape 104"/>
          <p:cNvSpPr/>
          <p:nvPr/>
        </p:nvSpPr>
        <p:spPr>
          <a:xfrm>
            <a:off x="7880604" y="1271016"/>
            <a:ext cx="3334512" cy="4413504"/>
          </a:xfrm>
          <a:prstGeom prst="roundRect">
            <a:avLst>
              <a:gd name="adj" fmla="val 4000"/>
            </a:avLst>
          </a:prstGeom>
          <a:solidFill>
            <a:srgbClr val="EDF2FB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07" name="Badge 108"/>
          <p:cNvSpPr/>
          <p:nvPr/>
        </p:nvSpPr>
        <p:spPr>
          <a:xfrm>
            <a:off x="656844" y="1377696"/>
            <a:ext cx="384048" cy="384048"/>
          </a:xfrm>
          <a:prstGeom prst="ellipse">
            <a:avLst/>
          </a:prstGeom>
          <a:solidFill>
            <a:srgbClr val="4A66A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09" name="TextBox 110"/>
          <p:cNvSpPr txBox="1"/>
          <p:nvPr/>
        </p:nvSpPr>
        <p:spPr>
          <a:xfrm>
            <a:off x="1205484" y="1350264"/>
            <a:ext cx="6199632" cy="786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600" b="1" noProof="0" dirty="0">
                <a:solidFill>
                  <a:srgbClr val="242852"/>
                </a:solidFill>
              </a:rPr>
              <a:t>Exact match with TVV-variable (21068 matches)</a:t>
            </a:r>
          </a:p>
          <a:p>
            <a:pPr marL="0" indent="0" algn="l" rtl="0">
              <a:lnSpc>
                <a:spcPct val="95000"/>
              </a:lnSpc>
              <a:buNone/>
            </a:pPr>
            <a:r>
              <a:rPr lang="en-GB" sz="1600" noProof="0" dirty="0" smtClean="0">
                <a:solidFill>
                  <a:srgbClr val="5B6270"/>
                </a:solidFill>
              </a:rPr>
              <a:t>After cleaning and </a:t>
            </a:r>
            <a:r>
              <a:rPr lang="en-GB" sz="1600" noProof="0" dirty="0" err="1" smtClean="0">
                <a:solidFill>
                  <a:srgbClr val="5B6270"/>
                </a:solidFill>
              </a:rPr>
              <a:t>concatinating</a:t>
            </a:r>
            <a:r>
              <a:rPr lang="en-GB" sz="1600" noProof="0" dirty="0" smtClean="0">
                <a:solidFill>
                  <a:srgbClr val="5B6270"/>
                </a:solidFill>
              </a:rPr>
              <a:t>: </a:t>
            </a:r>
            <a:r>
              <a:rPr lang="en-GB" sz="1600" b="1" noProof="0" dirty="0" smtClean="0">
                <a:solidFill>
                  <a:srgbClr val="5B6270"/>
                </a:solidFill>
              </a:rPr>
              <a:t>Outer </a:t>
            </a:r>
            <a:r>
              <a:rPr lang="en-GB" sz="1600" b="1" noProof="0" dirty="0">
                <a:solidFill>
                  <a:srgbClr val="5B6270"/>
                </a:solidFill>
              </a:rPr>
              <a:t>join</a:t>
            </a:r>
            <a:r>
              <a:rPr lang="en-GB" sz="1600" noProof="0" dirty="0">
                <a:solidFill>
                  <a:srgbClr val="5B6270"/>
                </a:solidFill>
              </a:rPr>
              <a:t> on </a:t>
            </a:r>
            <a:r>
              <a:rPr lang="en-GB" sz="1600" noProof="0" dirty="0" smtClean="0">
                <a:solidFill>
                  <a:srgbClr val="5B6270"/>
                </a:solidFill>
              </a:rPr>
              <a:t>non-empty Type–Variant–Version key</a:t>
            </a:r>
            <a:endParaRPr lang="en-GB" sz="1600" noProof="0" dirty="0">
              <a:solidFill>
                <a:srgbClr val="5B6270"/>
              </a:solidFill>
            </a:endParaRPr>
          </a:p>
        </p:txBody>
      </p:sp>
      <p:sp>
        <p:nvSpPr>
          <p:cNvPr id="111" name="Badge 112"/>
          <p:cNvSpPr/>
          <p:nvPr/>
        </p:nvSpPr>
        <p:spPr>
          <a:xfrm>
            <a:off x="656844" y="2264664"/>
            <a:ext cx="384048" cy="384048"/>
          </a:xfrm>
          <a:prstGeom prst="ellipse">
            <a:avLst/>
          </a:prstGeom>
          <a:solidFill>
            <a:srgbClr val="4A66A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13" name="TextBox 114"/>
          <p:cNvSpPr txBox="1"/>
          <p:nvPr/>
        </p:nvSpPr>
        <p:spPr>
          <a:xfrm>
            <a:off x="1205484" y="2237232"/>
            <a:ext cx="6199632" cy="786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GB" sz="1600" b="1" noProof="0" dirty="0">
                <a:solidFill>
                  <a:srgbClr val="242852"/>
                </a:solidFill>
              </a:rPr>
              <a:t>Containment (1482 matches)</a:t>
            </a:r>
          </a:p>
          <a:p>
            <a:pPr marL="0" indent="0" algn="l" rtl="0">
              <a:lnSpc>
                <a:spcPct val="95000"/>
              </a:lnSpc>
              <a:buNone/>
            </a:pPr>
            <a:r>
              <a:rPr lang="en-GB" sz="1600" noProof="0" dirty="0">
                <a:solidFill>
                  <a:srgbClr val="5B6270"/>
                </a:solidFill>
              </a:rPr>
              <a:t>Within brand and </a:t>
            </a:r>
            <a:r>
              <a:rPr lang="en-GB" sz="1600" noProof="0" dirty="0" err="1">
                <a:solidFill>
                  <a:srgbClr val="5B6270"/>
                </a:solidFill>
              </a:rPr>
              <a:t>kw_comp</a:t>
            </a:r>
            <a:r>
              <a:rPr lang="en-GB" sz="1600" noProof="0" dirty="0">
                <a:solidFill>
                  <a:srgbClr val="5B6270"/>
                </a:solidFill>
              </a:rPr>
              <a:t> </a:t>
            </a:r>
            <a:r>
              <a:rPr lang="en-GB" sz="1600" noProof="0" dirty="0" smtClean="0">
                <a:solidFill>
                  <a:srgbClr val="5B6270"/>
                </a:solidFill>
              </a:rPr>
              <a:t>(vehicle’s </a:t>
            </a:r>
            <a:r>
              <a:rPr lang="en-GB" sz="1600" noProof="0" dirty="0">
                <a:solidFill>
                  <a:srgbClr val="5B6270"/>
                </a:solidFill>
              </a:rPr>
              <a:t>power) agreement: one TVV </a:t>
            </a:r>
            <a:r>
              <a:rPr lang="en-GB" sz="1600" noProof="0" dirty="0" smtClean="0">
                <a:solidFill>
                  <a:srgbClr val="5B6270"/>
                </a:solidFill>
              </a:rPr>
              <a:t>string (largely) </a:t>
            </a:r>
            <a:r>
              <a:rPr lang="en-GB" sz="1600" noProof="0" dirty="0">
                <a:solidFill>
                  <a:srgbClr val="5B6270"/>
                </a:solidFill>
              </a:rPr>
              <a:t>contained in the other, with or without </a:t>
            </a:r>
            <a:r>
              <a:rPr lang="en-GB" sz="1600" noProof="0" dirty="0" smtClean="0">
                <a:solidFill>
                  <a:srgbClr val="5B6270"/>
                </a:solidFill>
              </a:rPr>
              <a:t>(trailing) </a:t>
            </a:r>
            <a:r>
              <a:rPr lang="en-GB" sz="1600" noProof="0" dirty="0">
                <a:solidFill>
                  <a:srgbClr val="5B6270"/>
                </a:solidFill>
              </a:rPr>
              <a:t>zeros.</a:t>
            </a:r>
          </a:p>
        </p:txBody>
      </p:sp>
      <p:sp>
        <p:nvSpPr>
          <p:cNvPr id="115" name="Badge 116"/>
          <p:cNvSpPr/>
          <p:nvPr/>
        </p:nvSpPr>
        <p:spPr>
          <a:xfrm>
            <a:off x="656844" y="3151632"/>
            <a:ext cx="384048" cy="384048"/>
          </a:xfrm>
          <a:prstGeom prst="ellipse">
            <a:avLst/>
          </a:prstGeom>
          <a:solidFill>
            <a:srgbClr val="4A66A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19" name="Badge 120"/>
          <p:cNvSpPr/>
          <p:nvPr/>
        </p:nvSpPr>
        <p:spPr>
          <a:xfrm>
            <a:off x="656844" y="4038600"/>
            <a:ext cx="384048" cy="384048"/>
          </a:xfrm>
          <a:prstGeom prst="ellipse">
            <a:avLst/>
          </a:prstGeom>
          <a:solidFill>
            <a:srgbClr val="4A66A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121" name="TextBox 122"/>
          <p:cNvSpPr txBox="1"/>
          <p:nvPr/>
        </p:nvSpPr>
        <p:spPr>
          <a:xfrm>
            <a:off x="1205484" y="4011168"/>
            <a:ext cx="6199632" cy="786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300"/>
              </a:spcAft>
            </a:pPr>
            <a:r>
              <a:rPr lang="en-GB" sz="1600" b="1" noProof="0">
                <a:solidFill>
                  <a:srgbClr val="242852"/>
                </a:solidFill>
              </a:rPr>
              <a:t>Fuzzy (134 matches)</a:t>
            </a:r>
          </a:p>
          <a:p>
            <a:pPr marL="0" indent="0" algn="l" rtl="0">
              <a:lnSpc>
                <a:spcPct val="95000"/>
              </a:lnSpc>
              <a:buNone/>
            </a:pPr>
            <a:r>
              <a:rPr lang="en-GB" sz="1600" noProof="0">
                <a:solidFill>
                  <a:srgbClr val="5B6270"/>
                </a:solidFill>
              </a:rPr>
              <a:t>Vectorised Levenshtein: type exact inside tvv_clean, variant ≥ 80 % similar; same technical constraints as S3.</a:t>
            </a:r>
          </a:p>
        </p:txBody>
      </p:sp>
      <p:sp>
        <p:nvSpPr>
          <p:cNvPr id="123" name="Badge 124"/>
          <p:cNvSpPr/>
          <p:nvPr/>
        </p:nvSpPr>
        <p:spPr>
          <a:xfrm>
            <a:off x="656844" y="4925568"/>
            <a:ext cx="384048" cy="384048"/>
          </a:xfrm>
          <a:prstGeom prst="ellipse">
            <a:avLst/>
          </a:prstGeom>
          <a:solidFill>
            <a:srgbClr val="629DD1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40" name="Espace réservé de la date 5">
            <a:extLst>
              <a:ext uri="{FF2B5EF4-FFF2-40B4-BE49-F238E27FC236}">
                <a16:creationId xmlns:a16="http://schemas.microsoft.com/office/drawing/2014/main" xmlns="" id="{E60A82C0-C2B9-4E76-820D-FB2BAE0D28D3}"/>
              </a:ext>
            </a:extLst>
          </p:cNvPr>
          <p:cNvSpPr txBox="1">
            <a:spLocks/>
          </p:cNvSpPr>
          <p:nvPr/>
        </p:nvSpPr>
        <p:spPr>
          <a:xfrm>
            <a:off x="347472" y="6292334"/>
            <a:ext cx="11006328" cy="18288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30" name="TextBox 134"/>
          <p:cNvSpPr txBox="1"/>
          <p:nvPr/>
        </p:nvSpPr>
        <p:spPr>
          <a:xfrm>
            <a:off x="8136129" y="1490472"/>
            <a:ext cx="2945431" cy="40690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sz="2000" b="1" noProof="0" dirty="0" smtClean="0">
                <a:solidFill>
                  <a:srgbClr val="242852"/>
                </a:solidFill>
              </a:rPr>
              <a:t>For each </a:t>
            </a:r>
            <a:r>
              <a:rPr lang="en-GB" sz="2000" b="1" noProof="0" dirty="0">
                <a:solidFill>
                  <a:srgbClr val="242852"/>
                </a:solidFill>
              </a:rPr>
              <a:t>step: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The registration count </a:t>
            </a:r>
            <a:r>
              <a:rPr lang="en-GB" sz="1600" i="1" noProof="0" dirty="0">
                <a:solidFill>
                  <a:srgbClr val="242852"/>
                </a:solidFill>
              </a:rPr>
              <a:t>r</a:t>
            </a:r>
            <a:r>
              <a:rPr lang="en-GB" sz="1600" noProof="0" dirty="0">
                <a:solidFill>
                  <a:srgbClr val="242852"/>
                </a:solidFill>
              </a:rPr>
              <a:t> is redistributed into </a:t>
            </a:r>
            <a:r>
              <a:rPr lang="en-GB" sz="1600" b="1" i="1" noProof="0" dirty="0" err="1" smtClean="0">
                <a:solidFill>
                  <a:srgbClr val="242852"/>
                </a:solidFill>
              </a:rPr>
              <a:t>r_merged</a:t>
            </a:r>
            <a:r>
              <a:rPr lang="en-GB" sz="1600" dirty="0" smtClean="0">
                <a:solidFill>
                  <a:srgbClr val="242852"/>
                </a:solidFill>
              </a:rPr>
              <a:t>: </a:t>
            </a:r>
            <a:r>
              <a:rPr lang="en-GB" sz="1600" noProof="0" dirty="0" smtClean="0">
                <a:solidFill>
                  <a:srgbClr val="242852"/>
                </a:solidFill>
              </a:rPr>
              <a:t>weighting </a:t>
            </a:r>
            <a:r>
              <a:rPr lang="en-GB" sz="1600" noProof="0" dirty="0">
                <a:solidFill>
                  <a:srgbClr val="242852"/>
                </a:solidFill>
              </a:rPr>
              <a:t>variable to get market </a:t>
            </a:r>
            <a:r>
              <a:rPr lang="en-GB" sz="1600" noProof="0" dirty="0" smtClean="0">
                <a:solidFill>
                  <a:srgbClr val="242852"/>
                </a:solidFill>
              </a:rPr>
              <a:t>shares.</a:t>
            </a:r>
            <a:endParaRPr lang="en-GB" sz="1600" noProof="0" dirty="0">
              <a:solidFill>
                <a:srgbClr val="242852"/>
              </a:solidFill>
            </a:endParaRP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Some </a:t>
            </a:r>
            <a:r>
              <a:rPr lang="en-GB" sz="1600" b="1" noProof="0" dirty="0">
                <a:solidFill>
                  <a:srgbClr val="242852"/>
                </a:solidFill>
              </a:rPr>
              <a:t>composite variables</a:t>
            </a:r>
            <a:r>
              <a:rPr lang="en-GB" sz="1600" noProof="0" dirty="0">
                <a:solidFill>
                  <a:srgbClr val="242852"/>
                </a:solidFill>
              </a:rPr>
              <a:t> re-evaluated if new matches add evidence.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 smtClean="0">
                <a:solidFill>
                  <a:srgbClr val="242852"/>
                </a:solidFill>
              </a:rPr>
              <a:t>Pair ledger registry-update.</a:t>
            </a:r>
            <a:endParaRPr lang="en-GB" sz="1600" noProof="0" dirty="0">
              <a:solidFill>
                <a:srgbClr val="242852"/>
              </a:solidFill>
            </a:endParaRPr>
          </a:p>
          <a:p>
            <a:pPr lvl="0">
              <a:spcAft>
                <a:spcPts val="700"/>
              </a:spcAft>
            </a:pPr>
            <a:endParaRPr lang="en-GB" sz="2000" b="1" noProof="0" dirty="0" smtClean="0">
              <a:solidFill>
                <a:srgbClr val="242852"/>
              </a:solidFill>
            </a:endParaRPr>
          </a:p>
          <a:p>
            <a:pPr lvl="0">
              <a:spcAft>
                <a:spcPts val="700"/>
              </a:spcAft>
            </a:pPr>
            <a:r>
              <a:rPr lang="en-GB" sz="2000" b="1" noProof="0" dirty="0" smtClean="0">
                <a:solidFill>
                  <a:srgbClr val="242852"/>
                </a:solidFill>
              </a:rPr>
              <a:t>Additional </a:t>
            </a:r>
            <a:r>
              <a:rPr lang="en-GB" sz="2000" b="1" noProof="0" dirty="0">
                <a:solidFill>
                  <a:srgbClr val="242852"/>
                </a:solidFill>
              </a:rPr>
              <a:t>steps:</a:t>
            </a:r>
            <a:endParaRPr lang="en-GB" sz="1600" noProof="0" dirty="0">
              <a:solidFill>
                <a:srgbClr val="242852"/>
              </a:solidFill>
            </a:endParaRP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Cleaning of </a:t>
            </a:r>
            <a:r>
              <a:rPr lang="en-GB" sz="1600" noProof="0" dirty="0" smtClean="0">
                <a:solidFill>
                  <a:srgbClr val="242852"/>
                </a:solidFill>
              </a:rPr>
              <a:t>faulty variables </a:t>
            </a:r>
            <a:r>
              <a:rPr lang="en-GB" sz="1600" noProof="0" dirty="0">
                <a:solidFill>
                  <a:srgbClr val="242852"/>
                </a:solidFill>
              </a:rPr>
              <a:t>and </a:t>
            </a:r>
            <a:r>
              <a:rPr lang="en-GB" sz="1600" noProof="0" dirty="0" err="1">
                <a:solidFill>
                  <a:srgbClr val="242852"/>
                </a:solidFill>
              </a:rPr>
              <a:t>doublettes</a:t>
            </a:r>
            <a:r>
              <a:rPr lang="en-GB" sz="1600" noProof="0" dirty="0">
                <a:solidFill>
                  <a:srgbClr val="242852"/>
                </a:solidFill>
              </a:rPr>
              <a:t>, </a:t>
            </a:r>
            <a:endParaRPr lang="en-GB" sz="1600" noProof="0" dirty="0" smtClean="0">
              <a:solidFill>
                <a:srgbClr val="242852"/>
              </a:solidFill>
            </a:endParaRP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 smtClean="0">
                <a:solidFill>
                  <a:srgbClr val="242852"/>
                </a:solidFill>
              </a:rPr>
              <a:t>Updating and standardizing variables.</a:t>
            </a:r>
            <a:endParaRPr lang="en-GB" sz="1600" noProof="0" dirty="0">
              <a:solidFill>
                <a:srgbClr val="242852"/>
              </a:solidFill>
            </a:endParaRPr>
          </a:p>
        </p:txBody>
      </p:sp>
      <p:sp>
        <p:nvSpPr>
          <p:cNvPr id="32" name="TextBox 152"/>
          <p:cNvSpPr txBox="1"/>
          <p:nvPr/>
        </p:nvSpPr>
        <p:spPr>
          <a:xfrm>
            <a:off x="353567" y="876808"/>
            <a:ext cx="11838433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GB" sz="1600" i="1" noProof="0" dirty="0">
                <a:solidFill>
                  <a:srgbClr val="5B6270"/>
                </a:solidFill>
              </a:rPr>
              <a:t>Sequential strategy moving from </a:t>
            </a:r>
            <a:r>
              <a:rPr lang="en-GB" sz="1600" i="1" noProof="0" dirty="0" smtClean="0">
                <a:solidFill>
                  <a:srgbClr val="5B6270"/>
                </a:solidFill>
              </a:rPr>
              <a:t>strictest </a:t>
            </a:r>
            <a:r>
              <a:rPr lang="en-GB" sz="1600" i="1" noProof="0" dirty="0">
                <a:solidFill>
                  <a:srgbClr val="5B6270"/>
                </a:solidFill>
              </a:rPr>
              <a:t>to </a:t>
            </a:r>
            <a:r>
              <a:rPr lang="en-GB" sz="1600" i="1" noProof="0" dirty="0" smtClean="0">
                <a:solidFill>
                  <a:srgbClr val="5B6270"/>
                </a:solidFill>
              </a:rPr>
              <a:t>most </a:t>
            </a:r>
            <a:r>
              <a:rPr lang="en-GB" sz="1600" i="1" noProof="0" dirty="0">
                <a:solidFill>
                  <a:srgbClr val="5B6270"/>
                </a:solidFill>
              </a:rPr>
              <a:t>permissive matching </a:t>
            </a:r>
            <a:r>
              <a:rPr lang="en-GB" sz="1600" i="1" noProof="0" dirty="0" smtClean="0">
                <a:solidFill>
                  <a:srgbClr val="5B6270"/>
                </a:solidFill>
              </a:rPr>
              <a:t>logic - </a:t>
            </a:r>
            <a:r>
              <a:rPr lang="en-US" sz="1600" i="1" dirty="0">
                <a:solidFill>
                  <a:srgbClr val="5B6270"/>
                </a:solidFill>
              </a:rPr>
              <a:t>each step </a:t>
            </a:r>
            <a:r>
              <a:rPr lang="en-US" sz="1600" i="1" dirty="0" err="1">
                <a:solidFill>
                  <a:srgbClr val="5B6270"/>
                </a:solidFill>
              </a:rPr>
              <a:t>replacable</a:t>
            </a:r>
            <a:r>
              <a:rPr lang="en-US" sz="1600" i="1" dirty="0">
                <a:solidFill>
                  <a:srgbClr val="5B6270"/>
                </a:solidFill>
              </a:rPr>
              <a:t> if better solution found</a:t>
            </a:r>
            <a:r>
              <a:rPr lang="en-GB" sz="1600" i="1" noProof="0" dirty="0" smtClean="0">
                <a:solidFill>
                  <a:srgbClr val="5B6270"/>
                </a:solidFill>
              </a:rPr>
              <a:t> </a:t>
            </a:r>
            <a:endParaRPr lang="en-GB" sz="1600" i="1" noProof="0" dirty="0">
              <a:solidFill>
                <a:srgbClr val="5B6270"/>
              </a:solidFill>
            </a:endParaRPr>
          </a:p>
        </p:txBody>
      </p:sp>
      <p:sp>
        <p:nvSpPr>
          <p:cNvPr id="18" name="TextBox 118"/>
          <p:cNvSpPr txBox="1"/>
          <p:nvPr/>
        </p:nvSpPr>
        <p:spPr>
          <a:xfrm>
            <a:off x="1205484" y="3124200"/>
            <a:ext cx="6199632" cy="786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>
              <a:spcAft>
                <a:spcPts val="300"/>
              </a:spcAft>
            </a:pPr>
            <a:r>
              <a:rPr lang="en-GB" sz="1600" b="1" noProof="0" dirty="0" smtClean="0">
                <a:solidFill>
                  <a:srgbClr val="242852"/>
                </a:solidFill>
              </a:rPr>
              <a:t>Join matched </a:t>
            </a:r>
            <a:r>
              <a:rPr lang="en-GB" sz="1600" b="1" noProof="0" dirty="0">
                <a:solidFill>
                  <a:srgbClr val="242852"/>
                </a:solidFill>
              </a:rPr>
              <a:t>records (5527 matches)</a:t>
            </a:r>
          </a:p>
          <a:p>
            <a:pPr marL="0" indent="0" algn="l" rtl="0">
              <a:lnSpc>
                <a:spcPct val="95000"/>
              </a:lnSpc>
              <a:buNone/>
            </a:pPr>
            <a:r>
              <a:rPr lang="en-GB" sz="1600" noProof="0" dirty="0">
                <a:solidFill>
                  <a:srgbClr val="5B6270"/>
                </a:solidFill>
              </a:rPr>
              <a:t>Residual </a:t>
            </a:r>
            <a:r>
              <a:rPr lang="en-GB" sz="1600" noProof="0" dirty="0" err="1">
                <a:solidFill>
                  <a:srgbClr val="5B6270"/>
                </a:solidFill>
              </a:rPr>
              <a:t>right_only</a:t>
            </a:r>
            <a:r>
              <a:rPr lang="en-GB" sz="1600" noProof="0" dirty="0">
                <a:solidFill>
                  <a:srgbClr val="5B6270"/>
                </a:solidFill>
              </a:rPr>
              <a:t> records compared via </a:t>
            </a:r>
            <a:r>
              <a:rPr lang="en-GB" sz="1600" noProof="0" dirty="0" err="1">
                <a:solidFill>
                  <a:srgbClr val="5B6270"/>
                </a:solidFill>
              </a:rPr>
              <a:t>tv_comp</a:t>
            </a:r>
            <a:r>
              <a:rPr lang="en-GB" sz="1600" noProof="0" dirty="0">
                <a:solidFill>
                  <a:srgbClr val="5B6270"/>
                </a:solidFill>
              </a:rPr>
              <a:t> to already matched ones – power, CO₂, kerb weight and fuel-type must agree.</a:t>
            </a:r>
          </a:p>
        </p:txBody>
      </p:sp>
      <p:sp>
        <p:nvSpPr>
          <p:cNvPr id="19" name="TextBox 126"/>
          <p:cNvSpPr txBox="1"/>
          <p:nvPr/>
        </p:nvSpPr>
        <p:spPr>
          <a:xfrm>
            <a:off x="1205484" y="4898136"/>
            <a:ext cx="6427216" cy="7863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>
              <a:spcAft>
                <a:spcPts val="300"/>
              </a:spcAft>
            </a:pPr>
            <a:r>
              <a:rPr lang="en-GB" sz="1700" b="1" noProof="0">
                <a:solidFill>
                  <a:srgbClr val="242852"/>
                </a:solidFill>
              </a:rPr>
              <a:t>Selective (995 matches)</a:t>
            </a:r>
          </a:p>
          <a:p>
            <a:pPr>
              <a:lnSpc>
                <a:spcPct val="95000"/>
              </a:lnSpc>
            </a:pPr>
            <a:r>
              <a:rPr lang="en-GB" sz="1700" noProof="0">
                <a:solidFill>
                  <a:srgbClr val="5B6270"/>
                </a:solidFill>
              </a:rPr>
              <a:t>If weight coverage &lt;70% for essential brands: Model name plus full technical agreement (if no NaN; no brand lifted above total coverage).</a:t>
            </a:r>
          </a:p>
        </p:txBody>
      </p:sp>
    </p:spTree>
    <p:extLst>
      <p:ext uri="{BB962C8B-B14F-4D97-AF65-F5344CB8AC3E}">
        <p14:creationId xmlns:p14="http://schemas.microsoft.com/office/powerpoint/2010/main" val="328589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7" grpId="0" animBg="1"/>
      <p:bldP spid="109" grpId="0"/>
      <p:bldP spid="111" grpId="0" animBg="1"/>
      <p:bldP spid="113" grpId="0"/>
      <p:bldP spid="115" grpId="0" animBg="1"/>
      <p:bldP spid="119" grpId="0" animBg="1"/>
      <p:bldP spid="121" grpId="0"/>
      <p:bldP spid="123" grpId="0" animBg="1"/>
      <p:bldP spid="30" grpId="0"/>
      <p:bldP spid="18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9296400" y="4417830"/>
            <a:ext cx="1828800" cy="420271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7"/>
          </p:nvPr>
        </p:nvSpPr>
        <p:spPr>
          <a:xfrm>
            <a:off x="9296400" y="4838101"/>
            <a:ext cx="1828800" cy="552451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4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rtlCol="0" anchor="t"/>
          <a:lstStyle/>
          <a:p>
            <a:pPr rtl="0"/>
            <a:r>
              <a:rPr lang="en-GB" sz="2800" noProof="0"/>
              <a:t>Result of Merge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xmlns="" id="{71D6E789-A9CA-435C-99DB-6EAF638305E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 rtlCol="0"/>
          <a:lstStyle/>
          <a:p>
            <a:pPr rtl="0"/>
            <a:fld id="{7782931A-7D25-4B4B-9464-57AE418934A3}" type="slidenum">
              <a:rPr lang="en-GB" noProof="0" smtClean="0"/>
              <a:pPr rtl="0"/>
              <a:t>7</a:t>
            </a:fld>
            <a:endParaRPr lang="en-GB" noProof="0"/>
          </a:p>
        </p:txBody>
      </p:sp>
      <p:sp>
        <p:nvSpPr>
          <p:cNvPr id="151" name="TextBox 152"/>
          <p:cNvSpPr txBox="1"/>
          <p:nvPr/>
        </p:nvSpPr>
        <p:spPr>
          <a:xfrm>
            <a:off x="353568" y="824484"/>
            <a:ext cx="11241024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1600" i="1" noProof="0">
                <a:solidFill>
                  <a:srgbClr val="5B6270"/>
                </a:solidFill>
              </a:rPr>
              <a:t>Merged data set covers 1,54 Mio of 1,83 Mio car registration volume in FR 2013 – evenly across the brands that matter.</a:t>
            </a:r>
          </a:p>
        </p:txBody>
      </p:sp>
      <p:sp>
        <p:nvSpPr>
          <p:cNvPr id="153" name="Shape 154"/>
          <p:cNvSpPr/>
          <p:nvPr/>
        </p:nvSpPr>
        <p:spPr>
          <a:xfrm>
            <a:off x="376428" y="1170432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55" name="TextBox 156"/>
          <p:cNvSpPr txBox="1"/>
          <p:nvPr/>
        </p:nvSpPr>
        <p:spPr>
          <a:xfrm>
            <a:off x="559308" y="1298448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2400" b="1" noProof="0">
                <a:solidFill>
                  <a:srgbClr val="FFFFFF"/>
                </a:solidFill>
              </a:rPr>
              <a:t>84.3 %</a:t>
            </a:r>
          </a:p>
          <a:p>
            <a:pPr marL="0" indent="0" algn="l" rtl="0">
              <a:lnSpc>
                <a:spcPct val="90000"/>
              </a:lnSpc>
              <a:buNone/>
            </a:pPr>
            <a:r>
              <a:rPr lang="en-GB" sz="1000" noProof="0">
                <a:solidFill>
                  <a:srgbClr val="FFFFFF"/>
                </a:solidFill>
              </a:rPr>
              <a:t>of registrations linked (weighted)</a:t>
            </a:r>
          </a:p>
        </p:txBody>
      </p:sp>
      <p:sp>
        <p:nvSpPr>
          <p:cNvPr id="157" name="Shape 158"/>
          <p:cNvSpPr/>
          <p:nvPr/>
        </p:nvSpPr>
        <p:spPr>
          <a:xfrm>
            <a:off x="3153156" y="1170432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59" name="TextBox 160"/>
          <p:cNvSpPr txBox="1"/>
          <p:nvPr/>
        </p:nvSpPr>
        <p:spPr>
          <a:xfrm>
            <a:off x="3336036" y="1298448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2400" b="1" noProof="0">
                <a:solidFill>
                  <a:srgbClr val="4A66AC"/>
                </a:solidFill>
              </a:rPr>
              <a:t>1,540,238</a:t>
            </a:r>
          </a:p>
          <a:p>
            <a:pPr marL="0" indent="0" algn="l" rtl="0">
              <a:lnSpc>
                <a:spcPct val="90000"/>
              </a:lnSpc>
              <a:buNone/>
            </a:pPr>
            <a:r>
              <a:rPr lang="en-GB" sz="1000" noProof="0">
                <a:solidFill>
                  <a:srgbClr val="5B6270"/>
                </a:solidFill>
              </a:rPr>
              <a:t>of 1,827,319 registrations covered</a:t>
            </a:r>
          </a:p>
        </p:txBody>
      </p:sp>
      <p:sp>
        <p:nvSpPr>
          <p:cNvPr id="161" name="Shape 162"/>
          <p:cNvSpPr/>
          <p:nvPr/>
        </p:nvSpPr>
        <p:spPr>
          <a:xfrm>
            <a:off x="5966460" y="1170432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63" name="TextBox 164"/>
          <p:cNvSpPr txBox="1"/>
          <p:nvPr/>
        </p:nvSpPr>
        <p:spPr>
          <a:xfrm>
            <a:off x="6149340" y="1298448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2400" b="1" noProof="0">
                <a:solidFill>
                  <a:srgbClr val="4A66AC"/>
                </a:solidFill>
              </a:rPr>
              <a:t>29,206</a:t>
            </a:r>
          </a:p>
          <a:p>
            <a:pPr marL="0" indent="0" algn="l" rtl="0">
              <a:lnSpc>
                <a:spcPct val="90000"/>
              </a:lnSpc>
              <a:buNone/>
            </a:pPr>
            <a:r>
              <a:rPr lang="en-GB" sz="1000" noProof="0">
                <a:solidFill>
                  <a:srgbClr val="5B6270"/>
                </a:solidFill>
              </a:rPr>
              <a:t>matched catalogue records</a:t>
            </a:r>
          </a:p>
        </p:txBody>
      </p:sp>
      <p:sp>
        <p:nvSpPr>
          <p:cNvPr id="165" name="Shape 166"/>
          <p:cNvSpPr/>
          <p:nvPr/>
        </p:nvSpPr>
        <p:spPr>
          <a:xfrm>
            <a:off x="8747760" y="1185795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DF2FB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67" name="TextBox 168"/>
          <p:cNvSpPr txBox="1"/>
          <p:nvPr/>
        </p:nvSpPr>
        <p:spPr>
          <a:xfrm>
            <a:off x="8930640" y="1313811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2400" b="1" noProof="0">
                <a:solidFill>
                  <a:srgbClr val="4A66AC"/>
                </a:solidFill>
              </a:rPr>
              <a:t>68.6 %</a:t>
            </a:r>
          </a:p>
          <a:p>
            <a:pPr marL="0" indent="0" algn="l" rtl="0">
              <a:lnSpc>
                <a:spcPct val="90000"/>
              </a:lnSpc>
              <a:buNone/>
            </a:pPr>
            <a:r>
              <a:rPr lang="en-GB" sz="1000" noProof="0">
                <a:solidFill>
                  <a:srgbClr val="5B6270"/>
                </a:solidFill>
              </a:rPr>
              <a:t>Minimum brand coverage in dataset</a:t>
            </a:r>
          </a:p>
        </p:txBody>
      </p:sp>
      <p:sp>
        <p:nvSpPr>
          <p:cNvPr id="171" name="Shape 172"/>
          <p:cNvSpPr/>
          <p:nvPr/>
        </p:nvSpPr>
        <p:spPr>
          <a:xfrm>
            <a:off x="6515100" y="2407920"/>
            <a:ext cx="4645152" cy="3611880"/>
          </a:xfrm>
          <a:prstGeom prst="roundRect">
            <a:avLst>
              <a:gd name="adj" fmla="val 3000"/>
            </a:avLst>
          </a:prstGeom>
          <a:solidFill>
            <a:srgbClr val="EDF2FB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73" name="TextBox 174"/>
          <p:cNvSpPr txBox="1"/>
          <p:nvPr/>
        </p:nvSpPr>
        <p:spPr>
          <a:xfrm>
            <a:off x="6734556" y="257251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1100" b="1" noProof="0">
                <a:solidFill>
                  <a:srgbClr val="242852"/>
                </a:solidFill>
              </a:rPr>
              <a:t>Weighted coverage by brand (top 8 by volume)</a:t>
            </a:r>
          </a:p>
        </p:txBody>
      </p:sp>
      <p:sp>
        <p:nvSpPr>
          <p:cNvPr id="175" name="TextBox 176"/>
          <p:cNvSpPr txBox="1"/>
          <p:nvPr/>
        </p:nvSpPr>
        <p:spPr>
          <a:xfrm>
            <a:off x="6734556" y="291998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Citroën</a:t>
            </a:r>
          </a:p>
        </p:txBody>
      </p:sp>
      <p:sp>
        <p:nvSpPr>
          <p:cNvPr id="177" name="Shape 178"/>
          <p:cNvSpPr/>
          <p:nvPr/>
        </p:nvSpPr>
        <p:spPr>
          <a:xfrm>
            <a:off x="7676388" y="2938272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79" name="Shape 180"/>
          <p:cNvSpPr/>
          <p:nvPr/>
        </p:nvSpPr>
        <p:spPr>
          <a:xfrm>
            <a:off x="7676388" y="2938272"/>
            <a:ext cx="2590906" cy="18288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81" name="TextBox 182"/>
          <p:cNvSpPr txBox="1"/>
          <p:nvPr/>
        </p:nvSpPr>
        <p:spPr>
          <a:xfrm>
            <a:off x="10547604" y="291998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92.9</a:t>
            </a:r>
          </a:p>
        </p:txBody>
      </p:sp>
      <p:sp>
        <p:nvSpPr>
          <p:cNvPr id="183" name="TextBox 184"/>
          <p:cNvSpPr txBox="1"/>
          <p:nvPr/>
        </p:nvSpPr>
        <p:spPr>
          <a:xfrm>
            <a:off x="6734556" y="327202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Nissan</a:t>
            </a:r>
          </a:p>
        </p:txBody>
      </p:sp>
      <p:sp>
        <p:nvSpPr>
          <p:cNvPr id="185" name="Shape 186"/>
          <p:cNvSpPr/>
          <p:nvPr/>
        </p:nvSpPr>
        <p:spPr>
          <a:xfrm>
            <a:off x="7676388" y="3290316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87" name="Shape 188"/>
          <p:cNvSpPr/>
          <p:nvPr/>
        </p:nvSpPr>
        <p:spPr>
          <a:xfrm>
            <a:off x="7676388" y="3290316"/>
            <a:ext cx="2518394" cy="18288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89" name="TextBox 190"/>
          <p:cNvSpPr txBox="1"/>
          <p:nvPr/>
        </p:nvSpPr>
        <p:spPr>
          <a:xfrm>
            <a:off x="10547604" y="3272028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90.3</a:t>
            </a:r>
          </a:p>
        </p:txBody>
      </p:sp>
      <p:sp>
        <p:nvSpPr>
          <p:cNvPr id="191" name="TextBox 192"/>
          <p:cNvSpPr txBox="1"/>
          <p:nvPr/>
        </p:nvSpPr>
        <p:spPr>
          <a:xfrm>
            <a:off x="6734556" y="362407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Ford</a:t>
            </a:r>
          </a:p>
        </p:txBody>
      </p:sp>
      <p:sp>
        <p:nvSpPr>
          <p:cNvPr id="193" name="Shape 194"/>
          <p:cNvSpPr/>
          <p:nvPr/>
        </p:nvSpPr>
        <p:spPr>
          <a:xfrm>
            <a:off x="7676388" y="3642360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95" name="Shape 196"/>
          <p:cNvSpPr/>
          <p:nvPr/>
        </p:nvSpPr>
        <p:spPr>
          <a:xfrm>
            <a:off x="7676388" y="3642360"/>
            <a:ext cx="2470983" cy="18288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97" name="TextBox 198"/>
          <p:cNvSpPr txBox="1"/>
          <p:nvPr/>
        </p:nvSpPr>
        <p:spPr>
          <a:xfrm>
            <a:off x="10547604" y="362407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88.6</a:t>
            </a:r>
          </a:p>
        </p:txBody>
      </p:sp>
      <p:sp>
        <p:nvSpPr>
          <p:cNvPr id="199" name="TextBox 200"/>
          <p:cNvSpPr txBox="1"/>
          <p:nvPr/>
        </p:nvSpPr>
        <p:spPr>
          <a:xfrm>
            <a:off x="6734556" y="3976116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Dacia</a:t>
            </a:r>
          </a:p>
        </p:txBody>
      </p:sp>
      <p:sp>
        <p:nvSpPr>
          <p:cNvPr id="201" name="Shape 202"/>
          <p:cNvSpPr/>
          <p:nvPr/>
        </p:nvSpPr>
        <p:spPr>
          <a:xfrm>
            <a:off x="7676388" y="3994404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03" name="Shape 204"/>
          <p:cNvSpPr/>
          <p:nvPr/>
        </p:nvSpPr>
        <p:spPr>
          <a:xfrm>
            <a:off x="7676388" y="3994404"/>
            <a:ext cx="2437516" cy="18288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05" name="TextBox 206"/>
          <p:cNvSpPr txBox="1"/>
          <p:nvPr/>
        </p:nvSpPr>
        <p:spPr>
          <a:xfrm>
            <a:off x="10547604" y="3976116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87.4</a:t>
            </a:r>
          </a:p>
        </p:txBody>
      </p:sp>
      <p:sp>
        <p:nvSpPr>
          <p:cNvPr id="207" name="TextBox 208"/>
          <p:cNvSpPr txBox="1"/>
          <p:nvPr/>
        </p:nvSpPr>
        <p:spPr>
          <a:xfrm>
            <a:off x="6734556" y="4328160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Peugeot</a:t>
            </a:r>
          </a:p>
        </p:txBody>
      </p:sp>
      <p:sp>
        <p:nvSpPr>
          <p:cNvPr id="209" name="Shape 210"/>
          <p:cNvSpPr/>
          <p:nvPr/>
        </p:nvSpPr>
        <p:spPr>
          <a:xfrm>
            <a:off x="7676388" y="4346448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11" name="Shape 212"/>
          <p:cNvSpPr/>
          <p:nvPr/>
        </p:nvSpPr>
        <p:spPr>
          <a:xfrm>
            <a:off x="7676388" y="4346448"/>
            <a:ext cx="2417993" cy="18288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13" name="TextBox 214"/>
          <p:cNvSpPr txBox="1"/>
          <p:nvPr/>
        </p:nvSpPr>
        <p:spPr>
          <a:xfrm>
            <a:off x="10547604" y="432816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86.7</a:t>
            </a:r>
          </a:p>
        </p:txBody>
      </p:sp>
      <p:sp>
        <p:nvSpPr>
          <p:cNvPr id="215" name="TextBox 216"/>
          <p:cNvSpPr txBox="1"/>
          <p:nvPr/>
        </p:nvSpPr>
        <p:spPr>
          <a:xfrm>
            <a:off x="6734556" y="4680204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Opel</a:t>
            </a:r>
          </a:p>
        </p:txBody>
      </p:sp>
      <p:sp>
        <p:nvSpPr>
          <p:cNvPr id="217" name="Shape 218"/>
          <p:cNvSpPr/>
          <p:nvPr/>
        </p:nvSpPr>
        <p:spPr>
          <a:xfrm>
            <a:off x="7676388" y="4698492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19" name="Shape 220"/>
          <p:cNvSpPr/>
          <p:nvPr/>
        </p:nvSpPr>
        <p:spPr>
          <a:xfrm>
            <a:off x="7676388" y="4698492"/>
            <a:ext cx="2367793" cy="182880"/>
          </a:xfrm>
          <a:prstGeom prst="rect">
            <a:avLst/>
          </a:prstGeom>
          <a:solidFill>
            <a:srgbClr val="4A66AC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21" name="TextBox 222"/>
          <p:cNvSpPr txBox="1"/>
          <p:nvPr/>
        </p:nvSpPr>
        <p:spPr>
          <a:xfrm>
            <a:off x="10547604" y="468020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84.9</a:t>
            </a:r>
          </a:p>
        </p:txBody>
      </p:sp>
      <p:sp>
        <p:nvSpPr>
          <p:cNvPr id="223" name="TextBox 224"/>
          <p:cNvSpPr txBox="1"/>
          <p:nvPr/>
        </p:nvSpPr>
        <p:spPr>
          <a:xfrm>
            <a:off x="6734556" y="5032248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Renault</a:t>
            </a:r>
          </a:p>
        </p:txBody>
      </p:sp>
      <p:sp>
        <p:nvSpPr>
          <p:cNvPr id="225" name="Shape 226"/>
          <p:cNvSpPr/>
          <p:nvPr/>
        </p:nvSpPr>
        <p:spPr>
          <a:xfrm>
            <a:off x="7676388" y="5050536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27" name="Shape 228"/>
          <p:cNvSpPr/>
          <p:nvPr/>
        </p:nvSpPr>
        <p:spPr>
          <a:xfrm>
            <a:off x="7676388" y="5050536"/>
            <a:ext cx="2298070" cy="182880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29" name="TextBox 230"/>
          <p:cNvSpPr txBox="1"/>
          <p:nvPr/>
        </p:nvSpPr>
        <p:spPr>
          <a:xfrm>
            <a:off x="10547604" y="5032248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82.4</a:t>
            </a:r>
          </a:p>
        </p:txBody>
      </p:sp>
      <p:sp>
        <p:nvSpPr>
          <p:cNvPr id="231" name="TextBox 232"/>
          <p:cNvSpPr txBox="1"/>
          <p:nvPr/>
        </p:nvSpPr>
        <p:spPr>
          <a:xfrm>
            <a:off x="6734556" y="5384292"/>
            <a:ext cx="868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 rtl="0">
              <a:lnSpc>
                <a:spcPct val="100000"/>
              </a:lnSpc>
              <a:buNone/>
            </a:pPr>
            <a:r>
              <a:rPr lang="en-GB" sz="950" noProof="0">
                <a:solidFill>
                  <a:srgbClr val="242852"/>
                </a:solidFill>
              </a:rPr>
              <a:t>Volkswagen</a:t>
            </a:r>
          </a:p>
        </p:txBody>
      </p:sp>
      <p:sp>
        <p:nvSpPr>
          <p:cNvPr id="233" name="Shape 234"/>
          <p:cNvSpPr/>
          <p:nvPr/>
        </p:nvSpPr>
        <p:spPr>
          <a:xfrm>
            <a:off x="7676388" y="5402580"/>
            <a:ext cx="2788920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35" name="Shape 236"/>
          <p:cNvSpPr/>
          <p:nvPr/>
        </p:nvSpPr>
        <p:spPr>
          <a:xfrm>
            <a:off x="7676388" y="5402580"/>
            <a:ext cx="2024755" cy="182880"/>
          </a:xfrm>
          <a:prstGeom prst="rect">
            <a:avLst/>
          </a:prstGeom>
          <a:solidFill>
            <a:srgbClr val="629DD1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237" name="TextBox 238"/>
          <p:cNvSpPr txBox="1"/>
          <p:nvPr/>
        </p:nvSpPr>
        <p:spPr>
          <a:xfrm>
            <a:off x="10547604" y="538429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GB" sz="950" b="1" noProof="0">
                <a:solidFill>
                  <a:srgbClr val="242852"/>
                </a:solidFill>
              </a:rPr>
              <a:t>72.6</a:t>
            </a:r>
          </a:p>
        </p:txBody>
      </p:sp>
      <p:sp>
        <p:nvSpPr>
          <p:cNvPr id="239" name="TextBox 240"/>
          <p:cNvSpPr txBox="1"/>
          <p:nvPr/>
        </p:nvSpPr>
        <p:spPr>
          <a:xfrm>
            <a:off x="6734556" y="58094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95000"/>
              </a:lnSpc>
              <a:buNone/>
            </a:pPr>
            <a:r>
              <a:rPr lang="en-GB" sz="900" i="1" noProof="0">
                <a:solidFill>
                  <a:srgbClr val="5B6270"/>
                </a:solidFill>
              </a:rPr>
              <a:t>Bars in the darker tone are at or above the overall 84.3 % coverage.</a:t>
            </a:r>
          </a:p>
        </p:txBody>
      </p:sp>
      <p:sp>
        <p:nvSpPr>
          <p:cNvPr id="62" name="Espace réservé de la date 5">
            <a:extLst>
              <a:ext uri="{FF2B5EF4-FFF2-40B4-BE49-F238E27FC236}">
                <a16:creationId xmlns:a16="http://schemas.microsoft.com/office/drawing/2014/main" xmlns="" id="{E60A82C0-C2B9-4E76-820D-FB2BAE0D28D3}"/>
              </a:ext>
            </a:extLst>
          </p:cNvPr>
          <p:cNvSpPr txBox="1">
            <a:spLocks/>
          </p:cNvSpPr>
          <p:nvPr/>
        </p:nvSpPr>
        <p:spPr>
          <a:xfrm>
            <a:off x="347472" y="6292334"/>
            <a:ext cx="11006328" cy="18288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52" name="TextBox 170"/>
          <p:cNvSpPr txBox="1"/>
          <p:nvPr/>
        </p:nvSpPr>
        <p:spPr>
          <a:xfrm>
            <a:off x="376428" y="3955900"/>
            <a:ext cx="5829110" cy="212790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endParaRPr lang="en-GB" sz="1600" noProof="0" dirty="0">
              <a:solidFill>
                <a:srgbClr val="242852"/>
              </a:solidFill>
            </a:endParaRPr>
          </a:p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sz="2000" b="1" noProof="0" dirty="0">
                <a:solidFill>
                  <a:srgbClr val="242852"/>
                </a:solidFill>
              </a:rPr>
              <a:t>But:</a:t>
            </a: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dirty="0">
                <a:solidFill>
                  <a:srgbClr val="242852"/>
                </a:solidFill>
              </a:rPr>
              <a:t>After cleaning &amp; </a:t>
            </a:r>
            <a:r>
              <a:rPr lang="en-GB" sz="1600" dirty="0" err="1" smtClean="0">
                <a:solidFill>
                  <a:srgbClr val="242852"/>
                </a:solidFill>
              </a:rPr>
              <a:t>deduplication</a:t>
            </a:r>
            <a:r>
              <a:rPr lang="en-GB" sz="1600" dirty="0">
                <a:solidFill>
                  <a:srgbClr val="242852"/>
                </a:solidFill>
              </a:rPr>
              <a:t>: N=3662 records for modelling.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 smtClean="0">
                <a:solidFill>
                  <a:srgbClr val="242852"/>
                </a:solidFill>
              </a:rPr>
              <a:t>1 </a:t>
            </a:r>
            <a:r>
              <a:rPr lang="en-GB" sz="1600" noProof="0" dirty="0">
                <a:solidFill>
                  <a:srgbClr val="242852"/>
                </a:solidFill>
              </a:rPr>
              <a:t>% of records carry 29.7 % of all registrations; the twenty most registered rows are 9.0 % of the market</a:t>
            </a:r>
            <a:r>
              <a:rPr lang="en-GB" sz="1600" noProof="0" dirty="0" smtClean="0">
                <a:solidFill>
                  <a:srgbClr val="242852"/>
                </a:solidFill>
              </a:rPr>
              <a:t>.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 smtClean="0">
                <a:solidFill>
                  <a:srgbClr val="242852"/>
                </a:solidFill>
              </a:rPr>
              <a:t>Effective </a:t>
            </a:r>
            <a:r>
              <a:rPr lang="en-GB" sz="1600" noProof="0" dirty="0">
                <a:solidFill>
                  <a:srgbClr val="242852"/>
                </a:solidFill>
              </a:rPr>
              <a:t>sample size is a fraction of the nominal one: weighted </a:t>
            </a:r>
            <a:r>
              <a:rPr lang="en-GB" sz="1600" noProof="0" dirty="0" err="1">
                <a:solidFill>
                  <a:srgbClr val="242852"/>
                </a:solidFill>
              </a:rPr>
              <a:t>vs</a:t>
            </a:r>
            <a:r>
              <a:rPr lang="en-GB" sz="1600" noProof="0" dirty="0">
                <a:solidFill>
                  <a:srgbClr val="242852"/>
                </a:solidFill>
              </a:rPr>
              <a:t> </a:t>
            </a:r>
            <a:r>
              <a:rPr lang="en-GB" sz="1600" noProof="0" dirty="0" err="1">
                <a:solidFill>
                  <a:srgbClr val="242852"/>
                </a:solidFill>
              </a:rPr>
              <a:t>unweighted</a:t>
            </a:r>
            <a:r>
              <a:rPr lang="en-GB" sz="1600" noProof="0" dirty="0">
                <a:solidFill>
                  <a:srgbClr val="242852"/>
                </a:solidFill>
              </a:rPr>
              <a:t> analyses answer different questions</a:t>
            </a:r>
          </a:p>
        </p:txBody>
      </p:sp>
      <p:sp>
        <p:nvSpPr>
          <p:cNvPr id="53" name="TextBox 170"/>
          <p:cNvSpPr txBox="1"/>
          <p:nvPr/>
        </p:nvSpPr>
        <p:spPr>
          <a:xfrm>
            <a:off x="376428" y="2378005"/>
            <a:ext cx="5727192" cy="19979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sz="2000" b="1" noProof="0" dirty="0">
                <a:solidFill>
                  <a:srgbClr val="242852"/>
                </a:solidFill>
              </a:rPr>
              <a:t>Coverage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Only four brands stay below two thirds of their own volume (Lexus, Maserati, Tesla, Rolls-Royce) – together 0.2 % of the market in terms of registrations in 2013.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 dirty="0">
                <a:solidFill>
                  <a:srgbClr val="242852"/>
                </a:solidFill>
              </a:rPr>
              <a:t>The twenty brands covering 96 % of registrations are all at 69 % or better: brand-level analysis has no systematic gap</a:t>
            </a:r>
            <a:r>
              <a:rPr lang="en-GB" sz="1600" noProof="0" dirty="0" smtClean="0">
                <a:solidFill>
                  <a:srgbClr val="242852"/>
                </a:solidFill>
              </a:rPr>
              <a:t>.</a:t>
            </a:r>
            <a:endParaRPr lang="en-GB" sz="1600" noProof="0" dirty="0">
              <a:solidFill>
                <a:srgbClr val="2428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9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  <p:bldP spid="153" grpId="0" animBg="1"/>
      <p:bldP spid="155" grpId="0"/>
      <p:bldP spid="157" grpId="0" animBg="1"/>
      <p:bldP spid="159" grpId="0"/>
      <p:bldP spid="161" grpId="0" animBg="1"/>
      <p:bldP spid="163" grpId="0"/>
      <p:bldP spid="165" grpId="0" animBg="1"/>
      <p:bldP spid="167" grpId="0"/>
      <p:bldP spid="171" grpId="0" animBg="1"/>
      <p:bldP spid="173" grpId="0"/>
      <p:bldP spid="175" grpId="0"/>
      <p:bldP spid="177" grpId="0" animBg="1"/>
      <p:bldP spid="179" grpId="0" animBg="1"/>
      <p:bldP spid="181" grpId="0"/>
      <p:bldP spid="183" grpId="0"/>
      <p:bldP spid="185" grpId="0" animBg="1"/>
      <p:bldP spid="187" grpId="0" animBg="1"/>
      <p:bldP spid="189" grpId="0"/>
      <p:bldP spid="191" grpId="0"/>
      <p:bldP spid="193" grpId="0" animBg="1"/>
      <p:bldP spid="195" grpId="0" animBg="1"/>
      <p:bldP spid="197" grpId="0"/>
      <p:bldP spid="199" grpId="0"/>
      <p:bldP spid="201" grpId="0" animBg="1"/>
      <p:bldP spid="203" grpId="0" animBg="1"/>
      <p:bldP spid="205" grpId="0"/>
      <p:bldP spid="207" grpId="0"/>
      <p:bldP spid="209" grpId="0" animBg="1"/>
      <p:bldP spid="211" grpId="0" animBg="1"/>
      <p:bldP spid="213" grpId="0"/>
      <p:bldP spid="215" grpId="0"/>
      <p:bldP spid="217" grpId="0" animBg="1"/>
      <p:bldP spid="219" grpId="0" animBg="1"/>
      <p:bldP spid="221" grpId="0"/>
      <p:bldP spid="223" grpId="0"/>
      <p:bldP spid="225" grpId="0" animBg="1"/>
      <p:bldP spid="227" grpId="0" animBg="1"/>
      <p:bldP spid="229" grpId="0"/>
      <p:bldP spid="231" grpId="0"/>
      <p:bldP spid="233" grpId="0" animBg="1"/>
      <p:bldP spid="235" grpId="0" animBg="1"/>
      <p:bldP spid="237" grpId="0"/>
      <p:bldP spid="239" grpId="0"/>
      <p:bldP spid="52" grpId="0"/>
      <p:bldP spid="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5861F5-24B5-BB96-9991-55D680B7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BC3A023A-AB1B-0744-54C3-EE186DF5809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515538B-E5AC-1AD9-8F4C-D1E04014638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8</a:t>
            </a:fld>
            <a:endParaRPr lang="en-GB" noProof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xmlns="" id="{2B328059-EDC5-CD67-FC2E-E3505390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71544"/>
            <a:ext cx="11369040" cy="480000"/>
          </a:xfrm>
        </p:spPr>
        <p:txBody>
          <a:bodyPr lIns="0" tIns="0" rIns="0" bIns="0" rtlCol="0" anchor="t"/>
          <a:lstStyle/>
          <a:p>
            <a:pPr rtl="0"/>
            <a:r>
              <a:rPr lang="en-GB" sz="2800" noProof="0" dirty="0"/>
              <a:t>Business </a:t>
            </a:r>
            <a:r>
              <a:rPr lang="en-GB" sz="2800" noProof="0" dirty="0" smtClean="0"/>
              <a:t>Questions</a:t>
            </a:r>
            <a:endParaRPr lang="en-GB" sz="2800" noProof="0" dirty="0"/>
          </a:p>
        </p:txBody>
      </p:sp>
      <p:sp>
        <p:nvSpPr>
          <p:cNvPr id="3" name="TextBox 152">
            <a:extLst>
              <a:ext uri="{FF2B5EF4-FFF2-40B4-BE49-F238E27FC236}">
                <a16:creationId xmlns:a16="http://schemas.microsoft.com/office/drawing/2014/main" xmlns="" id="{3ACFA04C-D435-6E0D-EA4F-F8DE5DCBCB85}"/>
              </a:ext>
            </a:extLst>
          </p:cNvPr>
          <p:cNvSpPr txBox="1"/>
          <p:nvPr/>
        </p:nvSpPr>
        <p:spPr>
          <a:xfrm>
            <a:off x="353568" y="836168"/>
            <a:ext cx="11241024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GB" sz="1600" i="1" noProof="0">
                <a:solidFill>
                  <a:srgbClr val="5B6270"/>
                </a:solidFill>
              </a:rPr>
              <a:t>From two competing research questions to an actionable, regulation-ready classification tool.</a:t>
            </a:r>
          </a:p>
        </p:txBody>
      </p:sp>
      <p:sp>
        <p:nvSpPr>
          <p:cNvPr id="4" name="Shape 104">
            <a:extLst>
              <a:ext uri="{FF2B5EF4-FFF2-40B4-BE49-F238E27FC236}">
                <a16:creationId xmlns:a16="http://schemas.microsoft.com/office/drawing/2014/main" xmlns="" id="{D5596A5D-7F8A-C296-A8E3-69C5722D54CE}"/>
              </a:ext>
            </a:extLst>
          </p:cNvPr>
          <p:cNvSpPr/>
          <p:nvPr/>
        </p:nvSpPr>
        <p:spPr>
          <a:xfrm>
            <a:off x="343664" y="2319956"/>
            <a:ext cx="5630416" cy="1864278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GB" noProof="0">
                <a:solidFill>
                  <a:schemeClr val="bg1"/>
                </a:solidFill>
              </a:rPr>
              <a:t>Question # 1</a:t>
            </a:r>
          </a:p>
          <a:p>
            <a:endParaRPr lang="en-GB" noProof="0">
              <a:solidFill>
                <a:srgbClr val="242852"/>
              </a:solidFill>
            </a:endParaRPr>
          </a:p>
          <a:p>
            <a:r>
              <a:rPr lang="en-GB" b="1" noProof="0">
                <a:solidFill>
                  <a:srgbClr val="242852"/>
                </a:solidFill>
              </a:rPr>
              <a:t>How should car brands optimize vehicle characteristics to reduce CO</a:t>
            </a:r>
            <a:r>
              <a:rPr lang="en-GB" b="1" baseline="-25000" noProof="0">
                <a:solidFill>
                  <a:srgbClr val="242852"/>
                </a:solidFill>
              </a:rPr>
              <a:t>2</a:t>
            </a:r>
            <a:r>
              <a:rPr lang="en-GB" b="1" noProof="0">
                <a:solidFill>
                  <a:srgbClr val="242852"/>
                </a:solidFill>
              </a:rPr>
              <a:t> and Nox, weighted by real-world registrations?</a:t>
            </a:r>
            <a:endParaRPr lang="en-GB" b="1" baseline="-25000" noProof="0">
              <a:solidFill>
                <a:srgbClr val="242852"/>
              </a:solidFill>
            </a:endParaRPr>
          </a:p>
        </p:txBody>
      </p:sp>
      <p:sp>
        <p:nvSpPr>
          <p:cNvPr id="5" name="Shape 104">
            <a:extLst>
              <a:ext uri="{FF2B5EF4-FFF2-40B4-BE49-F238E27FC236}">
                <a16:creationId xmlns:a16="http://schemas.microsoft.com/office/drawing/2014/main" xmlns="" id="{4EB629A3-9F66-E2A3-1C6A-393E327C8D42}"/>
              </a:ext>
            </a:extLst>
          </p:cNvPr>
          <p:cNvSpPr/>
          <p:nvPr/>
        </p:nvSpPr>
        <p:spPr>
          <a:xfrm>
            <a:off x="6217920" y="2319956"/>
            <a:ext cx="5630416" cy="1864278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en-GB" noProof="0">
                <a:solidFill>
                  <a:schemeClr val="bg1"/>
                </a:solidFill>
              </a:rPr>
              <a:t>Question #2</a:t>
            </a:r>
          </a:p>
          <a:p>
            <a:endParaRPr lang="en-GB" noProof="0">
              <a:solidFill>
                <a:srgbClr val="242852"/>
              </a:solidFill>
            </a:endParaRPr>
          </a:p>
          <a:p>
            <a:r>
              <a:rPr lang="en-GB" b="1" noProof="0">
                <a:solidFill>
                  <a:srgbClr val="242852"/>
                </a:solidFill>
              </a:rPr>
              <a:t>Can we give each vehicle a single pollution grade, from A to E, so the ecological penalty applies to the worst grades instead of a bracket system?</a:t>
            </a:r>
            <a:endParaRPr lang="en-GB" noProof="0">
              <a:solidFill>
                <a:srgbClr val="242852"/>
              </a:solidFill>
            </a:endParaRPr>
          </a:p>
          <a:p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20" name="Shape 104">
            <a:extLst>
              <a:ext uri="{FF2B5EF4-FFF2-40B4-BE49-F238E27FC236}">
                <a16:creationId xmlns:a16="http://schemas.microsoft.com/office/drawing/2014/main" xmlns="" id="{E744B839-5AF4-8402-DB74-7A44C5867449}"/>
              </a:ext>
            </a:extLst>
          </p:cNvPr>
          <p:cNvSpPr/>
          <p:nvPr/>
        </p:nvSpPr>
        <p:spPr>
          <a:xfrm>
            <a:off x="337568" y="4303402"/>
            <a:ext cx="11500864" cy="1342663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Both questions are answered from the same merged dataset and the same technical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#1 - supply side: which characteristics a manufacturer can move to lower emissions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#2 -  regulation side: how to turn those same characteristics into a grade that carries a penalty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Together they form one instrument: the grade is credible because #1 showed these features genuinely drive emissions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xmlns="" id="{282C6216-9673-BA45-79AA-3F989C74773E}"/>
              </a:ext>
            </a:extLst>
          </p:cNvPr>
          <p:cNvSpPr/>
          <p:nvPr/>
        </p:nvSpPr>
        <p:spPr>
          <a:xfrm>
            <a:off x="353568" y="1305856"/>
            <a:ext cx="3339464" cy="5708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noProof="0"/>
              <a:t>what could these data solve ?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xmlns="" id="{2E070958-6FCB-1204-9390-DE28E487534C}"/>
              </a:ext>
            </a:extLst>
          </p:cNvPr>
          <p:cNvSpPr/>
          <p:nvPr/>
        </p:nvSpPr>
        <p:spPr>
          <a:xfrm>
            <a:off x="3852482" y="1305856"/>
            <a:ext cx="3217544" cy="5708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noProof="0"/>
              <a:t>What information is most valuable ?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xmlns="" id="{DE9DB417-15E0-2D75-722E-CF5F4654ED42}"/>
              </a:ext>
            </a:extLst>
          </p:cNvPr>
          <p:cNvSpPr/>
          <p:nvPr/>
        </p:nvSpPr>
        <p:spPr>
          <a:xfrm>
            <a:off x="7229476" y="1305856"/>
            <a:ext cx="4608956" cy="57084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noProof="0"/>
              <a:t>What are institutions/companies/individuals actually facing today?</a:t>
            </a:r>
          </a:p>
        </p:txBody>
      </p:sp>
    </p:spTree>
    <p:extLst>
      <p:ext uri="{BB962C8B-B14F-4D97-AF65-F5344CB8AC3E}">
        <p14:creationId xmlns:p14="http://schemas.microsoft.com/office/powerpoint/2010/main" val="263435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CC06F931-AAB0-0588-A81A-FB93C063847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5A6B57D4-6CAB-A8B3-F80D-C7C6E97D5825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9</a:t>
            </a:fld>
            <a:endParaRPr lang="en-GB" noProof="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xmlns="" id="{03C905EA-2DB9-9E43-5E99-EED6FE295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71544"/>
            <a:ext cx="11369040" cy="480000"/>
          </a:xfrm>
        </p:spPr>
        <p:txBody>
          <a:bodyPr lIns="0" tIns="0" rIns="0" bIns="0" rtlCol="0" anchor="t"/>
          <a:lstStyle/>
          <a:p>
            <a:r>
              <a:rPr lang="en-GB" sz="2800" noProof="0"/>
              <a:t>Problem #1: Modelling and Validation</a:t>
            </a:r>
          </a:p>
        </p:txBody>
      </p:sp>
      <p:sp>
        <p:nvSpPr>
          <p:cNvPr id="11" name="TextBox 152">
            <a:extLst>
              <a:ext uri="{FF2B5EF4-FFF2-40B4-BE49-F238E27FC236}">
                <a16:creationId xmlns:a16="http://schemas.microsoft.com/office/drawing/2014/main" xmlns="" id="{4E50819F-BA8A-871B-D14D-8976307B5AD9}"/>
              </a:ext>
            </a:extLst>
          </p:cNvPr>
          <p:cNvSpPr txBox="1"/>
          <p:nvPr/>
        </p:nvSpPr>
        <p:spPr>
          <a:xfrm>
            <a:off x="353568" y="836168"/>
            <a:ext cx="11241024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GB" sz="1600" i="1" noProof="0">
                <a:solidFill>
                  <a:srgbClr val="5B6270"/>
                </a:solidFill>
              </a:rPr>
              <a:t>CO₂ &amp; NOx are predicted from 11 vehicle features, with models selected via leakage-safe cross-validation.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xmlns="" id="{72D93DEC-1282-83F8-89EA-2C1C9C2838D8}"/>
              </a:ext>
            </a:extLst>
          </p:cNvPr>
          <p:cNvGrpSpPr/>
          <p:nvPr/>
        </p:nvGrpSpPr>
        <p:grpSpPr>
          <a:xfrm>
            <a:off x="376428" y="1414607"/>
            <a:ext cx="2377440" cy="914400"/>
            <a:chOff x="376428" y="1310432"/>
            <a:chExt cx="2377440" cy="914400"/>
          </a:xfrm>
        </p:grpSpPr>
        <p:sp>
          <p:nvSpPr>
            <p:cNvPr id="12" name="Shape 60">
              <a:extLst>
                <a:ext uri="{FF2B5EF4-FFF2-40B4-BE49-F238E27FC236}">
                  <a16:creationId xmlns:a16="http://schemas.microsoft.com/office/drawing/2014/main" xmlns="" id="{47407F53-AA19-243D-5B51-CB0C06524A1E}"/>
                </a:ext>
              </a:extLst>
            </p:cNvPr>
            <p:cNvSpPr/>
            <p:nvPr/>
          </p:nvSpPr>
          <p:spPr>
            <a:xfrm>
              <a:off x="376428" y="1310432"/>
              <a:ext cx="2377440" cy="914400"/>
            </a:xfrm>
            <a:prstGeom prst="roundRect">
              <a:avLst>
                <a:gd name="adj" fmla="val 8000"/>
              </a:avLst>
            </a:prstGeom>
            <a:solidFill>
              <a:srgbClr val="242852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xmlns="" id="{270A1892-313A-FA13-5440-198207D32886}"/>
                </a:ext>
              </a:extLst>
            </p:cNvPr>
            <p:cNvSpPr txBox="1"/>
            <p:nvPr/>
          </p:nvSpPr>
          <p:spPr>
            <a:xfrm>
              <a:off x="559308" y="1438448"/>
              <a:ext cx="2011680" cy="6583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2400" b="1" noProof="0">
                  <a:solidFill>
                    <a:srgbClr val="FFFFFF"/>
                  </a:solidFill>
                </a:rPr>
                <a:t>0.86</a:t>
              </a:r>
            </a:p>
            <a:p>
              <a:pPr marL="0" indent="0" algn="l" rtl="0">
                <a:lnSpc>
                  <a:spcPct val="90000"/>
                </a:lnSpc>
                <a:buNone/>
              </a:pPr>
              <a:r>
                <a:rPr lang="en-GB" sz="1000" noProof="0">
                  <a:solidFill>
                    <a:srgbClr val="FFFFFF"/>
                  </a:solidFill>
                </a:rPr>
                <a:t>Weighted R² – CO₂ (test set)</a:t>
              </a:r>
            </a:p>
          </p:txBody>
        </p:sp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xmlns="" id="{4C087596-B971-6031-966C-D8A4DD38513E}"/>
              </a:ext>
            </a:extLst>
          </p:cNvPr>
          <p:cNvGrpSpPr/>
          <p:nvPr/>
        </p:nvGrpSpPr>
        <p:grpSpPr>
          <a:xfrm>
            <a:off x="3299012" y="1414607"/>
            <a:ext cx="2377440" cy="914400"/>
            <a:chOff x="2945892" y="1310432"/>
            <a:chExt cx="2377440" cy="914400"/>
          </a:xfrm>
        </p:grpSpPr>
        <p:sp>
          <p:nvSpPr>
            <p:cNvPr id="14" name="Shape 62">
              <a:extLst>
                <a:ext uri="{FF2B5EF4-FFF2-40B4-BE49-F238E27FC236}">
                  <a16:creationId xmlns:a16="http://schemas.microsoft.com/office/drawing/2014/main" xmlns="" id="{9A9B73F4-F8C9-278F-4A3D-7B5B0F7E4577}"/>
                </a:ext>
              </a:extLst>
            </p:cNvPr>
            <p:cNvSpPr/>
            <p:nvPr/>
          </p:nvSpPr>
          <p:spPr>
            <a:xfrm>
              <a:off x="2945892" y="1310432"/>
              <a:ext cx="2377440" cy="914400"/>
            </a:xfrm>
            <a:prstGeom prst="roundRect">
              <a:avLst>
                <a:gd name="adj" fmla="val 8000"/>
              </a:avLst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5" name="TextBox 63">
              <a:extLst>
                <a:ext uri="{FF2B5EF4-FFF2-40B4-BE49-F238E27FC236}">
                  <a16:creationId xmlns:a16="http://schemas.microsoft.com/office/drawing/2014/main" xmlns="" id="{A0164712-7477-4989-1BB4-82883A87E041}"/>
                </a:ext>
              </a:extLst>
            </p:cNvPr>
            <p:cNvSpPr txBox="1"/>
            <p:nvPr/>
          </p:nvSpPr>
          <p:spPr>
            <a:xfrm>
              <a:off x="3128772" y="1438448"/>
              <a:ext cx="2011680" cy="6583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2400" b="1" noProof="0">
                  <a:solidFill>
                    <a:srgbClr val="4A66AC"/>
                  </a:solidFill>
                </a:rPr>
                <a:t>0.92</a:t>
              </a:r>
            </a:p>
            <a:p>
              <a:pPr marL="0" indent="0" algn="l" rtl="0">
                <a:lnSpc>
                  <a:spcPct val="90000"/>
                </a:lnSpc>
                <a:buNone/>
              </a:pPr>
              <a:r>
                <a:rPr lang="en-GB" sz="1000" noProof="0">
                  <a:solidFill>
                    <a:srgbClr val="5B6270"/>
                  </a:solidFill>
                </a:rPr>
                <a:t>Weighted R² – NOx (test set)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xmlns="" id="{DAABE908-6F59-EA3F-6452-893BA730E35E}"/>
              </a:ext>
            </a:extLst>
          </p:cNvPr>
          <p:cNvGrpSpPr/>
          <p:nvPr/>
        </p:nvGrpSpPr>
        <p:grpSpPr>
          <a:xfrm>
            <a:off x="6221596" y="1414607"/>
            <a:ext cx="2377440" cy="914400"/>
            <a:chOff x="5515356" y="1310432"/>
            <a:chExt cx="2377440" cy="914400"/>
          </a:xfrm>
        </p:grpSpPr>
        <p:sp>
          <p:nvSpPr>
            <p:cNvPr id="16" name="Shape 64">
              <a:extLst>
                <a:ext uri="{FF2B5EF4-FFF2-40B4-BE49-F238E27FC236}">
                  <a16:creationId xmlns:a16="http://schemas.microsoft.com/office/drawing/2014/main" xmlns="" id="{3E8F14CE-AEEF-2766-E5F8-640F777192B2}"/>
                </a:ext>
              </a:extLst>
            </p:cNvPr>
            <p:cNvSpPr/>
            <p:nvPr/>
          </p:nvSpPr>
          <p:spPr>
            <a:xfrm>
              <a:off x="5515356" y="1310432"/>
              <a:ext cx="2377440" cy="914400"/>
            </a:xfrm>
            <a:prstGeom prst="roundRect">
              <a:avLst>
                <a:gd name="adj" fmla="val 8000"/>
              </a:avLst>
            </a:prstGeom>
            <a:solidFill>
              <a:srgbClr val="242852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7" name="TextBox 65">
              <a:extLst>
                <a:ext uri="{FF2B5EF4-FFF2-40B4-BE49-F238E27FC236}">
                  <a16:creationId xmlns:a16="http://schemas.microsoft.com/office/drawing/2014/main" xmlns="" id="{1E91C49F-3581-C468-8724-B996B6F26C8C}"/>
                </a:ext>
              </a:extLst>
            </p:cNvPr>
            <p:cNvSpPr txBox="1"/>
            <p:nvPr/>
          </p:nvSpPr>
          <p:spPr>
            <a:xfrm>
              <a:off x="5698236" y="1438448"/>
              <a:ext cx="2011680" cy="6583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2400" b="1" noProof="0">
                  <a:solidFill>
                    <a:srgbClr val="FFFFFF"/>
                  </a:solidFill>
                </a:rPr>
                <a:t>±7.9 g/km</a:t>
              </a:r>
            </a:p>
            <a:p>
              <a:pPr marL="0" indent="0" algn="l" rtl="0">
                <a:lnSpc>
                  <a:spcPct val="90000"/>
                </a:lnSpc>
                <a:buNone/>
              </a:pPr>
              <a:r>
                <a:rPr lang="en-GB" sz="1000" noProof="0">
                  <a:solidFill>
                    <a:srgbClr val="FFFFFF"/>
                  </a:solidFill>
                </a:rPr>
                <a:t>CO₂ RMSE – uncertainty band</a:t>
              </a:r>
            </a:p>
          </p:txBody>
        </p:sp>
      </p:grpSp>
      <p:grpSp>
        <p:nvGrpSpPr>
          <p:cNvPr id="22" name="Groupe 21">
            <a:extLst>
              <a:ext uri="{FF2B5EF4-FFF2-40B4-BE49-F238E27FC236}">
                <a16:creationId xmlns:a16="http://schemas.microsoft.com/office/drawing/2014/main" xmlns="" id="{687293CC-B3DD-27A7-802D-0A78C9577233}"/>
              </a:ext>
            </a:extLst>
          </p:cNvPr>
          <p:cNvGrpSpPr/>
          <p:nvPr/>
        </p:nvGrpSpPr>
        <p:grpSpPr>
          <a:xfrm>
            <a:off x="9144181" y="1414607"/>
            <a:ext cx="2377440" cy="914400"/>
            <a:chOff x="8084820" y="1310432"/>
            <a:chExt cx="2377440" cy="914400"/>
          </a:xfrm>
        </p:grpSpPr>
        <p:sp>
          <p:nvSpPr>
            <p:cNvPr id="18" name="Shape 66">
              <a:extLst>
                <a:ext uri="{FF2B5EF4-FFF2-40B4-BE49-F238E27FC236}">
                  <a16:creationId xmlns:a16="http://schemas.microsoft.com/office/drawing/2014/main" xmlns="" id="{BB675DED-F8FB-B09D-BBA0-107004220BE2}"/>
                </a:ext>
              </a:extLst>
            </p:cNvPr>
            <p:cNvSpPr/>
            <p:nvPr/>
          </p:nvSpPr>
          <p:spPr>
            <a:xfrm>
              <a:off x="8084820" y="1310432"/>
              <a:ext cx="2377440" cy="914400"/>
            </a:xfrm>
            <a:prstGeom prst="roundRect">
              <a:avLst>
                <a:gd name="adj" fmla="val 8000"/>
              </a:avLst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9" name="TextBox 67">
              <a:extLst>
                <a:ext uri="{FF2B5EF4-FFF2-40B4-BE49-F238E27FC236}">
                  <a16:creationId xmlns:a16="http://schemas.microsoft.com/office/drawing/2014/main" xmlns="" id="{5CC144FA-7C61-7EC0-49DA-1999B29F0EFD}"/>
                </a:ext>
              </a:extLst>
            </p:cNvPr>
            <p:cNvSpPr txBox="1"/>
            <p:nvPr/>
          </p:nvSpPr>
          <p:spPr>
            <a:xfrm>
              <a:off x="8267700" y="1438448"/>
              <a:ext cx="2011680" cy="6583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lnSpcReduction="10000"/>
            </a:bodyPr>
            <a:lstStyle/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1800" b="1" noProof="0">
                  <a:solidFill>
                    <a:srgbClr val="4A66AC"/>
                  </a:solidFill>
                </a:rPr>
                <a:t>XGBoost / Gradient Boosting</a:t>
              </a:r>
            </a:p>
            <a:p>
              <a:pPr marL="0" indent="0" algn="l" rtl="0">
                <a:lnSpc>
                  <a:spcPct val="90000"/>
                </a:lnSpc>
                <a:buNone/>
              </a:pPr>
              <a:r>
                <a:rPr lang="en-GB" sz="1000" noProof="0">
                  <a:solidFill>
                    <a:srgbClr val="5B6270"/>
                  </a:solidFill>
                </a:rPr>
                <a:t>Best model, selected via CV</a:t>
              </a:r>
            </a:p>
          </p:txBody>
        </p:sp>
      </p:grpSp>
      <p:sp>
        <p:nvSpPr>
          <p:cNvPr id="20" name="TextBox 70">
            <a:extLst>
              <a:ext uri="{FF2B5EF4-FFF2-40B4-BE49-F238E27FC236}">
                <a16:creationId xmlns:a16="http://schemas.microsoft.com/office/drawing/2014/main" xmlns="" id="{06F22E4B-806E-D65B-9817-8E80EC79C574}"/>
              </a:ext>
            </a:extLst>
          </p:cNvPr>
          <p:cNvSpPr txBox="1"/>
          <p:nvPr/>
        </p:nvSpPr>
        <p:spPr>
          <a:xfrm>
            <a:off x="375966" y="2809486"/>
            <a:ext cx="5498928" cy="2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sz="2000" b="1" noProof="0">
                <a:solidFill>
                  <a:srgbClr val="242852"/>
                </a:solidFill>
              </a:rPr>
              <a:t>Approach</a:t>
            </a:r>
          </a:p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endParaRPr lang="en-GB" sz="2000" b="1" noProof="0">
              <a:solidFill>
                <a:srgbClr val="242852"/>
              </a:solidFill>
            </a:endParaRP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CO₂ &amp; NOx predicted from 11 vehicle features, weighted by real 2013 registrations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Train/test split (2,910 / 727 rows) grouped by “sibling” trims &amp; stratified by fuel × segment – no leakage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4 candidate models (Ridge, Gradient Boosting, Random Forest, XGBoost) tuned via weighted 5-fold CV</a:t>
            </a:r>
          </a:p>
        </p:txBody>
      </p:sp>
      <p:sp>
        <p:nvSpPr>
          <p:cNvPr id="21" name="TextBox 71">
            <a:extLst>
              <a:ext uri="{FF2B5EF4-FFF2-40B4-BE49-F238E27FC236}">
                <a16:creationId xmlns:a16="http://schemas.microsoft.com/office/drawing/2014/main" xmlns="" id="{0E49EDB0-AB83-35AB-7BAA-4B0EEC2955B5}"/>
              </a:ext>
            </a:extLst>
          </p:cNvPr>
          <p:cNvSpPr txBox="1"/>
          <p:nvPr/>
        </p:nvSpPr>
        <p:spPr>
          <a:xfrm>
            <a:off x="6317106" y="2809486"/>
            <a:ext cx="5498928" cy="2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GB" sz="2000" b="1" noProof="0">
                <a:solidFill>
                  <a:srgbClr val="242852"/>
                </a:solidFill>
              </a:rPr>
              <a:t>Validation</a:t>
            </a:r>
          </a:p>
          <a:p>
            <a:pPr marL="0" indent="0" algn="l" rtl="0">
              <a:lnSpc>
                <a:spcPct val="100000"/>
              </a:lnSpc>
              <a:spcAft>
                <a:spcPts val="700"/>
              </a:spcAft>
              <a:buNone/>
            </a:pPr>
            <a:endParaRPr lang="en-GB" sz="2000" b="1" noProof="0">
              <a:solidFill>
                <a:srgbClr val="242852"/>
              </a:solidFill>
            </a:endParaRP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Best model per target chosen from cross-validation only; test set touched once, for an honest final check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XGBoost wins for CO₂; Gradient Boosting wins for NOx – both clearly beat the baseline (test R² = −0.02 / −0.05)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Reliable predictions, ready to explore brand-level CO₂/NOx improvement potential (next slides)</a:t>
            </a: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xmlns="" id="{76910D2F-7FA7-E427-2285-EE4E187333D8}"/>
              </a:ext>
            </a:extLst>
          </p:cNvPr>
          <p:cNvCxnSpPr>
            <a:cxnSpLocks/>
          </p:cNvCxnSpPr>
          <p:nvPr/>
        </p:nvCxnSpPr>
        <p:spPr>
          <a:xfrm>
            <a:off x="6086007" y="2809486"/>
            <a:ext cx="0" cy="273479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09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0B2C9C6-704A-3DBF-C752-931F2202D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033ED0D3-F437-E82A-C912-07BEC8BAA17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1D5F76C7-37A6-0841-1096-9631BB79F6A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10</a:t>
            </a:fld>
            <a:endParaRPr lang="en-GB" noProof="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xmlns="" id="{C134478E-6F61-0332-03D7-504E01AA0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71544"/>
            <a:ext cx="11369040" cy="480000"/>
          </a:xfrm>
        </p:spPr>
        <p:txBody>
          <a:bodyPr lIns="0" tIns="0" rIns="0" bIns="0" rtlCol="0" anchor="t"/>
          <a:lstStyle/>
          <a:p>
            <a:r>
              <a:rPr lang="en-GB" sz="2800" noProof="0"/>
              <a:t>Problem #1: CO₂ Headroom by Brand</a:t>
            </a:r>
          </a:p>
        </p:txBody>
      </p:sp>
      <p:sp>
        <p:nvSpPr>
          <p:cNvPr id="11" name="TextBox 152">
            <a:extLst>
              <a:ext uri="{FF2B5EF4-FFF2-40B4-BE49-F238E27FC236}">
                <a16:creationId xmlns:a16="http://schemas.microsoft.com/office/drawing/2014/main" xmlns="" id="{D8B4F61C-CC93-D263-E0B2-914D44E4F823}"/>
              </a:ext>
            </a:extLst>
          </p:cNvPr>
          <p:cNvSpPr txBox="1"/>
          <p:nvPr/>
        </p:nvSpPr>
        <p:spPr>
          <a:xfrm>
            <a:off x="353568" y="836168"/>
            <a:ext cx="11241024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GB" sz="1600" i="1" noProof="0">
                <a:solidFill>
                  <a:srgbClr val="5B6270"/>
                </a:solidFill>
              </a:rPr>
              <a:t>A single global optimum favours tiny economy cars – unrealistic for every segment. Fronts are rebuilt per segment, from real high-volume cars.</a:t>
            </a:r>
          </a:p>
        </p:txBody>
      </p:sp>
      <p:pic>
        <p:nvPicPr>
          <p:cNvPr id="12" name="Picture 110" descr="updated_headroom_chart.png">
            <a:extLst>
              <a:ext uri="{FF2B5EF4-FFF2-40B4-BE49-F238E27FC236}">
                <a16:creationId xmlns:a16="http://schemas.microsoft.com/office/drawing/2014/main" xmlns="" id="{64DF13EF-4C40-EC9E-083E-3E3D36A52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8" y="1535200"/>
            <a:ext cx="6400800" cy="4221342"/>
          </a:xfrm>
          <a:prstGeom prst="rect">
            <a:avLst/>
          </a:prstGeom>
        </p:spPr>
      </p:pic>
      <p:sp>
        <p:nvSpPr>
          <p:cNvPr id="13" name="TextBox 92">
            <a:extLst>
              <a:ext uri="{FF2B5EF4-FFF2-40B4-BE49-F238E27FC236}">
                <a16:creationId xmlns:a16="http://schemas.microsoft.com/office/drawing/2014/main" xmlns="" id="{7131BB51-22ED-C8CE-FDE7-D95A2BB60413}"/>
              </a:ext>
            </a:extLst>
          </p:cNvPr>
          <p:cNvSpPr txBox="1"/>
          <p:nvPr/>
        </p:nvSpPr>
        <p:spPr>
          <a:xfrm>
            <a:off x="353568" y="587084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buNone/>
            </a:pPr>
            <a:r>
              <a:rPr lang="en-GB" sz="1100" i="1" noProof="0">
                <a:solidFill>
                  <a:srgbClr val="5B6270"/>
                </a:solidFill>
              </a:rPr>
              <a:t>Weighted avg. CO₂ gap to segment-specific Pareto front, top 15 brands (g/km)</a:t>
            </a:r>
          </a:p>
        </p:txBody>
      </p:sp>
      <p:sp>
        <p:nvSpPr>
          <p:cNvPr id="14" name="Shape 100">
            <a:extLst>
              <a:ext uri="{FF2B5EF4-FFF2-40B4-BE49-F238E27FC236}">
                <a16:creationId xmlns:a16="http://schemas.microsoft.com/office/drawing/2014/main" xmlns="" id="{DF0DC3E0-F3B4-C9C7-212E-24181C410F0D}"/>
              </a:ext>
            </a:extLst>
          </p:cNvPr>
          <p:cNvSpPr/>
          <p:nvPr/>
        </p:nvSpPr>
        <p:spPr>
          <a:xfrm>
            <a:off x="6998822" y="1401927"/>
            <a:ext cx="4480559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15" name="TextBox 101">
            <a:extLst>
              <a:ext uri="{FF2B5EF4-FFF2-40B4-BE49-F238E27FC236}">
                <a16:creationId xmlns:a16="http://schemas.microsoft.com/office/drawing/2014/main" xmlns="" id="{5F7372CC-5362-FD31-9A9B-C2AF78530DF3}"/>
              </a:ext>
            </a:extLst>
          </p:cNvPr>
          <p:cNvSpPr txBox="1"/>
          <p:nvPr/>
        </p:nvSpPr>
        <p:spPr>
          <a:xfrm>
            <a:off x="7181703" y="1529943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 rt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2400" b="1" noProof="0">
                <a:solidFill>
                  <a:srgbClr val="FFFFFF"/>
                </a:solidFill>
              </a:rPr>
              <a:t>89.0 g/km</a:t>
            </a:r>
          </a:p>
          <a:p>
            <a:pPr marL="0" indent="0" algn="l" rtl="0">
              <a:lnSpc>
                <a:spcPct val="90000"/>
              </a:lnSpc>
              <a:buNone/>
            </a:pPr>
            <a:r>
              <a:rPr lang="en-GB" sz="1000" noProof="0">
                <a:solidFill>
                  <a:srgbClr val="FFFFFF"/>
                </a:solidFill>
              </a:rPr>
              <a:t>Jeep – largest CO₂ headroom found</a:t>
            </a:r>
          </a:p>
        </p:txBody>
      </p:sp>
      <p:sp>
        <p:nvSpPr>
          <p:cNvPr id="16" name="TextBox 110">
            <a:extLst>
              <a:ext uri="{FF2B5EF4-FFF2-40B4-BE49-F238E27FC236}">
                <a16:creationId xmlns:a16="http://schemas.microsoft.com/office/drawing/2014/main" xmlns="" id="{D32C601F-514B-8F4D-8CC3-F564A0354AE5}"/>
              </a:ext>
            </a:extLst>
          </p:cNvPr>
          <p:cNvSpPr txBox="1"/>
          <p:nvPr/>
        </p:nvSpPr>
        <p:spPr>
          <a:xfrm>
            <a:off x="7114032" y="2294546"/>
            <a:ext cx="4480560" cy="39977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50000"/>
              </a:lnSpc>
              <a:spcAft>
                <a:spcPts val="700"/>
              </a:spcAft>
              <a:buNone/>
            </a:pPr>
            <a:r>
              <a:rPr lang="en-GB" sz="1800" b="1" noProof="0">
                <a:solidFill>
                  <a:srgbClr val="242852"/>
                </a:solidFill>
              </a:rPr>
              <a:t>Reading the chart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5 segments, 42 Pareto-optimal points – built from real, high-registration “seed” cars, not synthetic extremes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Per car: how much lower could CO₂ be at its own NOx level, on its segment's frontier? Averaged per brand, weighted by sales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Jeep, SsangYong, Subaru &amp; Honda show the   biggest CO₂ headroom – about 52–89 g/km with no NOx penalty</a:t>
            </a:r>
          </a:p>
          <a:p>
            <a:pPr marL="201168" indent="-201168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rgbClr val="242852"/>
                </a:solidFill>
              </a:rPr>
              <a:t>4 brands (Porsche, Lexus, Ferrari, Smart) excluded – too few had a comparable same-NOx rival in their segment, not because they're already optimal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endParaRPr lang="en-GB" sz="1600" noProof="0">
              <a:solidFill>
                <a:srgbClr val="2428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19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6695835-3FC8-49A9-ECA4-CAA53970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945A8853-60EC-CCED-F276-8FD8C67D3B06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1AF33944-71D4-5FF7-C7C7-FD672015DD9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11</a:t>
            </a:fld>
            <a:endParaRPr lang="en-GB" noProof="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xmlns="" id="{F6D70203-6CB7-F50D-EBBD-F98E1AF30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71544"/>
            <a:ext cx="11369040" cy="480000"/>
          </a:xfrm>
        </p:spPr>
        <p:txBody>
          <a:bodyPr lIns="0" tIns="0" rIns="0" bIns="0" rtlCol="0" anchor="t"/>
          <a:lstStyle/>
          <a:p>
            <a:r>
              <a:rPr lang="en-GB" sz="2800" noProof="0"/>
              <a:t>Problem #1: What Drives CO₂ and NOx ? (SHAP)</a:t>
            </a:r>
          </a:p>
        </p:txBody>
      </p:sp>
      <p:sp>
        <p:nvSpPr>
          <p:cNvPr id="11" name="TextBox 50">
            <a:extLst>
              <a:ext uri="{FF2B5EF4-FFF2-40B4-BE49-F238E27FC236}">
                <a16:creationId xmlns:a16="http://schemas.microsoft.com/office/drawing/2014/main" xmlns="" id="{F38517A9-F52E-A374-E6DD-4196200751D4}"/>
              </a:ext>
            </a:extLst>
          </p:cNvPr>
          <p:cNvSpPr txBox="1"/>
          <p:nvPr/>
        </p:nvSpPr>
        <p:spPr>
          <a:xfrm>
            <a:off x="353568" y="821109"/>
            <a:ext cx="11241024" cy="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05000"/>
              </a:lnSpc>
              <a:buNone/>
            </a:pPr>
            <a:r>
              <a:rPr lang="en-GB" sz="1600" i="1" noProof="0">
                <a:solidFill>
                  <a:srgbClr val="5B6270"/>
                </a:solidFill>
              </a:rPr>
              <a:t>SHAP shows each feature's real, per-car contribution in g/km – not just what matters, but by how much.</a:t>
            </a:r>
          </a:p>
        </p:txBody>
      </p:sp>
      <p:sp>
        <p:nvSpPr>
          <p:cNvPr id="12" name="TextBox 55">
            <a:extLst>
              <a:ext uri="{FF2B5EF4-FFF2-40B4-BE49-F238E27FC236}">
                <a16:creationId xmlns:a16="http://schemas.microsoft.com/office/drawing/2014/main" xmlns="" id="{004DB930-CB79-824D-4362-BFAA21C151FA}"/>
              </a:ext>
            </a:extLst>
          </p:cNvPr>
          <p:cNvSpPr txBox="1"/>
          <p:nvPr/>
        </p:nvSpPr>
        <p:spPr>
          <a:xfrm>
            <a:off x="347472" y="1468579"/>
            <a:ext cx="64000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buNone/>
            </a:pPr>
            <a:r>
              <a:rPr lang="en-GB" sz="1300" b="1" noProof="0">
                <a:solidFill>
                  <a:srgbClr val="242852"/>
                </a:solidFill>
              </a:rPr>
              <a:t>Mean SHAP impact on CO₂ (g/km, test sample of 300 cars)</a:t>
            </a:r>
          </a:p>
        </p:txBody>
      </p:sp>
      <p:grpSp>
        <p:nvGrpSpPr>
          <p:cNvPr id="40" name="Groupe 39">
            <a:extLst>
              <a:ext uri="{FF2B5EF4-FFF2-40B4-BE49-F238E27FC236}">
                <a16:creationId xmlns:a16="http://schemas.microsoft.com/office/drawing/2014/main" xmlns="" id="{32B81D56-5084-7B36-791F-E747948691E7}"/>
              </a:ext>
            </a:extLst>
          </p:cNvPr>
          <p:cNvGrpSpPr/>
          <p:nvPr/>
        </p:nvGrpSpPr>
        <p:grpSpPr>
          <a:xfrm>
            <a:off x="347472" y="1983443"/>
            <a:ext cx="6796432" cy="2538125"/>
            <a:chOff x="353568" y="1780000"/>
            <a:chExt cx="6796432" cy="2538125"/>
          </a:xfrm>
        </p:grpSpPr>
        <p:sp>
          <p:nvSpPr>
            <p:cNvPr id="13" name="TextBox 700">
              <a:extLst>
                <a:ext uri="{FF2B5EF4-FFF2-40B4-BE49-F238E27FC236}">
                  <a16:creationId xmlns:a16="http://schemas.microsoft.com/office/drawing/2014/main" xmlns="" id="{C9B466E4-5C77-564C-A580-1FCB118DE00C}"/>
                </a:ext>
              </a:extLst>
            </p:cNvPr>
            <p:cNvSpPr txBox="1"/>
            <p:nvPr/>
          </p:nvSpPr>
          <p:spPr>
            <a:xfrm>
              <a:off x="353568" y="1780000"/>
              <a:ext cx="235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 rtl="0">
                <a:lnSpc>
                  <a:spcPct val="100000"/>
                </a:lnSpc>
                <a:buNone/>
              </a:pPr>
              <a:r>
                <a:rPr lang="en-GB" sz="1200" noProof="0">
                  <a:solidFill>
                    <a:srgbClr val="242852"/>
                  </a:solidFill>
                </a:rPr>
                <a:t>Vehicle weight</a:t>
              </a:r>
            </a:p>
          </p:txBody>
        </p:sp>
        <p:sp>
          <p:nvSpPr>
            <p:cNvPr id="14" name="Shape 701">
              <a:extLst>
                <a:ext uri="{FF2B5EF4-FFF2-40B4-BE49-F238E27FC236}">
                  <a16:creationId xmlns:a16="http://schemas.microsoft.com/office/drawing/2014/main" xmlns="" id="{73FE14E4-5127-A4C7-4A9E-44835E360E5A}"/>
                </a:ext>
              </a:extLst>
            </p:cNvPr>
            <p:cNvSpPr/>
            <p:nvPr/>
          </p:nvSpPr>
          <p:spPr>
            <a:xfrm>
              <a:off x="2800000" y="1798288"/>
              <a:ext cx="3550000" cy="219456"/>
            </a:xfrm>
            <a:prstGeom prst="rect">
              <a:avLst/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5" name="Shape 702">
              <a:extLst>
                <a:ext uri="{FF2B5EF4-FFF2-40B4-BE49-F238E27FC236}">
                  <a16:creationId xmlns:a16="http://schemas.microsoft.com/office/drawing/2014/main" xmlns="" id="{A9D21119-2F6C-072C-850A-99AB4E5ECE7C}"/>
                </a:ext>
              </a:extLst>
            </p:cNvPr>
            <p:cNvSpPr/>
            <p:nvPr/>
          </p:nvSpPr>
          <p:spPr>
            <a:xfrm>
              <a:off x="2800000" y="1798288"/>
              <a:ext cx="3550000" cy="219456"/>
            </a:xfrm>
            <a:prstGeom prst="rect">
              <a:avLst/>
            </a:prstGeom>
            <a:solidFill>
              <a:srgbClr val="4A66AC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6" name="TextBox 703">
              <a:extLst>
                <a:ext uri="{FF2B5EF4-FFF2-40B4-BE49-F238E27FC236}">
                  <a16:creationId xmlns:a16="http://schemas.microsoft.com/office/drawing/2014/main" xmlns="" id="{F2E515F2-9648-1356-607F-C3B30F70A023}"/>
                </a:ext>
              </a:extLst>
            </p:cNvPr>
            <p:cNvSpPr txBox="1"/>
            <p:nvPr/>
          </p:nvSpPr>
          <p:spPr>
            <a:xfrm>
              <a:off x="6450000" y="1780000"/>
              <a:ext cx="70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buNone/>
              </a:pPr>
              <a:r>
                <a:rPr lang="en-GB" sz="1200" b="1" noProof="0">
                  <a:solidFill>
                    <a:srgbClr val="242852"/>
                  </a:solidFill>
                </a:rPr>
                <a:t>13.7</a:t>
              </a:r>
            </a:p>
          </p:txBody>
        </p:sp>
        <p:sp>
          <p:nvSpPr>
            <p:cNvPr id="17" name="TextBox 710">
              <a:extLst>
                <a:ext uri="{FF2B5EF4-FFF2-40B4-BE49-F238E27FC236}">
                  <a16:creationId xmlns:a16="http://schemas.microsoft.com/office/drawing/2014/main" xmlns="" id="{F3B38CA1-51CC-538D-5EBF-D4C161172548}"/>
                </a:ext>
              </a:extLst>
            </p:cNvPr>
            <p:cNvSpPr txBox="1"/>
            <p:nvPr/>
          </p:nvSpPr>
          <p:spPr>
            <a:xfrm>
              <a:off x="353568" y="2240000"/>
              <a:ext cx="235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 rtl="0">
                <a:lnSpc>
                  <a:spcPct val="100000"/>
                </a:lnSpc>
                <a:buNone/>
              </a:pPr>
              <a:r>
                <a:rPr lang="en-GB" sz="1200" noProof="0">
                  <a:solidFill>
                    <a:srgbClr val="242852"/>
                  </a:solidFill>
                </a:rPr>
                <a:t>Fuel type: Petrol</a:t>
              </a:r>
            </a:p>
          </p:txBody>
        </p:sp>
        <p:sp>
          <p:nvSpPr>
            <p:cNvPr id="18" name="Shape 711">
              <a:extLst>
                <a:ext uri="{FF2B5EF4-FFF2-40B4-BE49-F238E27FC236}">
                  <a16:creationId xmlns:a16="http://schemas.microsoft.com/office/drawing/2014/main" xmlns="" id="{8480D9A6-EE9D-CEBE-CC6E-64DE429EA35D}"/>
                </a:ext>
              </a:extLst>
            </p:cNvPr>
            <p:cNvSpPr/>
            <p:nvPr/>
          </p:nvSpPr>
          <p:spPr>
            <a:xfrm>
              <a:off x="2800000" y="2258288"/>
              <a:ext cx="3550000" cy="219456"/>
            </a:xfrm>
            <a:prstGeom prst="rect">
              <a:avLst/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9" name="Shape 712">
              <a:extLst>
                <a:ext uri="{FF2B5EF4-FFF2-40B4-BE49-F238E27FC236}">
                  <a16:creationId xmlns:a16="http://schemas.microsoft.com/office/drawing/2014/main" xmlns="" id="{4BBDF9F9-7470-4A57-FC57-FD72D07DE027}"/>
                </a:ext>
              </a:extLst>
            </p:cNvPr>
            <p:cNvSpPr/>
            <p:nvPr/>
          </p:nvSpPr>
          <p:spPr>
            <a:xfrm>
              <a:off x="2800000" y="2258288"/>
              <a:ext cx="3205975" cy="219456"/>
            </a:xfrm>
            <a:prstGeom prst="rect">
              <a:avLst/>
            </a:prstGeom>
            <a:solidFill>
              <a:srgbClr val="4A66AC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20" name="TextBox 713">
              <a:extLst>
                <a:ext uri="{FF2B5EF4-FFF2-40B4-BE49-F238E27FC236}">
                  <a16:creationId xmlns:a16="http://schemas.microsoft.com/office/drawing/2014/main" xmlns="" id="{23A58990-EADA-59BD-F01C-940E66C078BD}"/>
                </a:ext>
              </a:extLst>
            </p:cNvPr>
            <p:cNvSpPr txBox="1"/>
            <p:nvPr/>
          </p:nvSpPr>
          <p:spPr>
            <a:xfrm>
              <a:off x="6450000" y="2240000"/>
              <a:ext cx="70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buNone/>
              </a:pPr>
              <a:r>
                <a:rPr lang="en-GB" sz="1200" b="1" noProof="0">
                  <a:solidFill>
                    <a:srgbClr val="242852"/>
                  </a:solidFill>
                </a:rPr>
                <a:t>12.4</a:t>
              </a:r>
            </a:p>
          </p:txBody>
        </p:sp>
        <p:sp>
          <p:nvSpPr>
            <p:cNvPr id="21" name="TextBox 720">
              <a:extLst>
                <a:ext uri="{FF2B5EF4-FFF2-40B4-BE49-F238E27FC236}">
                  <a16:creationId xmlns:a16="http://schemas.microsoft.com/office/drawing/2014/main" xmlns="" id="{41916EA3-E39D-B426-0101-74B47B93CF65}"/>
                </a:ext>
              </a:extLst>
            </p:cNvPr>
            <p:cNvSpPr txBox="1"/>
            <p:nvPr/>
          </p:nvSpPr>
          <p:spPr>
            <a:xfrm>
              <a:off x="353568" y="2700000"/>
              <a:ext cx="235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 rtl="0">
                <a:lnSpc>
                  <a:spcPct val="100000"/>
                </a:lnSpc>
                <a:buNone/>
              </a:pPr>
              <a:r>
                <a:rPr lang="en-GB" sz="1200" noProof="0">
                  <a:solidFill>
                    <a:srgbClr val="242852"/>
                  </a:solidFill>
                </a:rPr>
                <a:t>Engine size (cc)</a:t>
              </a:r>
            </a:p>
          </p:txBody>
        </p:sp>
        <p:sp>
          <p:nvSpPr>
            <p:cNvPr id="22" name="Shape 721">
              <a:extLst>
                <a:ext uri="{FF2B5EF4-FFF2-40B4-BE49-F238E27FC236}">
                  <a16:creationId xmlns:a16="http://schemas.microsoft.com/office/drawing/2014/main" xmlns="" id="{6F1FC24C-E2DA-1FF9-E3D7-2B63703B89A7}"/>
                </a:ext>
              </a:extLst>
            </p:cNvPr>
            <p:cNvSpPr/>
            <p:nvPr/>
          </p:nvSpPr>
          <p:spPr>
            <a:xfrm>
              <a:off x="2800000" y="2718288"/>
              <a:ext cx="3550000" cy="219456"/>
            </a:xfrm>
            <a:prstGeom prst="rect">
              <a:avLst/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23" name="Shape 722">
              <a:extLst>
                <a:ext uri="{FF2B5EF4-FFF2-40B4-BE49-F238E27FC236}">
                  <a16:creationId xmlns:a16="http://schemas.microsoft.com/office/drawing/2014/main" xmlns="" id="{49813B59-AAAF-30E5-41CC-8C75F2E012CB}"/>
                </a:ext>
              </a:extLst>
            </p:cNvPr>
            <p:cNvSpPr/>
            <p:nvPr/>
          </p:nvSpPr>
          <p:spPr>
            <a:xfrm>
              <a:off x="2800000" y="2718288"/>
              <a:ext cx="3133236" cy="219456"/>
            </a:xfrm>
            <a:prstGeom prst="rect">
              <a:avLst/>
            </a:prstGeom>
            <a:solidFill>
              <a:srgbClr val="4A66AC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24" name="TextBox 723">
              <a:extLst>
                <a:ext uri="{FF2B5EF4-FFF2-40B4-BE49-F238E27FC236}">
                  <a16:creationId xmlns:a16="http://schemas.microsoft.com/office/drawing/2014/main" xmlns="" id="{65032EEF-127A-18AA-6965-3217A2F444C4}"/>
                </a:ext>
              </a:extLst>
            </p:cNvPr>
            <p:cNvSpPr txBox="1"/>
            <p:nvPr/>
          </p:nvSpPr>
          <p:spPr>
            <a:xfrm>
              <a:off x="6450000" y="2700000"/>
              <a:ext cx="70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buNone/>
              </a:pPr>
              <a:r>
                <a:rPr lang="en-GB" sz="1200" b="1" noProof="0">
                  <a:solidFill>
                    <a:srgbClr val="242852"/>
                  </a:solidFill>
                </a:rPr>
                <a:t>12.1</a:t>
              </a:r>
            </a:p>
          </p:txBody>
        </p:sp>
        <p:sp>
          <p:nvSpPr>
            <p:cNvPr id="25" name="TextBox 730">
              <a:extLst>
                <a:ext uri="{FF2B5EF4-FFF2-40B4-BE49-F238E27FC236}">
                  <a16:creationId xmlns:a16="http://schemas.microsoft.com/office/drawing/2014/main" xmlns="" id="{53B1545F-101D-F857-15FB-E85615DB2998}"/>
                </a:ext>
              </a:extLst>
            </p:cNvPr>
            <p:cNvSpPr txBox="1"/>
            <p:nvPr/>
          </p:nvSpPr>
          <p:spPr>
            <a:xfrm>
              <a:off x="353568" y="3160000"/>
              <a:ext cx="235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 rtl="0">
                <a:lnSpc>
                  <a:spcPct val="100000"/>
                </a:lnSpc>
                <a:buNone/>
              </a:pPr>
              <a:r>
                <a:rPr lang="en-GB" sz="1200" noProof="0">
                  <a:solidFill>
                    <a:srgbClr val="242852"/>
                  </a:solidFill>
                </a:rPr>
                <a:t>Engine power (kW)</a:t>
              </a:r>
            </a:p>
          </p:txBody>
        </p:sp>
        <p:sp>
          <p:nvSpPr>
            <p:cNvPr id="26" name="Shape 731">
              <a:extLst>
                <a:ext uri="{FF2B5EF4-FFF2-40B4-BE49-F238E27FC236}">
                  <a16:creationId xmlns:a16="http://schemas.microsoft.com/office/drawing/2014/main" xmlns="" id="{23839064-4680-AF05-F95C-E2E76CDECC6A}"/>
                </a:ext>
              </a:extLst>
            </p:cNvPr>
            <p:cNvSpPr/>
            <p:nvPr/>
          </p:nvSpPr>
          <p:spPr>
            <a:xfrm>
              <a:off x="2800000" y="3178288"/>
              <a:ext cx="3550000" cy="219456"/>
            </a:xfrm>
            <a:prstGeom prst="rect">
              <a:avLst/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27" name="Shape 732">
              <a:extLst>
                <a:ext uri="{FF2B5EF4-FFF2-40B4-BE49-F238E27FC236}">
                  <a16:creationId xmlns:a16="http://schemas.microsoft.com/office/drawing/2014/main" xmlns="" id="{C1078283-FDBB-E71B-C585-504B8F9DC68F}"/>
                </a:ext>
              </a:extLst>
            </p:cNvPr>
            <p:cNvSpPr/>
            <p:nvPr/>
          </p:nvSpPr>
          <p:spPr>
            <a:xfrm>
              <a:off x="2800000" y="3178288"/>
              <a:ext cx="2301779" cy="219456"/>
            </a:xfrm>
            <a:prstGeom prst="rect">
              <a:avLst/>
            </a:prstGeom>
            <a:solidFill>
              <a:srgbClr val="4A66AC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28" name="TextBox 733">
              <a:extLst>
                <a:ext uri="{FF2B5EF4-FFF2-40B4-BE49-F238E27FC236}">
                  <a16:creationId xmlns:a16="http://schemas.microsoft.com/office/drawing/2014/main" xmlns="" id="{D99BA64B-9860-B5CA-CBE8-BEE849531833}"/>
                </a:ext>
              </a:extLst>
            </p:cNvPr>
            <p:cNvSpPr txBox="1"/>
            <p:nvPr/>
          </p:nvSpPr>
          <p:spPr>
            <a:xfrm>
              <a:off x="6450000" y="3160000"/>
              <a:ext cx="70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buNone/>
              </a:pPr>
              <a:r>
                <a:rPr lang="en-GB" sz="1200" b="1" noProof="0">
                  <a:solidFill>
                    <a:srgbClr val="242852"/>
                  </a:solidFill>
                </a:rPr>
                <a:t>8.9</a:t>
              </a:r>
            </a:p>
          </p:txBody>
        </p:sp>
        <p:sp>
          <p:nvSpPr>
            <p:cNvPr id="29" name="TextBox 740">
              <a:extLst>
                <a:ext uri="{FF2B5EF4-FFF2-40B4-BE49-F238E27FC236}">
                  <a16:creationId xmlns:a16="http://schemas.microsoft.com/office/drawing/2014/main" xmlns="" id="{B4501A5A-758F-D2E4-539D-5171D9F51C5B}"/>
                </a:ext>
              </a:extLst>
            </p:cNvPr>
            <p:cNvSpPr txBox="1"/>
            <p:nvPr/>
          </p:nvSpPr>
          <p:spPr>
            <a:xfrm>
              <a:off x="353568" y="3620000"/>
              <a:ext cx="235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 rtl="0">
                <a:lnSpc>
                  <a:spcPct val="100000"/>
                </a:lnSpc>
                <a:buNone/>
              </a:pPr>
              <a:r>
                <a:rPr lang="en-GB" sz="1200" noProof="0">
                  <a:solidFill>
                    <a:srgbClr val="242852"/>
                  </a:solidFill>
                </a:rPr>
                <a:t>Transmission: Auto 4-speed</a:t>
              </a:r>
            </a:p>
          </p:txBody>
        </p:sp>
        <p:sp>
          <p:nvSpPr>
            <p:cNvPr id="30" name="Shape 741">
              <a:extLst>
                <a:ext uri="{FF2B5EF4-FFF2-40B4-BE49-F238E27FC236}">
                  <a16:creationId xmlns:a16="http://schemas.microsoft.com/office/drawing/2014/main" xmlns="" id="{45109CD8-AF87-8888-E4ED-F33110E5A8C9}"/>
                </a:ext>
              </a:extLst>
            </p:cNvPr>
            <p:cNvSpPr/>
            <p:nvPr/>
          </p:nvSpPr>
          <p:spPr>
            <a:xfrm>
              <a:off x="2800000" y="3638288"/>
              <a:ext cx="3550000" cy="219456"/>
            </a:xfrm>
            <a:prstGeom prst="rect">
              <a:avLst/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31" name="Shape 742">
              <a:extLst>
                <a:ext uri="{FF2B5EF4-FFF2-40B4-BE49-F238E27FC236}">
                  <a16:creationId xmlns:a16="http://schemas.microsoft.com/office/drawing/2014/main" xmlns="" id="{3485F5FE-1EF3-F834-ECD4-04F847D5548E}"/>
                </a:ext>
              </a:extLst>
            </p:cNvPr>
            <p:cNvSpPr/>
            <p:nvPr/>
          </p:nvSpPr>
          <p:spPr>
            <a:xfrm>
              <a:off x="2800000" y="3638288"/>
              <a:ext cx="1908830" cy="219456"/>
            </a:xfrm>
            <a:prstGeom prst="rect">
              <a:avLst/>
            </a:prstGeom>
            <a:solidFill>
              <a:srgbClr val="4A66AC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32" name="TextBox 743">
              <a:extLst>
                <a:ext uri="{FF2B5EF4-FFF2-40B4-BE49-F238E27FC236}">
                  <a16:creationId xmlns:a16="http://schemas.microsoft.com/office/drawing/2014/main" xmlns="" id="{543315D9-FB56-1F58-A261-7872CB827265}"/>
                </a:ext>
              </a:extLst>
            </p:cNvPr>
            <p:cNvSpPr txBox="1"/>
            <p:nvPr/>
          </p:nvSpPr>
          <p:spPr>
            <a:xfrm>
              <a:off x="6450000" y="3620000"/>
              <a:ext cx="70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buNone/>
              </a:pPr>
              <a:r>
                <a:rPr lang="en-GB" sz="1200" b="1" noProof="0">
                  <a:solidFill>
                    <a:srgbClr val="242852"/>
                  </a:solidFill>
                </a:rPr>
                <a:t>7.4</a:t>
              </a:r>
            </a:p>
          </p:txBody>
        </p:sp>
        <p:sp>
          <p:nvSpPr>
            <p:cNvPr id="33" name="TextBox 750">
              <a:extLst>
                <a:ext uri="{FF2B5EF4-FFF2-40B4-BE49-F238E27FC236}">
                  <a16:creationId xmlns:a16="http://schemas.microsoft.com/office/drawing/2014/main" xmlns="" id="{3AD43365-5178-0CD9-5CCD-A726F98C4491}"/>
                </a:ext>
              </a:extLst>
            </p:cNvPr>
            <p:cNvSpPr txBox="1"/>
            <p:nvPr/>
          </p:nvSpPr>
          <p:spPr>
            <a:xfrm>
              <a:off x="353568" y="4080000"/>
              <a:ext cx="235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 rtl="0">
                <a:lnSpc>
                  <a:spcPct val="100000"/>
                </a:lnSpc>
                <a:buNone/>
              </a:pPr>
              <a:r>
                <a:rPr lang="en-GB" sz="1200" noProof="0">
                  <a:solidFill>
                    <a:srgbClr val="242852"/>
                  </a:solidFill>
                </a:rPr>
                <a:t>Body type: SUV / Off-road</a:t>
              </a:r>
            </a:p>
          </p:txBody>
        </p:sp>
        <p:sp>
          <p:nvSpPr>
            <p:cNvPr id="34" name="Shape 751">
              <a:extLst>
                <a:ext uri="{FF2B5EF4-FFF2-40B4-BE49-F238E27FC236}">
                  <a16:creationId xmlns:a16="http://schemas.microsoft.com/office/drawing/2014/main" xmlns="" id="{D9DEDD53-EF41-3A8A-357E-2D154B9C7580}"/>
                </a:ext>
              </a:extLst>
            </p:cNvPr>
            <p:cNvSpPr/>
            <p:nvPr/>
          </p:nvSpPr>
          <p:spPr>
            <a:xfrm>
              <a:off x="2800000" y="4098288"/>
              <a:ext cx="3550000" cy="219456"/>
            </a:xfrm>
            <a:prstGeom prst="rect">
              <a:avLst/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35" name="Shape 752">
              <a:extLst>
                <a:ext uri="{FF2B5EF4-FFF2-40B4-BE49-F238E27FC236}">
                  <a16:creationId xmlns:a16="http://schemas.microsoft.com/office/drawing/2014/main" xmlns="" id="{7C2CE8EF-4201-4A39-92A6-307B4E14D2AC}"/>
                </a:ext>
              </a:extLst>
            </p:cNvPr>
            <p:cNvSpPr/>
            <p:nvPr/>
          </p:nvSpPr>
          <p:spPr>
            <a:xfrm>
              <a:off x="2800000" y="4098288"/>
              <a:ext cx="1429163" cy="219456"/>
            </a:xfrm>
            <a:prstGeom prst="rect">
              <a:avLst/>
            </a:prstGeom>
            <a:solidFill>
              <a:srgbClr val="4A66AC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36" name="TextBox 753">
              <a:extLst>
                <a:ext uri="{FF2B5EF4-FFF2-40B4-BE49-F238E27FC236}">
                  <a16:creationId xmlns:a16="http://schemas.microsoft.com/office/drawing/2014/main" xmlns="" id="{E228D1DA-2FDE-1A86-1C45-2219A04CCBA8}"/>
                </a:ext>
              </a:extLst>
            </p:cNvPr>
            <p:cNvSpPr txBox="1"/>
            <p:nvPr/>
          </p:nvSpPr>
          <p:spPr>
            <a:xfrm>
              <a:off x="6450000" y="4080000"/>
              <a:ext cx="700000" cy="23812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 rtl="0">
                <a:lnSpc>
                  <a:spcPct val="100000"/>
                </a:lnSpc>
                <a:buNone/>
              </a:pPr>
              <a:r>
                <a:rPr lang="en-GB" sz="1200" b="1" noProof="0">
                  <a:solidFill>
                    <a:srgbClr val="242852"/>
                  </a:solidFill>
                </a:rPr>
                <a:t>5.5</a:t>
              </a:r>
            </a:p>
          </p:txBody>
        </p:sp>
      </p:grpSp>
      <p:sp>
        <p:nvSpPr>
          <p:cNvPr id="37" name="Shape 800">
            <a:extLst>
              <a:ext uri="{FF2B5EF4-FFF2-40B4-BE49-F238E27FC236}">
                <a16:creationId xmlns:a16="http://schemas.microsoft.com/office/drawing/2014/main" xmlns="" id="{2F245E5B-A3AC-60CC-4925-4AE291013A42}"/>
              </a:ext>
            </a:extLst>
          </p:cNvPr>
          <p:cNvSpPr/>
          <p:nvPr/>
        </p:nvSpPr>
        <p:spPr>
          <a:xfrm>
            <a:off x="7350000" y="1400000"/>
            <a:ext cx="4141224" cy="91440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</p:spPr>
        <p:txBody>
          <a:bodyPr/>
          <a:lstStyle/>
          <a:p>
            <a:endParaRPr lang="en-GB" noProof="0"/>
          </a:p>
        </p:txBody>
      </p:sp>
      <p:sp>
        <p:nvSpPr>
          <p:cNvPr id="38" name="TextBox 801">
            <a:extLst>
              <a:ext uri="{FF2B5EF4-FFF2-40B4-BE49-F238E27FC236}">
                <a16:creationId xmlns:a16="http://schemas.microsoft.com/office/drawing/2014/main" xmlns="" id="{C9376B00-4044-FB68-DF89-B00ED0DB11BC}"/>
              </a:ext>
            </a:extLst>
          </p:cNvPr>
          <p:cNvSpPr txBox="1"/>
          <p:nvPr/>
        </p:nvSpPr>
        <p:spPr>
          <a:xfrm>
            <a:off x="7532880" y="1528016"/>
            <a:ext cx="3775464" cy="6583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 rt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GB" sz="2400" b="1" noProof="0">
                <a:solidFill>
                  <a:srgbClr val="FFFFFF"/>
                </a:solidFill>
              </a:rPr>
              <a:t>13.7 g/km</a:t>
            </a:r>
          </a:p>
          <a:p>
            <a:pPr marL="0" indent="0" algn="l" rtl="0">
              <a:lnSpc>
                <a:spcPct val="90000"/>
              </a:lnSpc>
              <a:buNone/>
            </a:pPr>
            <a:r>
              <a:rPr lang="en-GB" sz="1100" noProof="0">
                <a:solidFill>
                  <a:srgbClr val="FFFFFF"/>
                </a:solidFill>
              </a:rPr>
              <a:t>Vehicle weight – the largest CO₂ driver</a:t>
            </a:r>
          </a:p>
        </p:txBody>
      </p:sp>
      <p:sp>
        <p:nvSpPr>
          <p:cNvPr id="39" name="TextBox 810">
            <a:extLst>
              <a:ext uri="{FF2B5EF4-FFF2-40B4-BE49-F238E27FC236}">
                <a16:creationId xmlns:a16="http://schemas.microsoft.com/office/drawing/2014/main" xmlns="" id="{2E45D0C7-25A8-7E5D-C034-9C01B8A58700}"/>
              </a:ext>
            </a:extLst>
          </p:cNvPr>
          <p:cNvSpPr txBox="1"/>
          <p:nvPr/>
        </p:nvSpPr>
        <p:spPr>
          <a:xfrm>
            <a:off x="7350000" y="2550000"/>
            <a:ext cx="4141224" cy="30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 rtl="0">
              <a:lnSpc>
                <a:spcPct val="150000"/>
              </a:lnSpc>
              <a:spcAft>
                <a:spcPts val="700"/>
              </a:spcAft>
              <a:buNone/>
            </a:pPr>
            <a:r>
              <a:rPr lang="en-GB" sz="1800" b="1" noProof="0">
                <a:solidFill>
                  <a:schemeClr val="tx2">
                    <a:lumMod val="25000"/>
                  </a:schemeClr>
                </a:solidFill>
              </a:rPr>
              <a:t>What this means for brands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chemeClr val="tx2">
                    <a:lumMod val="25000"/>
                  </a:schemeClr>
                </a:solidFill>
              </a:rPr>
              <a:t>Vehicle weight, petrol fuel &amp; engine size dominate – together they explain most of the CO₂ spread between cars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b="0" i="0" u="none" strike="noStrike" noProof="0">
                <a:solidFill>
                  <a:schemeClr val="tx2">
                    <a:lumMod val="25000"/>
                  </a:schemeClr>
                </a:solidFill>
                <a:effectLst/>
              </a:rPr>
              <a:t>Caveat: treat 13.7/12.4/12.1 as roughly tied, not a strict ranking – weight, engine size &amp; power are highly correlated in real cars, so SHAP can't cleanly separate credit between them</a:t>
            </a:r>
          </a:p>
          <a:p>
            <a:pPr marL="201168" indent="-201168" algn="l" rtl="0">
              <a:lnSpc>
                <a:spcPct val="95000"/>
              </a:lnSpc>
              <a:spcAft>
                <a:spcPts val="600"/>
              </a:spcAft>
              <a:buClr>
                <a:srgbClr val="629DD1"/>
              </a:buClr>
              <a:buFont typeface="Arial"/>
              <a:buChar char="•"/>
            </a:pPr>
            <a:r>
              <a:rPr lang="en-GB" sz="1600" noProof="0">
                <a:solidFill>
                  <a:schemeClr val="tx2">
                    <a:lumMod val="25000"/>
                  </a:schemeClr>
                </a:solidFill>
              </a:rPr>
              <a:t>NOx is driven by a different mix (especially diesel) – SHAP splits this out per target, unlike a single importance ranking</a:t>
            </a:r>
          </a:p>
        </p:txBody>
      </p:sp>
    </p:spTree>
    <p:extLst>
      <p:ext uri="{BB962C8B-B14F-4D97-AF65-F5344CB8AC3E}">
        <p14:creationId xmlns:p14="http://schemas.microsoft.com/office/powerpoint/2010/main" val="349309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2C0743-83D7-3CF3-7F86-05FD924A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C8BA9318-8F42-8756-825E-0A8C4FC21E8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C66A7E91-2D59-64E7-2C7B-A9958443C41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12</a:t>
            </a:fld>
            <a:endParaRPr lang="en-GB" noProof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xmlns="" id="{25775BBE-7C04-1FC9-0C3D-8BB8F6517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71544"/>
            <a:ext cx="11369040" cy="480000"/>
          </a:xfrm>
        </p:spPr>
        <p:txBody>
          <a:bodyPr lIns="0" tIns="0" rIns="0" bIns="0" rtlCol="0" anchor="t"/>
          <a:lstStyle/>
          <a:p>
            <a:r>
              <a:rPr lang="en-GB" sz="2800" noProof="0"/>
              <a:t>Problem #2: Framing the Question</a:t>
            </a:r>
          </a:p>
        </p:txBody>
      </p:sp>
      <p:sp>
        <p:nvSpPr>
          <p:cNvPr id="5" name="Shape 104">
            <a:extLst>
              <a:ext uri="{FF2B5EF4-FFF2-40B4-BE49-F238E27FC236}">
                <a16:creationId xmlns:a16="http://schemas.microsoft.com/office/drawing/2014/main" xmlns="" id="{1B739703-0186-A40B-97BC-0C393FFC5018}"/>
              </a:ext>
            </a:extLst>
          </p:cNvPr>
          <p:cNvSpPr/>
          <p:nvPr/>
        </p:nvSpPr>
        <p:spPr>
          <a:xfrm>
            <a:off x="420625" y="1061720"/>
            <a:ext cx="9137903" cy="1425448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noProof="0">
                <a:solidFill>
                  <a:schemeClr val="bg1"/>
                </a:solidFill>
              </a:rPr>
              <a:t>Context</a:t>
            </a:r>
          </a:p>
          <a:p>
            <a:r>
              <a:rPr lang="en-GB" sz="1600" noProof="0">
                <a:solidFill>
                  <a:schemeClr val="bg1"/>
                </a:solidFill>
              </a:rPr>
              <a:t>In France,  polluting vehicles are already taxed through the </a:t>
            </a:r>
            <a:r>
              <a:rPr lang="en-GB" sz="1600" b="1" i="1" noProof="0">
                <a:solidFill>
                  <a:schemeClr val="bg1"/>
                </a:solidFill>
              </a:rPr>
              <a:t>“malus écologique”, </a:t>
            </a:r>
            <a:r>
              <a:rPr lang="en-GB" sz="1600" noProof="0">
                <a:solidFill>
                  <a:schemeClr val="bg1"/>
                </a:solidFill>
              </a:rPr>
              <a:t>charged at purchase and tiered on CO2 emissions and vehicle mass, and separately labels vehicles through the Crit'Air sticker system. However, the penalty needs measured emission values, while Crit'Air assigns a class from fuel type and registration year alone. </a:t>
            </a:r>
          </a:p>
        </p:txBody>
      </p:sp>
      <p:pic>
        <p:nvPicPr>
          <p:cNvPr id="2" name="Image 1" descr="Vignettes Crit'Air : zoom sur le parc automobile en Gironde - a urba">
            <a:extLst>
              <a:ext uri="{FF2B5EF4-FFF2-40B4-BE49-F238E27FC236}">
                <a16:creationId xmlns:a16="http://schemas.microsoft.com/office/drawing/2014/main" xmlns="" id="{999FEBC9-764F-61ED-F806-EEC47A41A7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558528" y="1116766"/>
            <a:ext cx="1624964" cy="16367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5FCCE180-DB30-9744-18B5-8316D5E415D0}"/>
              </a:ext>
            </a:extLst>
          </p:cNvPr>
          <p:cNvSpPr txBox="1"/>
          <p:nvPr/>
        </p:nvSpPr>
        <p:spPr>
          <a:xfrm>
            <a:off x="420624" y="2629070"/>
            <a:ext cx="11369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noProof="0">
                <a:solidFill>
                  <a:schemeClr val="bg1"/>
                </a:solidFill>
              </a:rPr>
              <a:t>Idea </a:t>
            </a:r>
          </a:p>
          <a:p>
            <a:r>
              <a:rPr lang="en-GB" sz="1600" noProof="0">
                <a:solidFill>
                  <a:schemeClr val="bg1"/>
                </a:solidFill>
              </a:rPr>
              <a:t>To imagine a penalty scheme built on the Crit'Air format but where the class reflects the vehicle's real pollution profile with one grade to replace the current systeme of brackets : simpler to read, simpler to communicate, simpler to apply.  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xmlns="" id="{57D61A7D-57B6-67A8-7208-9AA650EACEBA}"/>
              </a:ext>
            </a:extLst>
          </p:cNvPr>
          <p:cNvGrpSpPr/>
          <p:nvPr/>
        </p:nvGrpSpPr>
        <p:grpSpPr>
          <a:xfrm>
            <a:off x="420624" y="3779923"/>
            <a:ext cx="11369039" cy="707886"/>
            <a:chOff x="420623" y="3241271"/>
            <a:chExt cx="11749744" cy="707886"/>
          </a:xfrm>
        </p:grpSpPr>
        <p:sp>
          <p:nvSpPr>
            <p:cNvPr id="18" name="Shape 104">
              <a:extLst>
                <a:ext uri="{FF2B5EF4-FFF2-40B4-BE49-F238E27FC236}">
                  <a16:creationId xmlns:a16="http://schemas.microsoft.com/office/drawing/2014/main" xmlns="" id="{4A4B3AD1-D0FD-914E-1A4D-DD1E59440DBA}"/>
                </a:ext>
              </a:extLst>
            </p:cNvPr>
            <p:cNvSpPr/>
            <p:nvPr/>
          </p:nvSpPr>
          <p:spPr>
            <a:xfrm>
              <a:off x="420623" y="3241271"/>
              <a:ext cx="11749744" cy="707886"/>
            </a:xfrm>
            <a:prstGeom prst="roundRect">
              <a:avLst>
                <a:gd name="adj" fmla="val 4000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r>
                <a:rPr lang="en-GB" noProof="0"/>
                <a:t> 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xmlns="" id="{B4C67819-F852-AADF-2737-B8BA7D1A1A47}"/>
                </a:ext>
              </a:extLst>
            </p:cNvPr>
            <p:cNvSpPr txBox="1"/>
            <p:nvPr/>
          </p:nvSpPr>
          <p:spPr>
            <a:xfrm>
              <a:off x="1225207" y="3272106"/>
              <a:ext cx="106531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800" noProof="0"/>
                <a:t>Can we give each vehicle a single pollution grade, from A to E, and apply the ecological penalty to the worst grades?</a:t>
              </a:r>
            </a:p>
          </p:txBody>
        </p:sp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xmlns="" id="{DD7B3D3F-CAF4-2FF3-E3E3-79CD9F75F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4" t="2307" r="23326" b="15134"/>
            <a:stretch>
              <a:fillRect/>
            </a:stretch>
          </p:blipFill>
          <p:spPr>
            <a:xfrm>
              <a:off x="710477" y="3324047"/>
              <a:ext cx="365760" cy="542334"/>
            </a:xfrm>
            <a:prstGeom prst="rect">
              <a:avLst/>
            </a:prstGeom>
          </p:spPr>
        </p:pic>
      </p:grpSp>
      <p:sp>
        <p:nvSpPr>
          <p:cNvPr id="22" name="Shape 104">
            <a:extLst>
              <a:ext uri="{FF2B5EF4-FFF2-40B4-BE49-F238E27FC236}">
                <a16:creationId xmlns:a16="http://schemas.microsoft.com/office/drawing/2014/main" xmlns="" id="{CED0E6DF-9FDD-CD8E-13E8-224A302F8125}"/>
              </a:ext>
            </a:extLst>
          </p:cNvPr>
          <p:cNvSpPr/>
          <p:nvPr/>
        </p:nvSpPr>
        <p:spPr>
          <a:xfrm>
            <a:off x="1283988" y="4722548"/>
            <a:ext cx="9936917" cy="1425448"/>
          </a:xfrm>
          <a:prstGeom prst="roundRect">
            <a:avLst>
              <a:gd name="adj" fmla="val 4000"/>
            </a:avLst>
          </a:prstGeom>
          <a:noFill/>
          <a:ln>
            <a:noFill/>
          </a:ln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A new label must be created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The grade must be assignable from the specifications known from the technical specifications alone, with no emission measurement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The grade system for tax purpose must be defendable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noProof="0">
              <a:solidFill>
                <a:schemeClr val="bg1"/>
              </a:solidFill>
            </a:endParaRP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xmlns="" id="{1923358A-F5B3-A68D-F44D-3C7441B4BA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7" r="6389" b="15783"/>
          <a:stretch>
            <a:fillRect/>
          </a:stretch>
        </p:blipFill>
        <p:spPr>
          <a:xfrm>
            <a:off x="549753" y="4971138"/>
            <a:ext cx="656573" cy="652412"/>
          </a:xfrm>
          <a:prstGeom prst="rect">
            <a:avLst/>
          </a:prstGeom>
        </p:spPr>
      </p:pic>
      <p:sp>
        <p:nvSpPr>
          <p:cNvPr id="3" name="TextBox 50">
            <a:extLst>
              <a:ext uri="{FF2B5EF4-FFF2-40B4-BE49-F238E27FC236}">
                <a16:creationId xmlns:a16="http://schemas.microsoft.com/office/drawing/2014/main" xmlns="" id="{52DC7E10-46AE-9B2D-0266-067756F2DC82}"/>
              </a:ext>
            </a:extLst>
          </p:cNvPr>
          <p:cNvSpPr txBox="1"/>
          <p:nvPr/>
        </p:nvSpPr>
        <p:spPr>
          <a:xfrm>
            <a:off x="353568" y="821109"/>
            <a:ext cx="11241024" cy="4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GB" sz="1600" i="1" noProof="0">
                <a:solidFill>
                  <a:srgbClr val="5B6270"/>
                </a:solidFill>
              </a:rPr>
              <a:t>From an existing sticker system to a grade that reflects real pollution.</a:t>
            </a:r>
          </a:p>
        </p:txBody>
      </p:sp>
    </p:spTree>
    <p:extLst>
      <p:ext uri="{BB962C8B-B14F-4D97-AF65-F5344CB8AC3E}">
        <p14:creationId xmlns:p14="http://schemas.microsoft.com/office/powerpoint/2010/main" val="146846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64801A8-11A9-EA52-6883-0B57EC912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1C19B246-F5DD-ABAB-AABD-806AC2ADF9E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E892E546-E762-CC8E-60F8-69041F39486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13</a:t>
            </a:fld>
            <a:endParaRPr lang="en-GB" noProof="0"/>
          </a:p>
        </p:txBody>
      </p:sp>
      <p:sp>
        <p:nvSpPr>
          <p:cNvPr id="11" name="Title">
            <a:extLst>
              <a:ext uri="{FF2B5EF4-FFF2-40B4-BE49-F238E27FC236}">
                <a16:creationId xmlns:a16="http://schemas.microsoft.com/office/drawing/2014/main" xmlns="" id="{930F903B-66E8-E90A-4700-A7744B41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71544"/>
            <a:ext cx="11369040" cy="480000"/>
          </a:xfrm>
        </p:spPr>
        <p:txBody>
          <a:bodyPr lIns="0" tIns="0" rIns="0" bIns="0" rtlCol="0" anchor="t"/>
          <a:lstStyle/>
          <a:p>
            <a:pPr rtl="0"/>
            <a:r>
              <a:rPr lang="en-GB" sz="2800" noProof="0"/>
              <a:t>Problem #2 : Methodology and Data</a:t>
            </a:r>
          </a:p>
        </p:txBody>
      </p:sp>
      <p:sp>
        <p:nvSpPr>
          <p:cNvPr id="2" name="TextBox 152">
            <a:extLst>
              <a:ext uri="{FF2B5EF4-FFF2-40B4-BE49-F238E27FC236}">
                <a16:creationId xmlns:a16="http://schemas.microsoft.com/office/drawing/2014/main" xmlns="" id="{25106AC1-AE52-AFDC-9748-89AF66801BC8}"/>
              </a:ext>
            </a:extLst>
          </p:cNvPr>
          <p:cNvSpPr txBox="1"/>
          <p:nvPr/>
        </p:nvSpPr>
        <p:spPr>
          <a:xfrm>
            <a:off x="353568" y="836168"/>
            <a:ext cx="11241024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GB" sz="1600" i="1" noProof="0">
                <a:solidFill>
                  <a:srgbClr val="5B6270"/>
                </a:solidFill>
              </a:rPr>
              <a:t>Building the multi-pollutant target, erecting strict leakage firewalls, and guaranteeing honest generalization.</a:t>
            </a:r>
          </a:p>
        </p:txBody>
      </p:sp>
      <p:sp>
        <p:nvSpPr>
          <p:cNvPr id="3" name="Shape 104">
            <a:extLst>
              <a:ext uri="{FF2B5EF4-FFF2-40B4-BE49-F238E27FC236}">
                <a16:creationId xmlns:a16="http://schemas.microsoft.com/office/drawing/2014/main" xmlns="" id="{C011C513-2241-5CB3-9289-7052A4AF00ED}"/>
              </a:ext>
            </a:extLst>
          </p:cNvPr>
          <p:cNvSpPr/>
          <p:nvPr/>
        </p:nvSpPr>
        <p:spPr>
          <a:xfrm>
            <a:off x="347472" y="1172463"/>
            <a:ext cx="6541008" cy="1660213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noProof="0">
                <a:solidFill>
                  <a:schemeClr val="bg1"/>
                </a:solidFill>
              </a:rPr>
              <a:t>       Build a Target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No pollution label existed in the source data, so we engineered one : the</a:t>
            </a:r>
            <a:r>
              <a:rPr lang="en-GB" sz="1600" b="1" noProof="0">
                <a:solidFill>
                  <a:schemeClr val="bg1"/>
                </a:solidFill>
              </a:rPr>
              <a:t> Pollution score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b="1" i="1" noProof="0">
                <a:solidFill>
                  <a:schemeClr val="bg1"/>
                </a:solidFill>
              </a:rPr>
              <a:t>pollution_score = CO2 50% + NOx 30% + particulates 20%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Discretised into quintiles with grades A to E, five balanced classes</a:t>
            </a:r>
          </a:p>
          <a:p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8" name="Shape 104">
            <a:extLst>
              <a:ext uri="{FF2B5EF4-FFF2-40B4-BE49-F238E27FC236}">
                <a16:creationId xmlns:a16="http://schemas.microsoft.com/office/drawing/2014/main" xmlns="" id="{DDE70499-025C-8529-50F3-A07B8B45561C}"/>
              </a:ext>
            </a:extLst>
          </p:cNvPr>
          <p:cNvSpPr/>
          <p:nvPr/>
        </p:nvSpPr>
        <p:spPr>
          <a:xfrm>
            <a:off x="7156706" y="1172464"/>
            <a:ext cx="4559806" cy="1660212"/>
          </a:xfrm>
          <a:prstGeom prst="roundRect">
            <a:avLst>
              <a:gd name="adj" fmla="val 4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noProof="0">
                <a:solidFill>
                  <a:schemeClr val="bg1"/>
                </a:solidFill>
              </a:rPr>
              <a:t>       Selecting the features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All emission measurements excluded from the inputs — otherwise the model would simply re-learn our own formula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600" noProof="0">
                <a:solidFill>
                  <a:schemeClr val="bg1"/>
                </a:solidFill>
              </a:rPr>
              <a:t>Focus only on </a:t>
            </a:r>
            <a:r>
              <a:rPr lang="en-GB" sz="1600" b="1" noProof="0">
                <a:solidFill>
                  <a:schemeClr val="bg1"/>
                </a:solidFill>
              </a:rPr>
              <a:t>thermic cars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xmlns="" id="{EEE105CD-D288-3B84-25ED-71CFECCAD0C4}"/>
              </a:ext>
            </a:extLst>
          </p:cNvPr>
          <p:cNvSpPr txBox="1"/>
          <p:nvPr/>
        </p:nvSpPr>
        <p:spPr>
          <a:xfrm>
            <a:off x="375748" y="3025639"/>
            <a:ext cx="2395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>
                <a:solidFill>
                  <a:schemeClr val="bg1"/>
                </a:solidFill>
              </a:rPr>
              <a:t>Eleven predictors kept : 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xmlns="" id="{CDE0AB10-0F09-D241-9C25-EA745E077880}"/>
              </a:ext>
            </a:extLst>
          </p:cNvPr>
          <p:cNvSpPr/>
          <p:nvPr/>
        </p:nvSpPr>
        <p:spPr>
          <a:xfrm>
            <a:off x="3154353" y="2915370"/>
            <a:ext cx="1224229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Kerb weight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xmlns="" id="{814CF73B-413D-6278-5FF4-94505CE75424}"/>
              </a:ext>
            </a:extLst>
          </p:cNvPr>
          <p:cNvSpPr/>
          <p:nvPr/>
        </p:nvSpPr>
        <p:spPr>
          <a:xfrm>
            <a:off x="4577350" y="2915370"/>
            <a:ext cx="1394919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Engine power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xmlns="" id="{1CEF0CB4-8755-8184-3266-25F2F7936234}"/>
              </a:ext>
            </a:extLst>
          </p:cNvPr>
          <p:cNvSpPr/>
          <p:nvPr/>
        </p:nvSpPr>
        <p:spPr>
          <a:xfrm>
            <a:off x="4578475" y="3282109"/>
            <a:ext cx="1034565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Fuel type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xmlns="" id="{1B4C1CAE-9740-8FCA-08ED-4C90C29037B7}"/>
              </a:ext>
            </a:extLst>
          </p:cNvPr>
          <p:cNvSpPr/>
          <p:nvPr/>
        </p:nvSpPr>
        <p:spPr>
          <a:xfrm>
            <a:off x="8336961" y="3282109"/>
            <a:ext cx="1034565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Segment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xmlns="" id="{8D46EF39-EE82-07C9-0C7F-CD696C894E65}"/>
              </a:ext>
            </a:extLst>
          </p:cNvPr>
          <p:cNvSpPr/>
          <p:nvPr/>
        </p:nvSpPr>
        <p:spPr>
          <a:xfrm>
            <a:off x="7179316" y="3282109"/>
            <a:ext cx="1034565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Body type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xmlns="" id="{E823D1B2-F8FF-E4FD-2830-A29169EFCDBB}"/>
              </a:ext>
            </a:extLst>
          </p:cNvPr>
          <p:cNvSpPr/>
          <p:nvPr/>
        </p:nvSpPr>
        <p:spPr>
          <a:xfrm>
            <a:off x="5736120" y="3282109"/>
            <a:ext cx="1333360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 dirty="0">
                <a:solidFill>
                  <a:srgbClr val="242852"/>
                </a:solidFill>
              </a:rPr>
              <a:t>Transmission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xmlns="" id="{531F84A8-BDD7-1C65-0956-025237859238}"/>
              </a:ext>
            </a:extLst>
          </p:cNvPr>
          <p:cNvSpPr/>
          <p:nvPr/>
        </p:nvSpPr>
        <p:spPr>
          <a:xfrm>
            <a:off x="9494606" y="3282109"/>
            <a:ext cx="737616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Hybrid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xmlns="" id="{B01EBD8D-CA84-1704-BD17-19B89EAFC7A8}"/>
              </a:ext>
            </a:extLst>
          </p:cNvPr>
          <p:cNvSpPr/>
          <p:nvPr/>
        </p:nvSpPr>
        <p:spPr>
          <a:xfrm>
            <a:off x="8357205" y="2915370"/>
            <a:ext cx="737616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Width</a:t>
            </a:r>
          </a:p>
        </p:txBody>
      </p:sp>
      <p:sp>
        <p:nvSpPr>
          <p:cNvPr id="30" name="Badge 132">
            <a:extLst>
              <a:ext uri="{FF2B5EF4-FFF2-40B4-BE49-F238E27FC236}">
                <a16:creationId xmlns:a16="http://schemas.microsoft.com/office/drawing/2014/main" xmlns="" id="{042639D5-DC7B-FC31-404A-2EF42B93521C}"/>
              </a:ext>
            </a:extLst>
          </p:cNvPr>
          <p:cNvSpPr/>
          <p:nvPr/>
        </p:nvSpPr>
        <p:spPr>
          <a:xfrm>
            <a:off x="420624" y="1267968"/>
            <a:ext cx="365760" cy="365760"/>
          </a:xfrm>
          <a:prstGeom prst="ellipse">
            <a:avLst/>
          </a:prstGeom>
          <a:solidFill>
            <a:srgbClr val="24285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01   </a:t>
            </a:r>
          </a:p>
        </p:txBody>
      </p:sp>
      <p:sp>
        <p:nvSpPr>
          <p:cNvPr id="31" name="Badge 132">
            <a:extLst>
              <a:ext uri="{FF2B5EF4-FFF2-40B4-BE49-F238E27FC236}">
                <a16:creationId xmlns:a16="http://schemas.microsoft.com/office/drawing/2014/main" xmlns="" id="{1A733D55-2941-D99D-08F9-D86B734DE8A0}"/>
              </a:ext>
            </a:extLst>
          </p:cNvPr>
          <p:cNvSpPr/>
          <p:nvPr/>
        </p:nvSpPr>
        <p:spPr>
          <a:xfrm>
            <a:off x="7205474" y="1267968"/>
            <a:ext cx="365760" cy="365760"/>
          </a:xfrm>
          <a:prstGeom prst="ellipse">
            <a:avLst/>
          </a:prstGeom>
          <a:solidFill>
            <a:srgbClr val="24285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02   </a:t>
            </a: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xmlns="" id="{44F0CBAB-7105-4702-BE35-A54A9B55ABC6}"/>
              </a:ext>
            </a:extLst>
          </p:cNvPr>
          <p:cNvGrpSpPr/>
          <p:nvPr/>
        </p:nvGrpSpPr>
        <p:grpSpPr>
          <a:xfrm>
            <a:off x="353568" y="3396277"/>
            <a:ext cx="11500864" cy="1060330"/>
            <a:chOff x="347472" y="3109655"/>
            <a:chExt cx="11500864" cy="1060330"/>
          </a:xfrm>
        </p:grpSpPr>
        <p:sp>
          <p:nvSpPr>
            <p:cNvPr id="9" name="Shape 104">
              <a:extLst>
                <a:ext uri="{FF2B5EF4-FFF2-40B4-BE49-F238E27FC236}">
                  <a16:creationId xmlns:a16="http://schemas.microsoft.com/office/drawing/2014/main" xmlns="" id="{9AF3237E-7CCE-5B9F-BF1C-374FF3E4D1CC}"/>
                </a:ext>
              </a:extLst>
            </p:cNvPr>
            <p:cNvSpPr/>
            <p:nvPr/>
          </p:nvSpPr>
          <p:spPr>
            <a:xfrm>
              <a:off x="347472" y="3109655"/>
              <a:ext cx="11500864" cy="1060330"/>
            </a:xfrm>
            <a:prstGeom prst="roundRect">
              <a:avLst>
                <a:gd name="adj" fmla="val 4000"/>
              </a:avLst>
            </a:prstGeom>
            <a:noFill/>
            <a:ln>
              <a:noFill/>
            </a:ln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lang="en-GB" b="1" noProof="0" dirty="0">
                  <a:solidFill>
                    <a:srgbClr val="242852"/>
                  </a:solidFill>
                </a:rPr>
                <a:t>       Preparing the data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noProof="0" dirty="0" smtClean="0">
                  <a:solidFill>
                    <a:srgbClr val="242852"/>
                  </a:solidFill>
                </a:rPr>
                <a:t>Categorical </a:t>
              </a:r>
              <a:r>
                <a:rPr lang="en-GB" sz="1600" noProof="0" dirty="0">
                  <a:solidFill>
                    <a:srgbClr val="242852"/>
                  </a:solidFill>
                </a:rPr>
                <a:t>variables one-hot encoded, numerical variables standardised for the linear model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noProof="0" dirty="0">
                  <a:solidFill>
                    <a:srgbClr val="242852"/>
                  </a:solidFill>
                </a:rPr>
                <a:t>Stratified 80/20 train/test split, </a:t>
              </a:r>
              <a:r>
                <a:rPr lang="en-GB" sz="1600" noProof="0" dirty="0" err="1">
                  <a:solidFill>
                    <a:srgbClr val="242852"/>
                  </a:solidFill>
                </a:rPr>
                <a:t>random_state</a:t>
              </a:r>
              <a:r>
                <a:rPr lang="en-GB" sz="1600" noProof="0" dirty="0">
                  <a:solidFill>
                    <a:srgbClr val="242852"/>
                  </a:solidFill>
                </a:rPr>
                <a:t>=42, test set never touched during training or tuning</a:t>
              </a:r>
            </a:p>
            <a:p>
              <a:r>
                <a:rPr lang="en-GB" sz="1600" noProof="0" dirty="0">
                  <a:solidFill>
                    <a:srgbClr val="242852"/>
                  </a:solidFill>
                </a:rPr>
                <a:t> </a:t>
              </a:r>
            </a:p>
          </p:txBody>
        </p:sp>
        <p:sp>
          <p:nvSpPr>
            <p:cNvPr id="32" name="Badge 132">
              <a:extLst>
                <a:ext uri="{FF2B5EF4-FFF2-40B4-BE49-F238E27FC236}">
                  <a16:creationId xmlns:a16="http://schemas.microsoft.com/office/drawing/2014/main" xmlns="" id="{3666BE12-BBC9-BE7B-35FE-372EB8DD16D4}"/>
                </a:ext>
              </a:extLst>
            </p:cNvPr>
            <p:cNvSpPr/>
            <p:nvPr/>
          </p:nvSpPr>
          <p:spPr>
            <a:xfrm>
              <a:off x="420624" y="3191149"/>
              <a:ext cx="365760" cy="365760"/>
            </a:xfrm>
            <a:prstGeom prst="ellipse">
              <a:avLst/>
            </a:prstGeom>
            <a:solidFill>
              <a:srgbClr val="242852"/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>
                <a:buNone/>
              </a:pPr>
              <a:r>
                <a:rPr lang="en-GB" sz="1600" b="1" noProof="0">
                  <a:solidFill>
                    <a:srgbClr val="FFFFFF"/>
                  </a:solidFill>
                </a:rPr>
                <a:t>03  </a:t>
              </a: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xmlns="" id="{ECDB2196-CE06-E950-E38F-2C9DC20710ED}"/>
              </a:ext>
            </a:extLst>
          </p:cNvPr>
          <p:cNvGrpSpPr/>
          <p:nvPr/>
        </p:nvGrpSpPr>
        <p:grpSpPr>
          <a:xfrm>
            <a:off x="343664" y="4553358"/>
            <a:ext cx="11439904" cy="1664560"/>
            <a:chOff x="343664" y="4152260"/>
            <a:chExt cx="11439904" cy="1954537"/>
          </a:xfrm>
          <a:solidFill>
            <a:schemeClr val="bg2"/>
          </a:solidFill>
        </p:grpSpPr>
        <p:sp>
          <p:nvSpPr>
            <p:cNvPr id="29" name="Shape 104">
              <a:extLst>
                <a:ext uri="{FF2B5EF4-FFF2-40B4-BE49-F238E27FC236}">
                  <a16:creationId xmlns:a16="http://schemas.microsoft.com/office/drawing/2014/main" xmlns="" id="{301D3DAB-6762-2D49-1D46-AAE3CB1E805A}"/>
                </a:ext>
              </a:extLst>
            </p:cNvPr>
            <p:cNvSpPr/>
            <p:nvPr/>
          </p:nvSpPr>
          <p:spPr>
            <a:xfrm>
              <a:off x="343664" y="4152260"/>
              <a:ext cx="11439904" cy="1954537"/>
            </a:xfrm>
            <a:prstGeom prst="roundRect">
              <a:avLst>
                <a:gd name="adj" fmla="val 4000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>
                <a:lnSpc>
                  <a:spcPct val="150000"/>
                </a:lnSpc>
              </a:pPr>
              <a:r>
                <a:rPr lang="en-GB" b="1" noProof="0"/>
                <a:t>      Training and comparing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noProof="0"/>
                <a:t>Five models trained 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600" noProof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GB" sz="1600" noProof="0"/>
            </a:p>
            <a:p>
              <a:endParaRPr lang="en-GB" sz="1600" noProof="0"/>
            </a:p>
            <a:p>
              <a:pPr marL="742950" lvl="1" indent="-285750">
                <a:buFont typeface="Wingdings" pitchFamily="2" charset="2"/>
                <a:buChar char="Ø"/>
              </a:pPr>
              <a:r>
                <a:rPr lang="en-GB" sz="1600" noProof="0"/>
                <a:t>Evaluated on accuracy, macro F1, 5-fold cross-validation and error severity</a:t>
              </a:r>
            </a:p>
          </p:txBody>
        </p:sp>
        <p:sp>
          <p:nvSpPr>
            <p:cNvPr id="33" name="Badge 132">
              <a:extLst>
                <a:ext uri="{FF2B5EF4-FFF2-40B4-BE49-F238E27FC236}">
                  <a16:creationId xmlns:a16="http://schemas.microsoft.com/office/drawing/2014/main" xmlns="" id="{8BCB2AA7-2956-8DCF-506D-CA41F59BCBCD}"/>
                </a:ext>
              </a:extLst>
            </p:cNvPr>
            <p:cNvSpPr/>
            <p:nvPr/>
          </p:nvSpPr>
          <p:spPr>
            <a:xfrm>
              <a:off x="408432" y="4152260"/>
              <a:ext cx="365760" cy="408339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lIns="0" tIns="0" rIns="0" bIns="0" anchor="ctr"/>
            <a:lstStyle/>
            <a:p>
              <a:pPr algn="ctr">
                <a:buNone/>
              </a:pPr>
              <a:r>
                <a:rPr lang="en-GB" sz="1600" b="1" noProof="0">
                  <a:solidFill>
                    <a:srgbClr val="242852"/>
                  </a:solidFill>
                </a:rPr>
                <a:t>04</a:t>
              </a:r>
              <a:r>
                <a:rPr lang="en-GB" sz="1600" b="1" noProof="0"/>
                <a:t>   </a:t>
              </a:r>
            </a:p>
          </p:txBody>
        </p:sp>
      </p:grp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xmlns="" id="{62A363C0-4E85-E3E2-553A-D890E229CBB4}"/>
              </a:ext>
            </a:extLst>
          </p:cNvPr>
          <p:cNvSpPr/>
          <p:nvPr/>
        </p:nvSpPr>
        <p:spPr>
          <a:xfrm>
            <a:off x="876680" y="5339918"/>
            <a:ext cx="1285190" cy="489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Logistic Regression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xmlns="" id="{5BAC60F2-6649-2896-95D7-EE53C158979F}"/>
              </a:ext>
            </a:extLst>
          </p:cNvPr>
          <p:cNvSpPr/>
          <p:nvPr/>
        </p:nvSpPr>
        <p:spPr>
          <a:xfrm>
            <a:off x="2858020" y="5339918"/>
            <a:ext cx="1025724" cy="489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Decision Tree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xmlns="" id="{D13A5EA7-2F0A-EBBD-E7B1-DD9E13B579DF}"/>
              </a:ext>
            </a:extLst>
          </p:cNvPr>
          <p:cNvSpPr/>
          <p:nvPr/>
        </p:nvSpPr>
        <p:spPr>
          <a:xfrm>
            <a:off x="4579894" y="5339918"/>
            <a:ext cx="1285190" cy="489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Random Forest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xmlns="" id="{42B15CE8-78CA-21EC-4E00-771FFFBA587C}"/>
              </a:ext>
            </a:extLst>
          </p:cNvPr>
          <p:cNvSpPr/>
          <p:nvPr/>
        </p:nvSpPr>
        <p:spPr>
          <a:xfrm>
            <a:off x="8710200" y="5339918"/>
            <a:ext cx="1452818" cy="489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Hist Gradient Boosting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xmlns="" id="{C2591BF2-D333-D111-F41F-C2AC83588584}"/>
              </a:ext>
            </a:extLst>
          </p:cNvPr>
          <p:cNvSpPr/>
          <p:nvPr/>
        </p:nvSpPr>
        <p:spPr>
          <a:xfrm>
            <a:off x="6561234" y="5339918"/>
            <a:ext cx="1452818" cy="4899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KNN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xmlns="" id="{189889B5-FB15-F61D-3730-98B166E5C6C9}"/>
              </a:ext>
            </a:extLst>
          </p:cNvPr>
          <p:cNvSpPr/>
          <p:nvPr/>
        </p:nvSpPr>
        <p:spPr>
          <a:xfrm>
            <a:off x="6171037" y="2915370"/>
            <a:ext cx="1987400" cy="31163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Engine displacement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xmlns="" id="{9D353F50-4E88-4D01-6183-4AFF1C37A924}"/>
              </a:ext>
            </a:extLst>
          </p:cNvPr>
          <p:cNvSpPr/>
          <p:nvPr/>
        </p:nvSpPr>
        <p:spPr>
          <a:xfrm>
            <a:off x="3420830" y="3282109"/>
            <a:ext cx="1034565" cy="322296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Rear track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xmlns="" id="{00E0F51E-68C3-977A-E837-1285417D6EA3}"/>
              </a:ext>
            </a:extLst>
          </p:cNvPr>
          <p:cNvSpPr/>
          <p:nvPr/>
        </p:nvSpPr>
        <p:spPr>
          <a:xfrm>
            <a:off x="9293590" y="2915370"/>
            <a:ext cx="1201969" cy="315554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noProof="0">
                <a:solidFill>
                  <a:srgbClr val="242852"/>
                </a:solidFill>
              </a:rPr>
              <a:t>Front track</a:t>
            </a:r>
          </a:p>
        </p:txBody>
      </p:sp>
    </p:spTree>
    <p:extLst>
      <p:ext uri="{BB962C8B-B14F-4D97-AF65-F5344CB8AC3E}">
        <p14:creationId xmlns:p14="http://schemas.microsoft.com/office/powerpoint/2010/main" val="166712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678B4E-F287-2090-9656-56EFD09AA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xmlns="" id="{F4311F2F-7960-18B7-CCB7-134E8EF0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71544"/>
            <a:ext cx="11369040" cy="480000"/>
          </a:xfrm>
        </p:spPr>
        <p:txBody>
          <a:bodyPr lIns="0" tIns="0" rIns="0" bIns="0" rtlCol="0" anchor="t"/>
          <a:lstStyle/>
          <a:p>
            <a:r>
              <a:rPr lang="en-GB" sz="2800" noProof="0"/>
              <a:t>Problem #2: Results</a:t>
            </a: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xmlns="" id="{82A016ED-7593-28C0-AE5B-85F1E3D080EB}"/>
              </a:ext>
            </a:extLst>
          </p:cNvPr>
          <p:cNvGrpSpPr/>
          <p:nvPr/>
        </p:nvGrpSpPr>
        <p:grpSpPr>
          <a:xfrm>
            <a:off x="3203171" y="1198987"/>
            <a:ext cx="2749296" cy="923456"/>
            <a:chOff x="3212592" y="1048512"/>
            <a:chExt cx="2749296" cy="923456"/>
          </a:xfrm>
        </p:grpSpPr>
        <p:sp>
          <p:nvSpPr>
            <p:cNvPr id="18" name="Shape 158">
              <a:extLst>
                <a:ext uri="{FF2B5EF4-FFF2-40B4-BE49-F238E27FC236}">
                  <a16:creationId xmlns:a16="http://schemas.microsoft.com/office/drawing/2014/main" xmlns="" id="{6010CA67-AD09-1A47-8FDF-556B27803CE8}"/>
                </a:ext>
              </a:extLst>
            </p:cNvPr>
            <p:cNvSpPr/>
            <p:nvPr/>
          </p:nvSpPr>
          <p:spPr>
            <a:xfrm>
              <a:off x="3212592" y="1048512"/>
              <a:ext cx="2739875" cy="914400"/>
            </a:xfrm>
            <a:prstGeom prst="roundRect">
              <a:avLst>
                <a:gd name="adj" fmla="val 8000"/>
              </a:avLst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19" name="TextBox 160">
              <a:extLst>
                <a:ext uri="{FF2B5EF4-FFF2-40B4-BE49-F238E27FC236}">
                  <a16:creationId xmlns:a16="http://schemas.microsoft.com/office/drawing/2014/main" xmlns="" id="{F3F05FF5-74BD-3D8C-61D0-76212DF9EE83}"/>
                </a:ext>
              </a:extLst>
            </p:cNvPr>
            <p:cNvSpPr txBox="1"/>
            <p:nvPr/>
          </p:nvSpPr>
          <p:spPr>
            <a:xfrm>
              <a:off x="3328416" y="1057568"/>
              <a:ext cx="2633472" cy="91440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85000" lnSpcReduction="10000"/>
            </a:bodyPr>
            <a:lstStyle/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r>
                <a:rPr lang="en-GB" sz="1600" noProof="0">
                  <a:solidFill>
                    <a:srgbClr val="242852"/>
                  </a:solidFill>
                </a:rPr>
                <a:t>Exact accuracy</a:t>
              </a:r>
            </a:p>
            <a:p>
              <a:pPr>
                <a:spcAft>
                  <a:spcPts val="200"/>
                </a:spcAft>
              </a:pPr>
              <a:r>
                <a:rPr lang="en-GB" sz="2400" b="1" noProof="0">
                  <a:solidFill>
                    <a:srgbClr val="4A66AC"/>
                  </a:solidFill>
                </a:rPr>
                <a:t>78,1% </a:t>
              </a:r>
              <a:r>
                <a:rPr lang="en-GB" sz="900" noProof="0">
                  <a:solidFill>
                    <a:schemeClr val="accent1"/>
                  </a:solidFill>
                </a:rPr>
                <a:t>3.9× the random baseline</a:t>
              </a:r>
              <a:endParaRPr lang="en-GB" sz="900" b="1" noProof="0">
                <a:solidFill>
                  <a:schemeClr val="accent1"/>
                </a:solidFill>
              </a:endParaRPr>
            </a:p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r>
                <a:rPr lang="en-GB" sz="1100" b="1" noProof="0">
                  <a:solidFill>
                    <a:schemeClr val="bg2"/>
                  </a:solidFill>
                </a:rPr>
                <a:t>Exact grade predicted accross test set vehicles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xmlns="" id="{5332FC82-6CAD-5310-0343-A83420FF4070}"/>
              </a:ext>
            </a:extLst>
          </p:cNvPr>
          <p:cNvGrpSpPr/>
          <p:nvPr/>
        </p:nvGrpSpPr>
        <p:grpSpPr>
          <a:xfrm>
            <a:off x="6058870" y="1208043"/>
            <a:ext cx="2749296" cy="914400"/>
            <a:chOff x="6068291" y="1057568"/>
            <a:chExt cx="2749296" cy="914400"/>
          </a:xfrm>
        </p:grpSpPr>
        <p:sp>
          <p:nvSpPr>
            <p:cNvPr id="37" name="Shape 158">
              <a:extLst>
                <a:ext uri="{FF2B5EF4-FFF2-40B4-BE49-F238E27FC236}">
                  <a16:creationId xmlns:a16="http://schemas.microsoft.com/office/drawing/2014/main" xmlns="" id="{533A32F0-775A-25FD-7D97-09AB80059446}"/>
                </a:ext>
              </a:extLst>
            </p:cNvPr>
            <p:cNvSpPr/>
            <p:nvPr/>
          </p:nvSpPr>
          <p:spPr>
            <a:xfrm>
              <a:off x="6068291" y="1057568"/>
              <a:ext cx="2739875" cy="914400"/>
            </a:xfrm>
            <a:prstGeom prst="roundRect">
              <a:avLst>
                <a:gd name="adj" fmla="val 8000"/>
              </a:avLst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38" name="TextBox 160">
              <a:extLst>
                <a:ext uri="{FF2B5EF4-FFF2-40B4-BE49-F238E27FC236}">
                  <a16:creationId xmlns:a16="http://schemas.microsoft.com/office/drawing/2014/main" xmlns="" id="{13CEAA20-2C85-C6A7-1025-A9A66843DE2F}"/>
                </a:ext>
              </a:extLst>
            </p:cNvPr>
            <p:cNvSpPr txBox="1"/>
            <p:nvPr/>
          </p:nvSpPr>
          <p:spPr>
            <a:xfrm>
              <a:off x="6184115" y="1066624"/>
              <a:ext cx="2633472" cy="9053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r>
                <a:rPr lang="en-GB" sz="1600" noProof="0">
                  <a:solidFill>
                    <a:srgbClr val="242852"/>
                  </a:solidFill>
                </a:rPr>
                <a:t>Adjacent accuracy</a:t>
              </a:r>
            </a:p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2400" b="1" noProof="0">
                  <a:solidFill>
                    <a:srgbClr val="4A66AC"/>
                  </a:solidFill>
                </a:rPr>
                <a:t>96,8%</a:t>
              </a:r>
            </a:p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r>
                <a:rPr lang="en-GB" sz="1100" b="1" noProof="0">
                  <a:solidFill>
                    <a:schemeClr val="bg2"/>
                  </a:solidFill>
                </a:rPr>
                <a:t>With ± class tolerance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xmlns="" id="{98D8F50F-9E32-0FDE-7B93-8234316533AF}"/>
              </a:ext>
            </a:extLst>
          </p:cNvPr>
          <p:cNvGrpSpPr/>
          <p:nvPr/>
        </p:nvGrpSpPr>
        <p:grpSpPr>
          <a:xfrm>
            <a:off x="8914569" y="1217099"/>
            <a:ext cx="2749296" cy="914400"/>
            <a:chOff x="8914569" y="1066624"/>
            <a:chExt cx="2749296" cy="914400"/>
          </a:xfrm>
        </p:grpSpPr>
        <p:sp>
          <p:nvSpPr>
            <p:cNvPr id="39" name="Shape 158">
              <a:extLst>
                <a:ext uri="{FF2B5EF4-FFF2-40B4-BE49-F238E27FC236}">
                  <a16:creationId xmlns:a16="http://schemas.microsoft.com/office/drawing/2014/main" xmlns="" id="{F0FECE2B-72FC-CC61-F25E-4267B09B35A6}"/>
                </a:ext>
              </a:extLst>
            </p:cNvPr>
            <p:cNvSpPr/>
            <p:nvPr/>
          </p:nvSpPr>
          <p:spPr>
            <a:xfrm>
              <a:off x="8914569" y="1066624"/>
              <a:ext cx="2739875" cy="914400"/>
            </a:xfrm>
            <a:prstGeom prst="roundRect">
              <a:avLst>
                <a:gd name="adj" fmla="val 8000"/>
              </a:avLst>
            </a:prstGeom>
            <a:solidFill>
              <a:srgbClr val="EDF2FB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40" name="TextBox 160">
              <a:extLst>
                <a:ext uri="{FF2B5EF4-FFF2-40B4-BE49-F238E27FC236}">
                  <a16:creationId xmlns:a16="http://schemas.microsoft.com/office/drawing/2014/main" xmlns="" id="{605D12E5-E153-DD3F-8D9C-8E689EF35B0F}"/>
                </a:ext>
              </a:extLst>
            </p:cNvPr>
            <p:cNvSpPr txBox="1"/>
            <p:nvPr/>
          </p:nvSpPr>
          <p:spPr>
            <a:xfrm>
              <a:off x="9030393" y="1075680"/>
              <a:ext cx="2633472" cy="90534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 fontScale="92500" lnSpcReduction="20000"/>
            </a:bodyPr>
            <a:lstStyle/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r>
                <a:rPr lang="en-GB" sz="1600" noProof="0">
                  <a:solidFill>
                    <a:srgbClr val="242852"/>
                  </a:solidFill>
                </a:rPr>
                <a:t>Extreme confusion</a:t>
              </a:r>
            </a:p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2400" b="1">
                  <a:solidFill>
                    <a:srgbClr val="4A66AC"/>
                  </a:solidFill>
                </a:rPr>
                <a:t>1</a:t>
              </a:r>
              <a:endParaRPr lang="en-GB" sz="2400" b="1" noProof="0">
                <a:solidFill>
                  <a:srgbClr val="4A66AC"/>
                </a:solidFill>
              </a:endParaRPr>
            </a:p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r>
                <a:rPr lang="en-GB" sz="1100" b="1" noProof="0">
                  <a:solidFill>
                    <a:srgbClr val="EDF3FB"/>
                  </a:solidFill>
                </a:rPr>
                <a:t>…</a:t>
              </a:r>
            </a:p>
          </p:txBody>
        </p: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xmlns="" id="{820F99DE-C061-9B06-5600-8D54B20B2E3F}"/>
              </a:ext>
            </a:extLst>
          </p:cNvPr>
          <p:cNvGrpSpPr/>
          <p:nvPr/>
        </p:nvGrpSpPr>
        <p:grpSpPr>
          <a:xfrm>
            <a:off x="347472" y="1208043"/>
            <a:ext cx="2749296" cy="923456"/>
            <a:chOff x="347472" y="1057568"/>
            <a:chExt cx="2749296" cy="923456"/>
          </a:xfrm>
        </p:grpSpPr>
        <p:sp>
          <p:nvSpPr>
            <p:cNvPr id="42" name="Shape 158">
              <a:extLst>
                <a:ext uri="{FF2B5EF4-FFF2-40B4-BE49-F238E27FC236}">
                  <a16:creationId xmlns:a16="http://schemas.microsoft.com/office/drawing/2014/main" xmlns="" id="{3F1C18AA-73DC-3EE9-1AE1-199D36E9F4CF}"/>
                </a:ext>
              </a:extLst>
            </p:cNvPr>
            <p:cNvSpPr/>
            <p:nvPr/>
          </p:nvSpPr>
          <p:spPr>
            <a:xfrm>
              <a:off x="347472" y="1057568"/>
              <a:ext cx="2739875" cy="914400"/>
            </a:xfrm>
            <a:prstGeom prst="roundRect">
              <a:avLst>
                <a:gd name="adj" fmla="val 8000"/>
              </a:avLst>
            </a:prstGeom>
            <a:solidFill>
              <a:schemeClr val="bg2"/>
            </a:solidFill>
            <a:ln>
              <a:noFill/>
            </a:ln>
          </p:spPr>
          <p:txBody>
            <a:bodyPr/>
            <a:lstStyle/>
            <a:p>
              <a:endParaRPr lang="en-GB" noProof="0"/>
            </a:p>
          </p:txBody>
        </p:sp>
        <p:sp>
          <p:nvSpPr>
            <p:cNvPr id="43" name="TextBox 160">
              <a:extLst>
                <a:ext uri="{FF2B5EF4-FFF2-40B4-BE49-F238E27FC236}">
                  <a16:creationId xmlns:a16="http://schemas.microsoft.com/office/drawing/2014/main" xmlns="" id="{D3FF7324-24C2-6C56-8626-60DB49EAD529}"/>
                </a:ext>
              </a:extLst>
            </p:cNvPr>
            <p:cNvSpPr txBox="1"/>
            <p:nvPr/>
          </p:nvSpPr>
          <p:spPr>
            <a:xfrm>
              <a:off x="463296" y="1066624"/>
              <a:ext cx="2633472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rmAutofit fontScale="85000" lnSpcReduction="20000"/>
            </a:bodyPr>
            <a:lstStyle/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r>
                <a:rPr lang="en-GB" sz="1600" noProof="0"/>
                <a:t>Model Selected</a:t>
              </a:r>
            </a:p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2400" b="1" noProof="0">
                  <a:solidFill>
                    <a:schemeClr val="tx2">
                      <a:lumMod val="90000"/>
                    </a:schemeClr>
                  </a:solidFill>
                </a:rPr>
                <a:t>Hist Gradient </a:t>
              </a:r>
            </a:p>
            <a:p>
              <a:pPr marL="0" indent="0" algn="l" rtl="0">
                <a:lnSpc>
                  <a:spcPct val="100000"/>
                </a:lnSpc>
                <a:spcAft>
                  <a:spcPts val="200"/>
                </a:spcAft>
                <a:buNone/>
              </a:pPr>
              <a:r>
                <a:rPr lang="en-GB" sz="2400" b="1" noProof="0">
                  <a:solidFill>
                    <a:schemeClr val="tx2">
                      <a:lumMod val="90000"/>
                    </a:schemeClr>
                  </a:solidFill>
                </a:rPr>
                <a:t>Boosting </a:t>
              </a:r>
            </a:p>
            <a:p>
              <a:pPr marL="0" indent="0" algn="l" rtl="0">
                <a:lnSpc>
                  <a:spcPct val="170000"/>
                </a:lnSpc>
                <a:spcAft>
                  <a:spcPts val="200"/>
                </a:spcAft>
                <a:buNone/>
              </a:pPr>
              <a:endParaRPr lang="en-GB" sz="1100" b="1" noProof="0">
                <a:solidFill>
                  <a:srgbClr val="EDF3FB"/>
                </a:solidFill>
              </a:endParaRPr>
            </a:p>
          </p:txBody>
        </p:sp>
      </p:grpSp>
      <p:sp>
        <p:nvSpPr>
          <p:cNvPr id="2" name="Shape 104">
            <a:extLst>
              <a:ext uri="{FF2B5EF4-FFF2-40B4-BE49-F238E27FC236}">
                <a16:creationId xmlns:a16="http://schemas.microsoft.com/office/drawing/2014/main" xmlns="" id="{B8027272-2ABB-E9D4-4263-3D3E6C422AD2}"/>
              </a:ext>
            </a:extLst>
          </p:cNvPr>
          <p:cNvSpPr/>
          <p:nvPr/>
        </p:nvSpPr>
        <p:spPr>
          <a:xfrm>
            <a:off x="347472" y="2310355"/>
            <a:ext cx="6138672" cy="1118645"/>
          </a:xfrm>
          <a:prstGeom prst="roundRect">
            <a:avLst>
              <a:gd name="adj" fmla="val 4000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r>
              <a:rPr lang="en-GB" sz="1600" noProof="0" dirty="0">
                <a:solidFill>
                  <a:schemeClr val="bg1"/>
                </a:solidFill>
              </a:rPr>
              <a:t>Five families </a:t>
            </a:r>
            <a:r>
              <a:rPr lang="en-GB" sz="1600" noProof="0" dirty="0" smtClean="0">
                <a:solidFill>
                  <a:schemeClr val="bg1"/>
                </a:solidFill>
              </a:rPr>
              <a:t>compared. </a:t>
            </a:r>
            <a:endParaRPr lang="en-GB" sz="1600" noProof="0" dirty="0">
              <a:solidFill>
                <a:schemeClr val="bg1"/>
              </a:solidFill>
            </a:endParaRPr>
          </a:p>
          <a:p>
            <a:r>
              <a:rPr lang="en-GB" sz="1600" noProof="0" dirty="0">
                <a:solidFill>
                  <a:schemeClr val="bg1"/>
                </a:solidFill>
              </a:rPr>
              <a:t>Selected for the fewest severe errors, not the highest raw accuracy.</a:t>
            </a:r>
          </a:p>
        </p:txBody>
      </p:sp>
      <p:sp>
        <p:nvSpPr>
          <p:cNvPr id="3" name="Shape 104">
            <a:extLst>
              <a:ext uri="{FF2B5EF4-FFF2-40B4-BE49-F238E27FC236}">
                <a16:creationId xmlns:a16="http://schemas.microsoft.com/office/drawing/2014/main" xmlns="" id="{277F378E-2F9F-6695-89B0-36598EFCA960}"/>
              </a:ext>
            </a:extLst>
          </p:cNvPr>
          <p:cNvSpPr/>
          <p:nvPr/>
        </p:nvSpPr>
        <p:spPr>
          <a:xfrm>
            <a:off x="347472" y="3543688"/>
            <a:ext cx="6138672" cy="1616974"/>
          </a:xfrm>
          <a:prstGeom prst="roundRect">
            <a:avLst>
              <a:gd name="adj" fmla="val 4000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r>
              <a:rPr lang="en-GB" sz="1600" noProof="0">
                <a:solidFill>
                  <a:schemeClr val="bg1"/>
                </a:solidFill>
              </a:rPr>
              <a:t>Errors concentrate on the diagonal and its immediate neighbours. Grades B and C are the hardest; A and E are the best identified (F1 0.87 each)</a:t>
            </a:r>
          </a:p>
          <a:p>
            <a:r>
              <a:rPr lang="en-GB" sz="1600" noProof="0">
                <a:solidFill>
                  <a:schemeClr val="bg1"/>
                </a:solidFill>
              </a:rPr>
              <a:t>No clean vehicle is graded as a heavy polluter, and no polluter is waved through.</a:t>
            </a:r>
          </a:p>
        </p:txBody>
      </p:sp>
      <p:sp>
        <p:nvSpPr>
          <p:cNvPr id="6" name="Shape 104">
            <a:extLst>
              <a:ext uri="{FF2B5EF4-FFF2-40B4-BE49-F238E27FC236}">
                <a16:creationId xmlns:a16="http://schemas.microsoft.com/office/drawing/2014/main" xmlns="" id="{ACAE6FEE-A13D-5A7F-5E20-8D104167E1A2}"/>
              </a:ext>
            </a:extLst>
          </p:cNvPr>
          <p:cNvSpPr/>
          <p:nvPr/>
        </p:nvSpPr>
        <p:spPr>
          <a:xfrm>
            <a:off x="347472" y="5280379"/>
            <a:ext cx="6138672" cy="956406"/>
          </a:xfrm>
          <a:prstGeom prst="roundRect">
            <a:avLst>
              <a:gd name="adj" fmla="val 4000"/>
            </a:avLst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anchor="ctr"/>
          <a:lstStyle/>
          <a:p>
            <a:r>
              <a:rPr lang="en-GB" sz="1600" noProof="0">
                <a:solidFill>
                  <a:schemeClr val="bg1"/>
                </a:solidFill>
              </a:rPr>
              <a:t>One grade off adjusts the amount. Four grades off charges a clean car or lets a polluter escape. </a:t>
            </a:r>
          </a:p>
          <a:p>
            <a:r>
              <a:rPr lang="en-GB" sz="1600" noProof="0">
                <a:solidFill>
                  <a:schemeClr val="bg1"/>
                </a:solidFill>
              </a:rPr>
              <a:t>That is the criterion the model meets.</a:t>
            </a:r>
          </a:p>
        </p:txBody>
      </p:sp>
      <p:sp>
        <p:nvSpPr>
          <p:cNvPr id="7" name="Espace réservé de la date 5">
            <a:extLst>
              <a:ext uri="{FF2B5EF4-FFF2-40B4-BE49-F238E27FC236}">
                <a16:creationId xmlns:a16="http://schemas.microsoft.com/office/drawing/2014/main" xmlns="" id="{CBC434D5-FFBA-CC12-1F49-6D1D33361301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420624" y="6292334"/>
            <a:ext cx="10933176" cy="182880"/>
          </a:xfrm>
        </p:spPr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4" name="TextBox 152">
            <a:extLst>
              <a:ext uri="{FF2B5EF4-FFF2-40B4-BE49-F238E27FC236}">
                <a16:creationId xmlns:a16="http://schemas.microsoft.com/office/drawing/2014/main" xmlns="" id="{791B8833-4598-B06E-BE32-B5CAED185A6B}"/>
              </a:ext>
            </a:extLst>
          </p:cNvPr>
          <p:cNvSpPr txBox="1"/>
          <p:nvPr/>
        </p:nvSpPr>
        <p:spPr>
          <a:xfrm>
            <a:off x="353568" y="836168"/>
            <a:ext cx="11241024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r>
              <a:rPr lang="en-GB" sz="1600" i="1" noProof="0">
                <a:solidFill>
                  <a:srgbClr val="5B6270"/>
                </a:solidFill>
              </a:rPr>
              <a:t>One grade, five classes — and errors that stay where they can be afforded.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9DCB386-B605-2DF1-7680-FF5B213EC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539" y="2310355"/>
            <a:ext cx="4610053" cy="399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3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889BED-A3CD-15B9-8052-1EB32A5FF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xmlns="" id="{0E9A369D-D6BF-B2DA-D1C9-AE52AC3064D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xmlns="" id="{83C24821-F874-604D-997B-0AC4847C971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 rtl="0"/>
            <a:fld id="{7782931A-7D25-4B4B-9464-57AE418934A3}" type="slidenum">
              <a:rPr lang="en-GB" noProof="0" smtClean="0"/>
              <a:pPr rtl="0"/>
              <a:t>15</a:t>
            </a:fld>
            <a:endParaRPr lang="en-GB" noProof="0"/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xmlns="" id="{74514DC5-DBD6-180B-2B02-3F9047A3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53256"/>
            <a:ext cx="11369040" cy="480000"/>
          </a:xfrm>
        </p:spPr>
        <p:txBody>
          <a:bodyPr lIns="0" tIns="0" rIns="0" bIns="0" rtlCol="0" anchor="t"/>
          <a:lstStyle/>
          <a:p>
            <a:pPr rtl="0"/>
            <a:r>
              <a:rPr lang="en-GB" sz="2800" noProof="0" dirty="0" err="1" smtClean="0"/>
              <a:t>Learnings</a:t>
            </a:r>
            <a:endParaRPr lang="en-GB" sz="2800" noProof="0" dirty="0"/>
          </a:p>
        </p:txBody>
      </p:sp>
      <p:sp>
        <p:nvSpPr>
          <p:cNvPr id="8" name="Espace réservé pour une image  3">
            <a:extLst>
              <a:ext uri="{FF2B5EF4-FFF2-40B4-BE49-F238E27FC236}">
                <a16:creationId xmlns:a16="http://schemas.microsoft.com/office/drawing/2014/main" xmlns="" id="{1B31CCCC-BF52-899B-3803-5B59566D549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93230" y="1199132"/>
            <a:ext cx="10861829" cy="1293830"/>
          </a:xfrm>
        </p:spPr>
        <p:txBody>
          <a:bodyPr/>
          <a:lstStyle/>
          <a:p>
            <a:pPr marL="0" indent="0">
              <a:buNone/>
            </a:pPr>
            <a:r>
              <a:rPr lang="en-GB" sz="1800" noProof="0" dirty="0" smtClean="0"/>
              <a:t>The </a:t>
            </a:r>
            <a:r>
              <a:rPr lang="en-GB" sz="1800" noProof="0" dirty="0"/>
              <a:t>French catalogue and the European register each have notable weaknesses and a few strengths</a:t>
            </a:r>
            <a:r>
              <a:rPr lang="en-GB" sz="1800" noProof="0" dirty="0" smtClean="0"/>
              <a:t>. After intense investigation to find best solutions, a realist approach was adopted: accepting pragmatic </a:t>
            </a:r>
            <a:r>
              <a:rPr lang="en-GB" sz="1800" noProof="0" dirty="0"/>
              <a:t>trade-offs aimed to produce a dataset that opens up analytical opportunities rather than following full methodological rigour. Any analysis built on this data must </a:t>
            </a:r>
            <a:r>
              <a:rPr lang="en-GB" sz="1800" noProof="0" dirty="0" smtClean="0"/>
              <a:t>therefore take </a:t>
            </a:r>
            <a:r>
              <a:rPr lang="en-GB" sz="1800" noProof="0" dirty="0"/>
              <a:t>account </a:t>
            </a:r>
            <a:r>
              <a:rPr lang="en-GB" sz="1800" noProof="0" dirty="0" smtClean="0"/>
              <a:t>of the limitations </a:t>
            </a:r>
            <a:r>
              <a:rPr lang="en-GB" sz="1800" noProof="0" dirty="0"/>
              <a:t>and </a:t>
            </a:r>
            <a:r>
              <a:rPr lang="en-GB" sz="1800" noProof="0" dirty="0" smtClean="0"/>
              <a:t>uncertainties in the data.</a:t>
            </a:r>
            <a:endParaRPr lang="en-GB" sz="1800" noProof="0" dirty="0"/>
          </a:p>
        </p:txBody>
      </p:sp>
      <p:sp>
        <p:nvSpPr>
          <p:cNvPr id="11" name="Badge 108">
            <a:extLst>
              <a:ext uri="{FF2B5EF4-FFF2-40B4-BE49-F238E27FC236}">
                <a16:creationId xmlns:a16="http://schemas.microsoft.com/office/drawing/2014/main" xmlns="" id="{058D10EE-17C2-4349-41B3-2D73F92AEC50}"/>
              </a:ext>
            </a:extLst>
          </p:cNvPr>
          <p:cNvSpPr/>
          <p:nvPr/>
        </p:nvSpPr>
        <p:spPr>
          <a:xfrm>
            <a:off x="366114" y="1149090"/>
            <a:ext cx="391284" cy="384048"/>
          </a:xfrm>
          <a:prstGeom prst="ellipse">
            <a:avLst/>
          </a:prstGeom>
          <a:solidFill>
            <a:srgbClr val="4A66A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Badge 112">
            <a:extLst>
              <a:ext uri="{FF2B5EF4-FFF2-40B4-BE49-F238E27FC236}">
                <a16:creationId xmlns:a16="http://schemas.microsoft.com/office/drawing/2014/main" xmlns="" id="{0C4AA949-2DA7-D084-4F63-727F5A89EE55}"/>
              </a:ext>
            </a:extLst>
          </p:cNvPr>
          <p:cNvSpPr/>
          <p:nvPr/>
        </p:nvSpPr>
        <p:spPr>
          <a:xfrm>
            <a:off x="366114" y="2705724"/>
            <a:ext cx="391284" cy="384048"/>
          </a:xfrm>
          <a:prstGeom prst="ellipse">
            <a:avLst/>
          </a:prstGeom>
          <a:solidFill>
            <a:srgbClr val="4A66A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Badge 112">
            <a:extLst>
              <a:ext uri="{FF2B5EF4-FFF2-40B4-BE49-F238E27FC236}">
                <a16:creationId xmlns:a16="http://schemas.microsoft.com/office/drawing/2014/main" xmlns="" id="{AB8DD42A-05FA-4D25-76D3-50762187176B}"/>
              </a:ext>
            </a:extLst>
          </p:cNvPr>
          <p:cNvSpPr/>
          <p:nvPr/>
        </p:nvSpPr>
        <p:spPr>
          <a:xfrm>
            <a:off x="366114" y="4162436"/>
            <a:ext cx="391284" cy="384048"/>
          </a:xfrm>
          <a:prstGeom prst="ellipse">
            <a:avLst/>
          </a:prstGeom>
          <a:solidFill>
            <a:srgbClr val="4A66AC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GB" sz="1600" b="1" noProof="0" smtClean="0">
                <a:solidFill>
                  <a:srgbClr val="FFFFFF"/>
                </a:solidFill>
              </a:rPr>
              <a:t>3</a:t>
            </a:r>
            <a:endParaRPr lang="en-GB" sz="1600" b="1" noProof="0" dirty="0">
              <a:solidFill>
                <a:srgbClr val="FFFFFF"/>
              </a:solidFill>
            </a:endParaRPr>
          </a:p>
        </p:txBody>
      </p:sp>
      <p:sp>
        <p:nvSpPr>
          <p:cNvPr id="16" name="Espace réservé pour une image  3">
            <a:extLst>
              <a:ext uri="{FF2B5EF4-FFF2-40B4-BE49-F238E27FC236}">
                <a16:creationId xmlns:a16="http://schemas.microsoft.com/office/drawing/2014/main" xmlns="" id="{1B31CCCC-BF52-899B-3803-5B59566D5496}"/>
              </a:ext>
            </a:extLst>
          </p:cNvPr>
          <p:cNvSpPr txBox="1">
            <a:spLocks/>
          </p:cNvSpPr>
          <p:nvPr/>
        </p:nvSpPr>
        <p:spPr>
          <a:xfrm>
            <a:off x="893230" y="2755865"/>
            <a:ext cx="10861829" cy="129383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 smtClean="0"/>
              <a:t>So </a:t>
            </a:r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smtClean="0"/>
              <a:t>do </a:t>
            </a:r>
            <a:r>
              <a:rPr lang="de-DE" sz="1800" dirty="0" err="1" smtClean="0"/>
              <a:t>these</a:t>
            </a:r>
            <a:r>
              <a:rPr lang="de-DE" sz="1800" dirty="0" smtClean="0"/>
              <a:t> </a:t>
            </a:r>
            <a:r>
              <a:rPr lang="de-DE" sz="1800" dirty="0" err="1" smtClean="0"/>
              <a:t>modelling</a:t>
            </a:r>
            <a:r>
              <a:rPr lang="de-DE" sz="1800" dirty="0" smtClean="0"/>
              <a:t> </a:t>
            </a:r>
            <a:r>
              <a:rPr lang="de-DE" sz="1800" dirty="0" err="1" smtClean="0"/>
              <a:t>outcomes</a:t>
            </a:r>
            <a:r>
              <a:rPr lang="de-DE" sz="1800" dirty="0" smtClean="0"/>
              <a:t> </a:t>
            </a:r>
            <a:r>
              <a:rPr lang="de-DE" sz="1800" dirty="0" err="1"/>
              <a:t>mean</a:t>
            </a:r>
            <a:r>
              <a:rPr lang="de-DE" sz="1800" dirty="0"/>
              <a:t>? A </a:t>
            </a:r>
            <a:r>
              <a:rPr lang="de-DE" sz="1800" dirty="0" err="1"/>
              <a:t>truly</a:t>
            </a:r>
            <a:r>
              <a:rPr lang="de-DE" sz="1800" dirty="0"/>
              <a:t> </a:t>
            </a:r>
            <a:r>
              <a:rPr lang="de-DE" sz="1800" dirty="0" err="1"/>
              <a:t>emission-free</a:t>
            </a:r>
            <a:r>
              <a:rPr lang="de-DE" sz="1800" dirty="0"/>
              <a:t> </a:t>
            </a:r>
            <a:r>
              <a:rPr lang="de-DE" sz="1800" dirty="0" err="1"/>
              <a:t>car</a:t>
            </a:r>
            <a:r>
              <a:rPr lang="de-DE" sz="1800" dirty="0"/>
              <a:t> </a:t>
            </a:r>
            <a:r>
              <a:rPr lang="de-DE" sz="1800" dirty="0" err="1"/>
              <a:t>doesn't</a:t>
            </a:r>
            <a:r>
              <a:rPr lang="de-DE" sz="1800" dirty="0"/>
              <a:t> </a:t>
            </a:r>
            <a:r>
              <a:rPr lang="de-DE" sz="1800" dirty="0" err="1"/>
              <a:t>really</a:t>
            </a:r>
            <a:r>
              <a:rPr lang="de-DE" sz="1800" dirty="0"/>
              <a:t> </a:t>
            </a:r>
            <a:r>
              <a:rPr lang="de-DE" sz="1800" dirty="0" err="1"/>
              <a:t>exist</a:t>
            </a:r>
            <a:r>
              <a:rPr lang="de-DE" sz="1800" dirty="0"/>
              <a:t> - 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improve</a:t>
            </a:r>
            <a:r>
              <a:rPr lang="de-DE" sz="1800" dirty="0"/>
              <a:t> CO₂ </a:t>
            </a:r>
            <a:r>
              <a:rPr lang="de-DE" sz="1800" dirty="0" err="1"/>
              <a:t>and</a:t>
            </a:r>
            <a:r>
              <a:rPr lang="de-DE" sz="1800" dirty="0"/>
              <a:t> </a:t>
            </a:r>
            <a:r>
              <a:rPr lang="de-DE" sz="1800" dirty="0" err="1"/>
              <a:t>NOx</a:t>
            </a:r>
            <a:r>
              <a:rPr lang="de-DE" sz="1800" dirty="0"/>
              <a:t>, but </a:t>
            </a:r>
            <a:r>
              <a:rPr lang="de-DE" sz="1800" dirty="0" err="1"/>
              <a:t>there's</a:t>
            </a:r>
            <a:r>
              <a:rPr lang="de-DE" sz="1800" dirty="0"/>
              <a:t> </a:t>
            </a:r>
            <a:r>
              <a:rPr lang="de-DE" sz="1800" dirty="0" err="1"/>
              <a:t>always</a:t>
            </a:r>
            <a:r>
              <a:rPr lang="de-DE" sz="1800" dirty="0"/>
              <a:t> </a:t>
            </a:r>
            <a:r>
              <a:rPr lang="de-DE" sz="1800" dirty="0" err="1"/>
              <a:t>something</a:t>
            </a:r>
            <a:r>
              <a:rPr lang="de-DE" sz="1800" dirty="0"/>
              <a:t> </a:t>
            </a:r>
            <a:r>
              <a:rPr lang="de-DE" sz="1800" dirty="0" err="1"/>
              <a:t>else</a:t>
            </a:r>
            <a:r>
              <a:rPr lang="de-DE" sz="1800" dirty="0"/>
              <a:t>, </a:t>
            </a:r>
            <a:r>
              <a:rPr lang="de-DE" sz="1800" dirty="0" err="1"/>
              <a:t>like</a:t>
            </a:r>
            <a:r>
              <a:rPr lang="de-DE" sz="1800" dirty="0"/>
              <a:t> </a:t>
            </a:r>
            <a:r>
              <a:rPr lang="de-DE" sz="1800" dirty="0" err="1"/>
              <a:t>production</a:t>
            </a:r>
            <a:r>
              <a:rPr lang="de-DE" sz="1800" dirty="0"/>
              <a:t> </a:t>
            </a:r>
            <a:r>
              <a:rPr lang="de-DE" sz="1800" dirty="0" err="1"/>
              <a:t>emissions</a:t>
            </a:r>
            <a:r>
              <a:rPr lang="de-DE" sz="1800" dirty="0"/>
              <a:t>,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you're</a:t>
            </a:r>
            <a:r>
              <a:rPr lang="de-DE" sz="1800" dirty="0"/>
              <a:t> not </a:t>
            </a:r>
            <a:r>
              <a:rPr lang="de-DE" sz="1800" dirty="0" err="1"/>
              <a:t>even</a:t>
            </a:r>
            <a:r>
              <a:rPr lang="de-DE" sz="1800" dirty="0"/>
              <a:t> </a:t>
            </a:r>
            <a:r>
              <a:rPr lang="de-DE" sz="1800" dirty="0" err="1"/>
              <a:t>measuring</a:t>
            </a:r>
            <a:r>
              <a:rPr lang="de-DE" sz="1800" dirty="0"/>
              <a:t>. </a:t>
            </a:r>
            <a:r>
              <a:rPr lang="de-DE" sz="1800" dirty="0" err="1"/>
              <a:t>And</a:t>
            </a:r>
            <a:r>
              <a:rPr lang="de-DE" sz="1800" dirty="0"/>
              <a:t> </a:t>
            </a:r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has</a:t>
            </a:r>
            <a:r>
              <a:rPr lang="de-DE" sz="1800" dirty="0"/>
              <a:t> </a:t>
            </a:r>
            <a:r>
              <a:rPr lang="de-DE" sz="1800" dirty="0" err="1"/>
              <a:t>this</a:t>
            </a:r>
            <a:r>
              <a:rPr lang="de-DE" sz="1800" dirty="0"/>
              <a:t> </a:t>
            </a:r>
            <a:r>
              <a:rPr lang="de-DE" sz="1800" dirty="0" err="1"/>
              <a:t>project</a:t>
            </a:r>
            <a:r>
              <a:rPr lang="de-DE" sz="1800" dirty="0"/>
              <a:t> </a:t>
            </a:r>
            <a:r>
              <a:rPr lang="de-DE" sz="1800" dirty="0" err="1"/>
              <a:t>taught</a:t>
            </a:r>
            <a:r>
              <a:rPr lang="de-DE" sz="1800" dirty="0"/>
              <a:t> </a:t>
            </a:r>
            <a:r>
              <a:rPr lang="de-DE" sz="1800" dirty="0" err="1"/>
              <a:t>us</a:t>
            </a:r>
            <a:r>
              <a:rPr lang="de-DE" sz="1800" dirty="0"/>
              <a:t>? This </a:t>
            </a:r>
            <a:r>
              <a:rPr lang="de-DE" sz="1800" dirty="0" err="1"/>
              <a:t>project</a:t>
            </a:r>
            <a:r>
              <a:rPr lang="de-DE" sz="1800" dirty="0"/>
              <a:t> </a:t>
            </a:r>
            <a:r>
              <a:rPr lang="de-DE" sz="1800" dirty="0" err="1"/>
              <a:t>showed</a:t>
            </a:r>
            <a:r>
              <a:rPr lang="de-DE" sz="1800" dirty="0"/>
              <a:t> </a:t>
            </a:r>
            <a:r>
              <a:rPr lang="de-DE" sz="1800" dirty="0" err="1"/>
              <a:t>us</a:t>
            </a:r>
            <a:r>
              <a:rPr lang="de-DE" sz="1800" dirty="0"/>
              <a:t>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careful</a:t>
            </a:r>
            <a:r>
              <a:rPr lang="de-DE" sz="1800" dirty="0"/>
              <a:t> 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have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small</a:t>
            </a:r>
            <a:r>
              <a:rPr lang="de-DE" sz="1800" dirty="0"/>
              <a:t> </a:t>
            </a:r>
            <a:r>
              <a:rPr lang="de-DE" sz="1800" dirty="0" err="1"/>
              <a:t>details</a:t>
            </a:r>
            <a:r>
              <a:rPr lang="de-DE" sz="1800" dirty="0"/>
              <a:t>, </a:t>
            </a:r>
            <a:r>
              <a:rPr lang="de-DE" sz="1800" dirty="0" err="1"/>
              <a:t>because</a:t>
            </a:r>
            <a:r>
              <a:rPr lang="de-DE" sz="1800" dirty="0"/>
              <a:t> </a:t>
            </a:r>
            <a:r>
              <a:rPr lang="de-DE" sz="1800" dirty="0" err="1"/>
              <a:t>even</a:t>
            </a:r>
            <a:r>
              <a:rPr lang="de-DE" sz="1800" dirty="0"/>
              <a:t> </a:t>
            </a:r>
            <a:r>
              <a:rPr lang="de-DE" sz="1800" dirty="0" err="1"/>
              <a:t>small</a:t>
            </a:r>
            <a:r>
              <a:rPr lang="de-DE" sz="1800" dirty="0"/>
              <a:t> </a:t>
            </a:r>
            <a:r>
              <a:rPr lang="de-DE" sz="1800" dirty="0" err="1"/>
              <a:t>changes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lead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completely</a:t>
            </a:r>
            <a:r>
              <a:rPr lang="de-DE" sz="1800" dirty="0"/>
              <a:t> different </a:t>
            </a:r>
            <a:r>
              <a:rPr lang="de-DE" sz="1800" dirty="0" err="1"/>
              <a:t>results</a:t>
            </a:r>
            <a:r>
              <a:rPr lang="de-DE" sz="1800" dirty="0"/>
              <a:t>.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800" dirty="0"/>
          </a:p>
        </p:txBody>
      </p:sp>
      <p:sp>
        <p:nvSpPr>
          <p:cNvPr id="17" name="Espace réservé pour une image  3">
            <a:extLst>
              <a:ext uri="{FF2B5EF4-FFF2-40B4-BE49-F238E27FC236}">
                <a16:creationId xmlns:a16="http://schemas.microsoft.com/office/drawing/2014/main" xmlns="" id="{1B31CCCC-BF52-899B-3803-5B59566D5496}"/>
              </a:ext>
            </a:extLst>
          </p:cNvPr>
          <p:cNvSpPr txBox="1">
            <a:spLocks/>
          </p:cNvSpPr>
          <p:nvPr/>
        </p:nvSpPr>
        <p:spPr>
          <a:xfrm>
            <a:off x="893230" y="4202716"/>
            <a:ext cx="10861829" cy="129383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800" dirty="0"/>
              <a:t>The final </a:t>
            </a:r>
            <a:r>
              <a:rPr lang="fr-FR" sz="1800" dirty="0" err="1"/>
              <a:t>results</a:t>
            </a:r>
            <a:r>
              <a:rPr lang="fr-FR" sz="1800" dirty="0"/>
              <a:t> </a:t>
            </a:r>
            <a:r>
              <a:rPr lang="fr-FR" sz="1800" dirty="0" err="1" smtClean="0"/>
              <a:t>deserve</a:t>
            </a:r>
            <a:r>
              <a:rPr lang="fr-FR" sz="1800" dirty="0" smtClean="0"/>
              <a:t> </a:t>
            </a:r>
            <a:r>
              <a:rPr lang="fr-FR" sz="1800" dirty="0"/>
              <a:t>as </a:t>
            </a:r>
            <a:r>
              <a:rPr lang="fr-FR" sz="1800" dirty="0" err="1"/>
              <a:t>much</a:t>
            </a:r>
            <a:r>
              <a:rPr lang="fr-FR" sz="1800" dirty="0"/>
              <a:t> suspicion as the </a:t>
            </a:r>
            <a:r>
              <a:rPr lang="fr-FR" sz="1800" dirty="0" smtClean="0"/>
              <a:t>inputs: </a:t>
            </a:r>
            <a:r>
              <a:rPr lang="fr-FR" sz="1800" dirty="0" err="1" smtClean="0"/>
              <a:t>Features</a:t>
            </a:r>
            <a:r>
              <a:rPr lang="fr-FR" sz="1800" dirty="0" smtClean="0"/>
              <a:t> </a:t>
            </a:r>
            <a:r>
              <a:rPr lang="fr-FR" sz="1800" dirty="0" err="1"/>
              <a:t>derived</a:t>
            </a:r>
            <a:r>
              <a:rPr lang="fr-FR" sz="1800" dirty="0"/>
              <a:t> </a:t>
            </a:r>
            <a:r>
              <a:rPr lang="fr-FR" sz="1800" dirty="0" err="1"/>
              <a:t>from</a:t>
            </a:r>
            <a:r>
              <a:rPr lang="fr-FR" sz="1800" dirty="0"/>
              <a:t> the </a:t>
            </a:r>
            <a:r>
              <a:rPr lang="fr-FR" sz="1800" dirty="0" err="1"/>
              <a:t>target</a:t>
            </a:r>
            <a:r>
              <a:rPr lang="fr-FR" sz="1800" dirty="0"/>
              <a:t> </a:t>
            </a:r>
            <a:r>
              <a:rPr lang="fr-FR" sz="1800" dirty="0" err="1" smtClean="0"/>
              <a:t>potentially</a:t>
            </a:r>
            <a:r>
              <a:rPr lang="fr-FR" sz="1800" dirty="0" smtClean="0"/>
              <a:t> </a:t>
            </a:r>
            <a:r>
              <a:rPr lang="fr-FR" sz="1800" dirty="0" err="1" smtClean="0"/>
              <a:t>inflate</a:t>
            </a:r>
            <a:r>
              <a:rPr lang="fr-FR" sz="1800" dirty="0" smtClean="0"/>
              <a:t> </a:t>
            </a:r>
            <a:r>
              <a:rPr lang="fr-FR" sz="1800" dirty="0" err="1"/>
              <a:t>our</a:t>
            </a:r>
            <a:r>
              <a:rPr lang="fr-FR" sz="1800" dirty="0"/>
              <a:t> </a:t>
            </a:r>
            <a:r>
              <a:rPr lang="fr-FR" sz="1800" dirty="0" err="1"/>
              <a:t>accuracy</a:t>
            </a:r>
            <a:r>
              <a:rPr lang="fr-FR" sz="1800" dirty="0"/>
              <a:t> </a:t>
            </a:r>
            <a:r>
              <a:rPr lang="fr-FR" sz="1800" dirty="0" err="1"/>
              <a:t>without</a:t>
            </a:r>
            <a:r>
              <a:rPr lang="fr-FR" sz="1800" dirty="0"/>
              <a:t> warning. </a:t>
            </a:r>
            <a:r>
              <a:rPr lang="fr-FR" sz="1800" dirty="0" smtClean="0"/>
              <a:t>The </a:t>
            </a:r>
            <a:r>
              <a:rPr lang="fr-FR" sz="1800" dirty="0" err="1"/>
              <a:t>grading</a:t>
            </a:r>
            <a:r>
              <a:rPr lang="fr-FR" sz="1800" dirty="0"/>
              <a:t> </a:t>
            </a:r>
            <a:r>
              <a:rPr lang="fr-FR" sz="1800" dirty="0" err="1"/>
              <a:t>scale</a:t>
            </a:r>
            <a:r>
              <a:rPr lang="fr-FR" sz="1800" dirty="0"/>
              <a:t> </a:t>
            </a:r>
            <a:r>
              <a:rPr lang="fr-FR" sz="1800" dirty="0" err="1" smtClean="0"/>
              <a:t>resulting</a:t>
            </a:r>
            <a:r>
              <a:rPr lang="fr-FR" sz="1800" dirty="0" smtClean="0"/>
              <a:t> </a:t>
            </a:r>
            <a:r>
              <a:rPr lang="fr-FR" sz="1800" dirty="0" err="1" smtClean="0"/>
              <a:t>from</a:t>
            </a:r>
            <a:r>
              <a:rPr lang="fr-FR" sz="1800" dirty="0" smtClean="0"/>
              <a:t> the </a:t>
            </a:r>
            <a:r>
              <a:rPr lang="fr-FR" sz="1800" dirty="0" err="1" smtClean="0"/>
              <a:t>modelling</a:t>
            </a:r>
            <a:r>
              <a:rPr lang="fr-FR" sz="1800" dirty="0" smtClean="0"/>
              <a:t> </a:t>
            </a:r>
            <a:r>
              <a:rPr lang="fr-FR" sz="1800" dirty="0" err="1" smtClean="0"/>
              <a:t>needs</a:t>
            </a:r>
            <a:r>
              <a:rPr lang="fr-FR" sz="1800" dirty="0" smtClean="0"/>
              <a:t> </a:t>
            </a:r>
            <a:r>
              <a:rPr lang="fr-FR" sz="1800" dirty="0"/>
              <a:t>an </a:t>
            </a:r>
            <a:r>
              <a:rPr lang="fr-FR" sz="1800" dirty="0" err="1"/>
              <a:t>anchor</a:t>
            </a:r>
            <a:r>
              <a:rPr lang="fr-FR" sz="1800" dirty="0"/>
              <a:t>, and </a:t>
            </a:r>
            <a:r>
              <a:rPr lang="fr-FR" sz="1800" dirty="0" err="1"/>
              <a:t>with</a:t>
            </a:r>
            <a:r>
              <a:rPr lang="fr-FR" sz="1800" dirty="0"/>
              <a:t> no </a:t>
            </a:r>
            <a:r>
              <a:rPr lang="fr-FR" sz="1800" dirty="0" err="1"/>
              <a:t>absolute</a:t>
            </a:r>
            <a:r>
              <a:rPr lang="fr-FR" sz="1800" dirty="0"/>
              <a:t> </a:t>
            </a:r>
            <a:r>
              <a:rPr lang="fr-FR" sz="1800" dirty="0" err="1"/>
              <a:t>threshold</a:t>
            </a:r>
            <a:r>
              <a:rPr lang="fr-FR" sz="1800" dirty="0"/>
              <a:t> </a:t>
            </a:r>
            <a:r>
              <a:rPr lang="fr-FR" sz="1800" dirty="0" err="1"/>
              <a:t>available</a:t>
            </a:r>
            <a:r>
              <a:rPr lang="fr-FR" sz="1800" dirty="0"/>
              <a:t> </a:t>
            </a:r>
            <a:r>
              <a:rPr lang="fr-FR" sz="1800" dirty="0" err="1"/>
              <a:t>we</a:t>
            </a:r>
            <a:r>
              <a:rPr lang="fr-FR" sz="1800" dirty="0"/>
              <a:t> </a:t>
            </a:r>
            <a:r>
              <a:rPr lang="fr-FR" sz="1800" dirty="0" err="1"/>
              <a:t>built</a:t>
            </a:r>
            <a:r>
              <a:rPr lang="fr-FR" sz="1800" dirty="0"/>
              <a:t> ours on quintiles of the </a:t>
            </a:r>
            <a:r>
              <a:rPr lang="fr-FR" sz="1800" dirty="0" err="1"/>
              <a:t>existing</a:t>
            </a:r>
            <a:r>
              <a:rPr lang="fr-FR" sz="1800" dirty="0"/>
              <a:t> </a:t>
            </a:r>
            <a:r>
              <a:rPr lang="fr-FR" sz="1800" dirty="0" err="1"/>
              <a:t>fleet</a:t>
            </a:r>
            <a:r>
              <a:rPr lang="fr-FR" sz="1800" dirty="0"/>
              <a:t> (</a:t>
            </a:r>
            <a:r>
              <a:rPr lang="fr-FR" sz="1800" dirty="0" err="1"/>
              <a:t>it</a:t>
            </a:r>
            <a:r>
              <a:rPr lang="fr-FR" sz="1800" dirty="0"/>
              <a:t> </a:t>
            </a:r>
            <a:r>
              <a:rPr lang="fr-FR" sz="1800" dirty="0" err="1"/>
              <a:t>is</a:t>
            </a:r>
            <a:r>
              <a:rPr lang="fr-FR" sz="1800" dirty="0"/>
              <a:t> ok if </a:t>
            </a:r>
            <a:r>
              <a:rPr lang="fr-FR" sz="1800" dirty="0" err="1"/>
              <a:t>it</a:t>
            </a:r>
            <a:r>
              <a:rPr lang="fr-FR" sz="1800" dirty="0"/>
              <a:t> </a:t>
            </a:r>
            <a:r>
              <a:rPr lang="fr-FR" sz="1800" dirty="0" err="1"/>
              <a:t>is</a:t>
            </a:r>
            <a:r>
              <a:rPr lang="fr-FR" sz="1800" dirty="0"/>
              <a:t> relative). And </a:t>
            </a:r>
            <a:r>
              <a:rPr lang="fr-FR" sz="1800" dirty="0" err="1"/>
              <a:t>accuracy</a:t>
            </a:r>
            <a:r>
              <a:rPr lang="fr-FR" sz="1800" dirty="0"/>
              <a:t> </a:t>
            </a:r>
            <a:r>
              <a:rPr lang="fr-FR" sz="1800" dirty="0" err="1"/>
              <a:t>alone</a:t>
            </a:r>
            <a:r>
              <a:rPr lang="fr-FR" sz="1800" dirty="0"/>
              <a:t> </a:t>
            </a:r>
            <a:r>
              <a:rPr lang="fr-FR" sz="1800" dirty="0" err="1"/>
              <a:t>is</a:t>
            </a:r>
            <a:r>
              <a:rPr lang="fr-FR" sz="1800" dirty="0"/>
              <a:t> not </a:t>
            </a:r>
            <a:r>
              <a:rPr lang="fr-FR" sz="1800" dirty="0" err="1" smtClean="0"/>
              <a:t>enough</a:t>
            </a:r>
            <a:r>
              <a:rPr lang="fr-FR" sz="1800" dirty="0" smtClean="0"/>
              <a:t>: </a:t>
            </a:r>
            <a:r>
              <a:rPr lang="fr-FR" sz="1800" dirty="0" err="1"/>
              <a:t>with</a:t>
            </a:r>
            <a:r>
              <a:rPr lang="fr-FR" sz="1800" dirty="0"/>
              <a:t> ordinal grades, how far off an </a:t>
            </a:r>
            <a:r>
              <a:rPr lang="fr-FR" sz="1800" dirty="0" err="1"/>
              <a:t>error</a:t>
            </a:r>
            <a:r>
              <a:rPr lang="fr-FR" sz="1800" dirty="0"/>
              <a:t> </a:t>
            </a:r>
            <a:r>
              <a:rPr lang="fr-FR" sz="1800" dirty="0" err="1"/>
              <a:t>is</a:t>
            </a:r>
            <a:r>
              <a:rPr lang="fr-FR" sz="1800" dirty="0"/>
              <a:t> </a:t>
            </a:r>
            <a:r>
              <a:rPr lang="fr-FR" sz="1800" dirty="0" err="1"/>
              <a:t>counts</a:t>
            </a:r>
            <a:r>
              <a:rPr lang="fr-FR" sz="1800" dirty="0"/>
              <a:t> more </a:t>
            </a:r>
            <a:r>
              <a:rPr lang="fr-FR" sz="1800" dirty="0" err="1"/>
              <a:t>than</a:t>
            </a:r>
            <a:r>
              <a:rPr lang="fr-FR" sz="1800" dirty="0"/>
              <a:t> how </a:t>
            </a:r>
            <a:r>
              <a:rPr lang="fr-FR" sz="1800" dirty="0" err="1"/>
              <a:t>often</a:t>
            </a:r>
            <a:r>
              <a:rPr lang="fr-FR" sz="1800" dirty="0"/>
              <a:t> </a:t>
            </a:r>
            <a:r>
              <a:rPr lang="fr-FR" sz="1800" dirty="0" err="1"/>
              <a:t>it</a:t>
            </a:r>
            <a:r>
              <a:rPr lang="fr-FR" sz="1800" dirty="0"/>
              <a:t> </a:t>
            </a:r>
            <a:r>
              <a:rPr lang="fr-FR" sz="1800" dirty="0" err="1"/>
              <a:t>happens</a:t>
            </a:r>
            <a:r>
              <a:rPr lang="fr-FR" sz="1800" dirty="0"/>
              <a:t>.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10544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xmlns="" id="{2AB67F85-B014-E54D-AC82-A789515E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07" y="1091667"/>
            <a:ext cx="4876800" cy="645284"/>
          </a:xfrm>
        </p:spPr>
        <p:txBody>
          <a:bodyPr rtlCol="0"/>
          <a:lstStyle/>
          <a:p>
            <a:r>
              <a:rPr lang="en-GB" sz="3200" noProof="0"/>
              <a:t>Thank you  </a:t>
            </a:r>
            <a:br>
              <a:rPr lang="en-GB" sz="3200" noProof="0"/>
            </a:br>
            <a:r>
              <a:rPr lang="en-GB" sz="3200" noProof="0"/>
              <a:t>Merci </a:t>
            </a:r>
            <a:br>
              <a:rPr lang="en-GB" sz="3200" noProof="0"/>
            </a:br>
            <a:r>
              <a:rPr lang="en-GB" sz="3200" noProof="0"/>
              <a:t>Danke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xmlns="" id="{8A0CAF6B-5914-4E2F-90A1-4B2D92D5AD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93500" y="6292334"/>
            <a:ext cx="412750" cy="182880"/>
          </a:xfrm>
        </p:spPr>
        <p:txBody>
          <a:bodyPr rtlCol="0"/>
          <a:lstStyle/>
          <a:p>
            <a:pPr rtl="0"/>
            <a:fld id="{7782931A-7D25-4B4B-9464-57AE418934A3}" type="slidenum">
              <a:rPr lang="en-GB" noProof="0" smtClean="0"/>
              <a:pPr rtl="0"/>
              <a:t>16</a:t>
            </a:fld>
            <a:endParaRPr lang="en-GB" noProof="0"/>
          </a:p>
        </p:txBody>
      </p:sp>
      <p:pic>
        <p:nvPicPr>
          <p:cNvPr id="25" name="Espace réservé pour une image  24">
            <a:extLst>
              <a:ext uri="{FF2B5EF4-FFF2-40B4-BE49-F238E27FC236}">
                <a16:creationId xmlns:a16="http://schemas.microsoft.com/office/drawing/2014/main" xmlns="" id="{75C2DB0C-06EF-B477-D6D3-3761B1FFB97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2944" r="-125" b="334"/>
          <a:stretch>
            <a:fillRect/>
          </a:stretch>
        </p:blipFill>
        <p:spPr>
          <a:xfrm>
            <a:off x="-24384" y="996648"/>
            <a:ext cx="4843232" cy="4841261"/>
          </a:xfrm>
          <a:prstGeom prst="rect">
            <a:avLst/>
          </a:prstGeom>
        </p:spPr>
      </p:pic>
      <p:sp>
        <p:nvSpPr>
          <p:cNvPr id="3" name="Espace réservé de la date 5">
            <a:extLst>
              <a:ext uri="{FF2B5EF4-FFF2-40B4-BE49-F238E27FC236}">
                <a16:creationId xmlns:a16="http://schemas.microsoft.com/office/drawing/2014/main" xmlns="" id="{D19CBEBA-EB94-F767-49D9-E7032E1CC9EC}"/>
              </a:ext>
            </a:extLst>
          </p:cNvPr>
          <p:cNvSpPr txBox="1">
            <a:spLocks/>
          </p:cNvSpPr>
          <p:nvPr/>
        </p:nvSpPr>
        <p:spPr>
          <a:xfrm>
            <a:off x="420624" y="6292334"/>
            <a:ext cx="10933176" cy="182880"/>
          </a:xfrm>
          <a:prstGeom prst="rect">
            <a:avLst/>
          </a:prstGeom>
        </p:spPr>
        <p:txBody>
          <a:bodyPr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noProof="0">
                <a:solidFill>
                  <a:schemeClr val="bg1"/>
                </a:solidFill>
              </a:rPr>
              <a:t>CO2-emission in France in 2013 – Project Presentation 2026, September 1st </a:t>
            </a:r>
            <a:endParaRPr lang="en-GB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74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1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wissPresentation A_Win32_MW_JS_SL_v2" id="{44541DF4-21D6-4F7A-B904-007D7865A971}" vid="{47A233BE-44D9-439C-9A9E-AF9EA0822AE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D363B3-DC66-45B9-8B2A-DA220F5DD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1B53F0-FE0E-4C4C-84FF-93580062270A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metadata/properties"/>
    <ds:schemaRef ds:uri="16c05727-aa75-4e4a-9b5f-8a80a1165891"/>
    <ds:schemaRef ds:uri="http://schemas.microsoft.com/office/2006/documentManagement/types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149A8C3-21EC-4C35-871F-CCC7148089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TM89547415</Template>
  <TotalTime>0</TotalTime>
  <Words>2600</Words>
  <Application>Microsoft Office PowerPoint</Application>
  <PresentationFormat>Benutzerdefiniert</PresentationFormat>
  <Paragraphs>328</Paragraphs>
  <Slides>16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7" baseType="lpstr">
      <vt:lpstr>Thème1</vt:lpstr>
      <vt:lpstr>Liora – Project  CO2-Emission in France 2013</vt:lpstr>
      <vt:lpstr>Introduction</vt:lpstr>
      <vt:lpstr>Method – How we worked together</vt:lpstr>
      <vt:lpstr>Brief Look at the Original Data</vt:lpstr>
      <vt:lpstr>Merging two Datasets as a Main Challenge in this Project</vt:lpstr>
      <vt:lpstr>Merging Pipeline Step-by-Step</vt:lpstr>
      <vt:lpstr>Result of Merge</vt:lpstr>
      <vt:lpstr>Business Questions</vt:lpstr>
      <vt:lpstr>Problem #1: Modelling and Validation</vt:lpstr>
      <vt:lpstr>Problem #1: CO₂ Headroom by Brand</vt:lpstr>
      <vt:lpstr>Problem #1: What Drives CO₂ and NOx ? (SHAP)</vt:lpstr>
      <vt:lpstr>Problem #2: Framing the Question</vt:lpstr>
      <vt:lpstr>Problem #2 : Methodology and Data</vt:lpstr>
      <vt:lpstr>Problem #2: Results</vt:lpstr>
      <vt:lpstr>Learnings</vt:lpstr>
      <vt:lpstr>Thank you   Merci  Danke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52</cp:revision>
  <dcterms:created xsi:type="dcterms:W3CDTF">2020-10-14T20:00:28Z</dcterms:created>
  <dcterms:modified xsi:type="dcterms:W3CDTF">2026-09-01T13:54:40Z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